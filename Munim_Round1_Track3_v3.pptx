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7" r:id="rId32"/>
    <p:sldId id="266" r:id="rId5"/>
    <p:sldId id="259" r:id="rId6"/>
    <p:sldId id="261" r:id="rId7"/>
    <p:sldId id="260" r:id="rId8"/>
    <p:sldId id="263" r:id="rId9"/>
    <p:sldId id="262" r:id="rId10"/>
    <p:sldId id="264" r:id="rId11"/>
    <p:sldId id="268" r:id="rId33"/>
    <p:sldId id="265" r:id="rId12"/>
  </p:sldIdLst>
  <p:sldSz cx="18288000" cy="10287000"/>
  <p:notesSz cx="6858000" cy="9144000"/>
  <p:embeddedFontLst>
    <p:embeddedFont>
      <p:font typeface="League Spartan" panose="020B0604020202020204" charset="0"/>
      <p:regular r:id="rId13"/>
    </p:embeddedFont>
    <p:embeddedFont>
      <p:font typeface="Montserrat" panose="00000500000000000000" pitchFamily="2" charset="0"/>
      <p:regular r:id="rId14"/>
      <p:bold r:id="rId15"/>
      <p:italic r:id="rId16"/>
      <p:boldItalic r:id="rId17"/>
    </p:embeddedFont>
    <p:embeddedFont>
      <p:font typeface="Nirmala UI" panose="020B0502040204020203" pitchFamily="34" charset="0"/>
      <p:regular r:id="rId18"/>
      <p:bold r:id="rId19"/>
    </p:embeddedFont>
    <p:embeddedFont>
      <p:font typeface="Segoe UI" panose="020B0502040204020203" pitchFamily="34" charset="0"/>
      <p:regular r:id="rId20"/>
      <p:bold r:id="rId21"/>
      <p:italic r:id="rId22"/>
      <p:boldItalic r:id="rId23"/>
    </p:embeddedFont>
    <p:embeddedFont>
      <p:font typeface="Segoe UI Semibold" panose="020B0702040204020203" pitchFamily="34" charset="0"/>
      <p:bold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F47"/>
    <a:srgbClr val="004F88"/>
    <a:srgbClr val="0054A1"/>
    <a:srgbClr val="4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DD931-C519-4DA0-91D1-68AFDE6E5B50}" v="11" dt="2026-09-24T15:06:27.967"/>
    <p1510:client id="{155080D0-E1C8-4B65-B13D-9D68A7A6EB6C}" v="1" dt="2026-09-23T18:05:24.9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53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 Id="rId30" Type="http://schemas.microsoft.com/office/2016/11/relationships/changesInfo" Target="changesInfos/changesInfo1.xml"/>  <Relationship Id="rId32" Type="http://schemas.openxmlformats.org/officeDocument/2006/relationships/slide" Target="slides/slide12.xml"/>
  <Relationship Id="rId33" Type="http://schemas.openxmlformats.org/officeDocument/2006/relationships/slide" Target="slides/slide1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j Chaudhary" userId="9bb06fdeceebabfa" providerId="LiveId" clId="{770B3DE1-CFED-4396-B70B-B69EB667F3C3}"/>
    <pc:docChg chg="undo custSel delSld modSld sldOrd">
      <pc:chgData name="Anuj Chaudhary" userId="9bb06fdeceebabfa" providerId="LiveId" clId="{770B3DE1-CFED-4396-B70B-B69EB667F3C3}" dt="2026-09-24T15:11:45.309" v="629" actId="207"/>
      <pc:docMkLst>
        <pc:docMk/>
      </pc:docMkLst>
      <pc:sldChg chg="addSp delSp modSp mod">
        <pc:chgData name="Anuj Chaudhary" userId="9bb06fdeceebabfa" providerId="LiveId" clId="{770B3DE1-CFED-4396-B70B-B69EB667F3C3}" dt="2026-09-24T15:11:45.309" v="629" actId="207"/>
        <pc:sldMkLst>
          <pc:docMk/>
          <pc:sldMk cId="0" sldId="256"/>
        </pc:sldMkLst>
        <pc:spChg chg="add del mod">
          <ac:chgData name="Anuj Chaudhary" userId="9bb06fdeceebabfa" providerId="LiveId" clId="{770B3DE1-CFED-4396-B70B-B69EB667F3C3}" dt="2026-09-23T18:05:26.343" v="399"/>
          <ac:spMkLst>
            <pc:docMk/>
            <pc:sldMk cId="0" sldId="256"/>
            <ac:spMk id="2" creationId="{D3E46ADA-C90F-8672-05A4-CFC06D749ED6}"/>
          </ac:spMkLst>
        </pc:spChg>
        <pc:spChg chg="mod">
          <ac:chgData name="Anuj Chaudhary" userId="9bb06fdeceebabfa" providerId="LiveId" clId="{770B3DE1-CFED-4396-B70B-B69EB667F3C3}" dt="2026-09-23T18:05:23.840" v="395" actId="1076"/>
          <ac:spMkLst>
            <pc:docMk/>
            <pc:sldMk cId="0" sldId="256"/>
            <ac:spMk id="9" creationId="{00000000-0000-0000-0000-000000000000}"/>
          </ac:spMkLst>
        </pc:spChg>
        <pc:spChg chg="mod">
          <ac:chgData name="Anuj Chaudhary" userId="9bb06fdeceebabfa" providerId="LiveId" clId="{770B3DE1-CFED-4396-B70B-B69EB667F3C3}" dt="2026-09-23T18:05:18.223" v="393" actId="1076"/>
          <ac:spMkLst>
            <pc:docMk/>
            <pc:sldMk cId="0" sldId="256"/>
            <ac:spMk id="14" creationId="{00000000-0000-0000-0000-000000000000}"/>
          </ac:spMkLst>
        </pc:spChg>
        <pc:spChg chg="mod">
          <ac:chgData name="Anuj Chaudhary" userId="9bb06fdeceebabfa" providerId="LiveId" clId="{770B3DE1-CFED-4396-B70B-B69EB667F3C3}" dt="2026-09-23T18:18:12.125" v="412" actId="1076"/>
          <ac:spMkLst>
            <pc:docMk/>
            <pc:sldMk cId="0" sldId="256"/>
            <ac:spMk id="15" creationId="{00000000-0000-0000-0000-000000000000}"/>
          </ac:spMkLst>
        </pc:spChg>
        <pc:spChg chg="mod">
          <ac:chgData name="Anuj Chaudhary" userId="9bb06fdeceebabfa" providerId="LiveId" clId="{770B3DE1-CFED-4396-B70B-B69EB667F3C3}" dt="2026-09-23T18:05:33.397" v="400" actId="14100"/>
          <ac:spMkLst>
            <pc:docMk/>
            <pc:sldMk cId="0" sldId="256"/>
            <ac:spMk id="16" creationId="{00000000-0000-0000-0000-000000000000}"/>
          </ac:spMkLst>
        </pc:spChg>
        <pc:spChg chg="mod">
          <ac:chgData name="Anuj Chaudhary" userId="9bb06fdeceebabfa" providerId="LiveId" clId="{770B3DE1-CFED-4396-B70B-B69EB667F3C3}" dt="2026-09-22T12:25:26.513" v="48" actId="13926"/>
          <ac:spMkLst>
            <pc:docMk/>
            <pc:sldMk cId="0" sldId="256"/>
            <ac:spMk id="17" creationId="{00000000-0000-0000-0000-000000000000}"/>
          </ac:spMkLst>
        </pc:spChg>
        <pc:spChg chg="mod">
          <ac:chgData name="Anuj Chaudhary" userId="9bb06fdeceebabfa" providerId="LiveId" clId="{770B3DE1-CFED-4396-B70B-B69EB667F3C3}" dt="2026-09-22T12:25:19.140" v="44" actId="1076"/>
          <ac:spMkLst>
            <pc:docMk/>
            <pc:sldMk cId="0" sldId="256"/>
            <ac:spMk id="18" creationId="{00000000-0000-0000-0000-000000000000}"/>
          </ac:spMkLst>
        </pc:spChg>
        <pc:spChg chg="add mod">
          <ac:chgData name="Anuj Chaudhary" userId="9bb06fdeceebabfa" providerId="LiveId" clId="{770B3DE1-CFED-4396-B70B-B69EB667F3C3}" dt="2026-09-24T15:11:34.642" v="628" actId="13926"/>
          <ac:spMkLst>
            <pc:docMk/>
            <pc:sldMk cId="0" sldId="256"/>
            <ac:spMk id="22" creationId="{B2951A0A-12FE-D1CC-BEDB-DE1E5172655B}"/>
          </ac:spMkLst>
        </pc:spChg>
        <pc:spChg chg="add del mod">
          <ac:chgData name="Anuj Chaudhary" userId="9bb06fdeceebabfa" providerId="LiveId" clId="{770B3DE1-CFED-4396-B70B-B69EB667F3C3}" dt="2026-09-22T12:24:39.988" v="14" actId="1076"/>
          <ac:spMkLst>
            <pc:docMk/>
            <pc:sldMk cId="0" sldId="256"/>
            <ac:spMk id="24" creationId="{00000000-0000-0000-0000-000000000000}"/>
          </ac:spMkLst>
        </pc:spChg>
        <pc:spChg chg="mod">
          <ac:chgData name="Anuj Chaudhary" userId="9bb06fdeceebabfa" providerId="LiveId" clId="{770B3DE1-CFED-4396-B70B-B69EB667F3C3}" dt="2026-09-22T12:25:13.692" v="40" actId="1076"/>
          <ac:spMkLst>
            <pc:docMk/>
            <pc:sldMk cId="0" sldId="256"/>
            <ac:spMk id="25" creationId="{00000000-0000-0000-0000-000000000000}"/>
          </ac:spMkLst>
        </pc:spChg>
        <pc:spChg chg="mod">
          <ac:chgData name="Anuj Chaudhary" userId="9bb06fdeceebabfa" providerId="LiveId" clId="{770B3DE1-CFED-4396-B70B-B69EB667F3C3}" dt="2026-09-23T12:41:14.566" v="361" actId="207"/>
          <ac:spMkLst>
            <pc:docMk/>
            <pc:sldMk cId="0" sldId="256"/>
            <ac:spMk id="35" creationId="{00000000-0000-0000-0000-000000000000}"/>
          </ac:spMkLst>
        </pc:spChg>
        <pc:spChg chg="mod">
          <ac:chgData name="Anuj Chaudhary" userId="9bb06fdeceebabfa" providerId="LiveId" clId="{770B3DE1-CFED-4396-B70B-B69EB667F3C3}" dt="2026-09-23T12:41:21.555" v="362" actId="207"/>
          <ac:spMkLst>
            <pc:docMk/>
            <pc:sldMk cId="0" sldId="256"/>
            <ac:spMk id="38" creationId="{00000000-0000-0000-0000-000000000000}"/>
          </ac:spMkLst>
        </pc:spChg>
        <pc:spChg chg="mod">
          <ac:chgData name="Anuj Chaudhary" userId="9bb06fdeceebabfa" providerId="LiveId" clId="{770B3DE1-CFED-4396-B70B-B69EB667F3C3}" dt="2026-09-24T15:11:45.309" v="629" actId="207"/>
          <ac:spMkLst>
            <pc:docMk/>
            <pc:sldMk cId="0" sldId="256"/>
            <ac:spMk id="40" creationId="{00000000-0000-0000-0000-000000000000}"/>
          </ac:spMkLst>
        </pc:spChg>
        <pc:picChg chg="mod">
          <ac:chgData name="Anuj Chaudhary" userId="9bb06fdeceebabfa" providerId="LiveId" clId="{770B3DE1-CFED-4396-B70B-B69EB667F3C3}" dt="2026-09-24T15:11:02.365" v="625" actId="1076"/>
          <ac:picMkLst>
            <pc:docMk/>
            <pc:sldMk cId="0" sldId="256"/>
            <ac:picMk id="41" creationId="{00000000-0000-0000-0000-000000000000}"/>
          </ac:picMkLst>
        </pc:picChg>
        <pc:cxnChg chg="mod">
          <ac:chgData name="Anuj Chaudhary" userId="9bb06fdeceebabfa" providerId="LiveId" clId="{770B3DE1-CFED-4396-B70B-B69EB667F3C3}" dt="2026-09-23T18:05:25.842" v="397" actId="14100"/>
          <ac:cxnSpMkLst>
            <pc:docMk/>
            <pc:sldMk cId="0" sldId="256"/>
            <ac:cxnSpMk id="12" creationId="{00000000-0000-0000-0000-000000000000}"/>
          </ac:cxnSpMkLst>
        </pc:cxnChg>
      </pc:sldChg>
      <pc:sldChg chg="addSp delSp modSp mod">
        <pc:chgData name="Anuj Chaudhary" userId="9bb06fdeceebabfa" providerId="LiveId" clId="{770B3DE1-CFED-4396-B70B-B69EB667F3C3}" dt="2026-09-23T18:19:19.490" v="422" actId="478"/>
        <pc:sldMkLst>
          <pc:docMk/>
          <pc:sldMk cId="0" sldId="257"/>
        </pc:sldMkLst>
        <pc:spChg chg="mod">
          <ac:chgData name="Anuj Chaudhary" userId="9bb06fdeceebabfa" providerId="LiveId" clId="{770B3DE1-CFED-4396-B70B-B69EB667F3C3}" dt="2026-09-23T18:18:58.438" v="419" actId="368"/>
          <ac:spMkLst>
            <pc:docMk/>
            <pc:sldMk cId="0" sldId="257"/>
            <ac:spMk id="6" creationId="{00000000-0000-0000-0000-000000000000}"/>
          </ac:spMkLst>
        </pc:spChg>
        <pc:spChg chg="mod">
          <ac:chgData name="Anuj Chaudhary" userId="9bb06fdeceebabfa" providerId="LiveId" clId="{770B3DE1-CFED-4396-B70B-B69EB667F3C3}" dt="2026-09-23T18:14:05.801" v="408" actId="255"/>
          <ac:spMkLst>
            <pc:docMk/>
            <pc:sldMk cId="0" sldId="257"/>
            <ac:spMk id="8" creationId="{00000000-0000-0000-0000-000000000000}"/>
          </ac:spMkLst>
        </pc:spChg>
        <pc:spChg chg="mod">
          <ac:chgData name="Anuj Chaudhary" userId="9bb06fdeceebabfa" providerId="LiveId" clId="{770B3DE1-CFED-4396-B70B-B69EB667F3C3}" dt="2026-09-23T18:14:17.429" v="409" actId="207"/>
          <ac:spMkLst>
            <pc:docMk/>
            <pc:sldMk cId="0" sldId="257"/>
            <ac:spMk id="47" creationId="{00000000-0000-0000-0000-000000000000}"/>
          </ac:spMkLst>
        </pc:spChg>
        <pc:spChg chg="mod">
          <ac:chgData name="Anuj Chaudhary" userId="9bb06fdeceebabfa" providerId="LiveId" clId="{770B3DE1-CFED-4396-B70B-B69EB667F3C3}" dt="2026-09-22T13:24:05.708" v="357" actId="207"/>
          <ac:spMkLst>
            <pc:docMk/>
            <pc:sldMk cId="0" sldId="257"/>
            <ac:spMk id="49" creationId="{00000000-0000-0000-0000-000000000000}"/>
          </ac:spMkLst>
        </pc:spChg>
        <pc:spChg chg="mod">
          <ac:chgData name="Anuj Chaudhary" userId="9bb06fdeceebabfa" providerId="LiveId" clId="{770B3DE1-CFED-4396-B70B-B69EB667F3C3}" dt="2026-09-22T13:24:09" v="358" actId="207"/>
          <ac:spMkLst>
            <pc:docMk/>
            <pc:sldMk cId="0" sldId="257"/>
            <ac:spMk id="50" creationId="{00000000-0000-0000-0000-000000000000}"/>
          </ac:spMkLst>
        </pc:spChg>
        <pc:spChg chg="mod">
          <ac:chgData name="Anuj Chaudhary" userId="9bb06fdeceebabfa" providerId="LiveId" clId="{770B3DE1-CFED-4396-B70B-B69EB667F3C3}" dt="2026-09-22T13:24:12.705" v="359" actId="207"/>
          <ac:spMkLst>
            <pc:docMk/>
            <pc:sldMk cId="0" sldId="257"/>
            <ac:spMk id="51" creationId="{00000000-0000-0000-0000-000000000000}"/>
          </ac:spMkLst>
        </pc:spChg>
        <pc:spChg chg="mod">
          <ac:chgData name="Anuj Chaudhary" userId="9bb06fdeceebabfa" providerId="LiveId" clId="{770B3DE1-CFED-4396-B70B-B69EB667F3C3}" dt="2026-09-22T13:23:50.883" v="356" actId="207"/>
          <ac:spMkLst>
            <pc:docMk/>
            <pc:sldMk cId="0" sldId="257"/>
            <ac:spMk id="52" creationId="{00000000-0000-0000-0000-000000000000}"/>
          </ac:spMkLst>
        </pc:spChg>
        <pc:spChg chg="add del mod">
          <ac:chgData name="Anuj Chaudhary" userId="9bb06fdeceebabfa" providerId="LiveId" clId="{770B3DE1-CFED-4396-B70B-B69EB667F3C3}" dt="2026-09-23T18:19:19.490" v="422" actId="478"/>
          <ac:spMkLst>
            <pc:docMk/>
            <pc:sldMk cId="0" sldId="257"/>
            <ac:spMk id="54" creationId="{2B45A4BA-EA7F-BE41-4E61-1C121A17E6E6}"/>
          </ac:spMkLst>
        </pc:spChg>
      </pc:sldChg>
      <pc:sldChg chg="addSp delSp modSp mod">
        <pc:chgData name="Anuj Chaudhary" userId="9bb06fdeceebabfa" providerId="LiveId" clId="{770B3DE1-CFED-4396-B70B-B69EB667F3C3}" dt="2026-09-23T18:19:13.865" v="421" actId="478"/>
        <pc:sldMkLst>
          <pc:docMk/>
          <pc:sldMk cId="0" sldId="258"/>
        </pc:sldMkLst>
        <pc:spChg chg="mod">
          <ac:chgData name="Anuj Chaudhary" userId="9bb06fdeceebabfa" providerId="LiveId" clId="{770B3DE1-CFED-4396-B70B-B69EB667F3C3}" dt="2026-09-22T13:17:27.053" v="316" actId="207"/>
          <ac:spMkLst>
            <pc:docMk/>
            <pc:sldMk cId="0" sldId="258"/>
            <ac:spMk id="7" creationId="{00000000-0000-0000-0000-000000000000}"/>
          </ac:spMkLst>
        </pc:spChg>
        <pc:spChg chg="mod">
          <ac:chgData name="Anuj Chaudhary" userId="9bb06fdeceebabfa" providerId="LiveId" clId="{770B3DE1-CFED-4396-B70B-B69EB667F3C3}" dt="2026-09-23T18:14:27.003" v="411" actId="20577"/>
          <ac:spMkLst>
            <pc:docMk/>
            <pc:sldMk cId="0" sldId="258"/>
            <ac:spMk id="9" creationId="{00000000-0000-0000-0000-000000000000}"/>
          </ac:spMkLst>
        </pc:spChg>
        <pc:spChg chg="mod">
          <ac:chgData name="Anuj Chaudhary" userId="9bb06fdeceebabfa" providerId="LiveId" clId="{770B3DE1-CFED-4396-B70B-B69EB667F3C3}" dt="2026-09-22T13:16:06.356" v="302" actId="207"/>
          <ac:spMkLst>
            <pc:docMk/>
            <pc:sldMk cId="0" sldId="258"/>
            <ac:spMk id="10" creationId="{00000000-0000-0000-0000-000000000000}"/>
          </ac:spMkLst>
        </pc:spChg>
        <pc:spChg chg="mod">
          <ac:chgData name="Anuj Chaudhary" userId="9bb06fdeceebabfa" providerId="LiveId" clId="{770B3DE1-CFED-4396-B70B-B69EB667F3C3}" dt="2026-09-22T13:16:22.784" v="306" actId="255"/>
          <ac:spMkLst>
            <pc:docMk/>
            <pc:sldMk cId="0" sldId="258"/>
            <ac:spMk id="11" creationId="{00000000-0000-0000-0000-000000000000}"/>
          </ac:spMkLst>
        </pc:spChg>
        <pc:spChg chg="mod">
          <ac:chgData name="Anuj Chaudhary" userId="9bb06fdeceebabfa" providerId="LiveId" clId="{770B3DE1-CFED-4396-B70B-B69EB667F3C3}" dt="2026-09-22T12:35:08.804" v="130" actId="207"/>
          <ac:spMkLst>
            <pc:docMk/>
            <pc:sldMk cId="0" sldId="258"/>
            <ac:spMk id="19" creationId="{00000000-0000-0000-0000-000000000000}"/>
          </ac:spMkLst>
        </pc:spChg>
        <pc:spChg chg="mod">
          <ac:chgData name="Anuj Chaudhary" userId="9bb06fdeceebabfa" providerId="LiveId" clId="{770B3DE1-CFED-4396-B70B-B69EB667F3C3}" dt="2026-09-22T12:37:03.102" v="155" actId="20577"/>
          <ac:spMkLst>
            <pc:docMk/>
            <pc:sldMk cId="0" sldId="258"/>
            <ac:spMk id="20" creationId="{00000000-0000-0000-0000-000000000000}"/>
          </ac:spMkLst>
        </pc:spChg>
        <pc:spChg chg="mod">
          <ac:chgData name="Anuj Chaudhary" userId="9bb06fdeceebabfa" providerId="LiveId" clId="{770B3DE1-CFED-4396-B70B-B69EB667F3C3}" dt="2026-09-22T12:35:53.146" v="137" actId="207"/>
          <ac:spMkLst>
            <pc:docMk/>
            <pc:sldMk cId="0" sldId="258"/>
            <ac:spMk id="21" creationId="{00000000-0000-0000-0000-000000000000}"/>
          </ac:spMkLst>
        </pc:spChg>
        <pc:spChg chg="mod">
          <ac:chgData name="Anuj Chaudhary" userId="9bb06fdeceebabfa" providerId="LiveId" clId="{770B3DE1-CFED-4396-B70B-B69EB667F3C3}" dt="2026-09-22T12:36:39.697" v="145" actId="20577"/>
          <ac:spMkLst>
            <pc:docMk/>
            <pc:sldMk cId="0" sldId="258"/>
            <ac:spMk id="25" creationId="{00000000-0000-0000-0000-000000000000}"/>
          </ac:spMkLst>
        </pc:spChg>
        <pc:spChg chg="mod">
          <ac:chgData name="Anuj Chaudhary" userId="9bb06fdeceebabfa" providerId="LiveId" clId="{770B3DE1-CFED-4396-B70B-B69EB667F3C3}" dt="2026-09-22T12:36:43.366" v="147" actId="20577"/>
          <ac:spMkLst>
            <pc:docMk/>
            <pc:sldMk cId="0" sldId="258"/>
            <ac:spMk id="30" creationId="{00000000-0000-0000-0000-000000000000}"/>
          </ac:spMkLst>
        </pc:spChg>
        <pc:spChg chg="mod">
          <ac:chgData name="Anuj Chaudhary" userId="9bb06fdeceebabfa" providerId="LiveId" clId="{770B3DE1-CFED-4396-B70B-B69EB667F3C3}" dt="2026-09-22T12:36:47.459" v="149" actId="20577"/>
          <ac:spMkLst>
            <pc:docMk/>
            <pc:sldMk cId="0" sldId="258"/>
            <ac:spMk id="35" creationId="{00000000-0000-0000-0000-000000000000}"/>
          </ac:spMkLst>
        </pc:spChg>
        <pc:spChg chg="mod">
          <ac:chgData name="Anuj Chaudhary" userId="9bb06fdeceebabfa" providerId="LiveId" clId="{770B3DE1-CFED-4396-B70B-B69EB667F3C3}" dt="2026-09-22T12:36:51.844" v="151" actId="20577"/>
          <ac:spMkLst>
            <pc:docMk/>
            <pc:sldMk cId="0" sldId="258"/>
            <ac:spMk id="40" creationId="{00000000-0000-0000-0000-000000000000}"/>
          </ac:spMkLst>
        </pc:spChg>
        <pc:spChg chg="mod">
          <ac:chgData name="Anuj Chaudhary" userId="9bb06fdeceebabfa" providerId="LiveId" clId="{770B3DE1-CFED-4396-B70B-B69EB667F3C3}" dt="2026-09-22T12:36:55.278" v="153" actId="20577"/>
          <ac:spMkLst>
            <pc:docMk/>
            <pc:sldMk cId="0" sldId="258"/>
            <ac:spMk id="45" creationId="{00000000-0000-0000-0000-000000000000}"/>
          </ac:spMkLst>
        </pc:spChg>
        <pc:spChg chg="mod">
          <ac:chgData name="Anuj Chaudhary" userId="9bb06fdeceebabfa" providerId="LiveId" clId="{770B3DE1-CFED-4396-B70B-B69EB667F3C3}" dt="2026-09-22T12:36:01.724" v="138" actId="207"/>
          <ac:spMkLst>
            <pc:docMk/>
            <pc:sldMk cId="0" sldId="258"/>
            <ac:spMk id="46" creationId="{00000000-0000-0000-0000-000000000000}"/>
          </ac:spMkLst>
        </pc:spChg>
        <pc:spChg chg="add del">
          <ac:chgData name="Anuj Chaudhary" userId="9bb06fdeceebabfa" providerId="LiveId" clId="{770B3DE1-CFED-4396-B70B-B69EB667F3C3}" dt="2026-09-23T18:19:13.865" v="421" actId="478"/>
          <ac:spMkLst>
            <pc:docMk/>
            <pc:sldMk cId="0" sldId="258"/>
            <ac:spMk id="50" creationId="{B4ECE3E9-3586-E638-4866-3D0F5BA02613}"/>
          </ac:spMkLst>
        </pc:spChg>
        <pc:spChg chg="add del mod">
          <ac:chgData name="Anuj Chaudhary" userId="9bb06fdeceebabfa" providerId="LiveId" clId="{770B3DE1-CFED-4396-B70B-B69EB667F3C3}" dt="2026-09-23T18:18:55.537" v="418" actId="478"/>
          <ac:spMkLst>
            <pc:docMk/>
            <pc:sldMk cId="0" sldId="258"/>
            <ac:spMk id="51" creationId="{7FA1939F-57CB-BE65-69AE-6FED6BD78C08}"/>
          </ac:spMkLst>
        </pc:spChg>
        <pc:spChg chg="add del mod">
          <ac:chgData name="Anuj Chaudhary" userId="9bb06fdeceebabfa" providerId="LiveId" clId="{770B3DE1-CFED-4396-B70B-B69EB667F3C3}" dt="2026-09-23T18:18:43.219" v="415" actId="478"/>
          <ac:spMkLst>
            <pc:docMk/>
            <pc:sldMk cId="0" sldId="258"/>
            <ac:spMk id="53" creationId="{A6AFA2CE-670D-72E3-A1A8-DA069DA05132}"/>
          </ac:spMkLst>
        </pc:spChg>
        <pc:spChg chg="add">
          <ac:chgData name="Anuj Chaudhary" userId="9bb06fdeceebabfa" providerId="LiveId" clId="{770B3DE1-CFED-4396-B70B-B69EB667F3C3}" dt="2026-09-23T18:19:01.197" v="420" actId="22"/>
          <ac:spMkLst>
            <pc:docMk/>
            <pc:sldMk cId="0" sldId="258"/>
            <ac:spMk id="54" creationId="{C9D03A59-4A2A-AC43-A7D2-C259CA8BE744}"/>
          </ac:spMkLst>
        </pc:spChg>
      </pc:sldChg>
      <pc:sldChg chg="addSp delSp modSp mod">
        <pc:chgData name="Anuj Chaudhary" userId="9bb06fdeceebabfa" providerId="LiveId" clId="{770B3DE1-CFED-4396-B70B-B69EB667F3C3}" dt="2026-09-23T18:19:33.595" v="424" actId="478"/>
        <pc:sldMkLst>
          <pc:docMk/>
          <pc:sldMk cId="0" sldId="259"/>
        </pc:sldMkLst>
        <pc:spChg chg="mod">
          <ac:chgData name="Anuj Chaudhary" userId="9bb06fdeceebabfa" providerId="LiveId" clId="{770B3DE1-CFED-4396-B70B-B69EB667F3C3}" dt="2026-09-22T13:18:33.388" v="325" actId="207"/>
          <ac:spMkLst>
            <pc:docMk/>
            <pc:sldMk cId="0" sldId="259"/>
            <ac:spMk id="6" creationId="{00000000-0000-0000-0000-000000000000}"/>
          </ac:spMkLst>
        </pc:spChg>
        <pc:spChg chg="mod">
          <ac:chgData name="Anuj Chaudhary" userId="9bb06fdeceebabfa" providerId="LiveId" clId="{770B3DE1-CFED-4396-B70B-B69EB667F3C3}" dt="2026-09-22T13:18:39.107" v="326" actId="113"/>
          <ac:spMkLst>
            <pc:docMk/>
            <pc:sldMk cId="0" sldId="259"/>
            <ac:spMk id="7" creationId="{00000000-0000-0000-0000-000000000000}"/>
          </ac:spMkLst>
        </pc:spChg>
        <pc:spChg chg="mod">
          <ac:chgData name="Anuj Chaudhary" userId="9bb06fdeceebabfa" providerId="LiveId" clId="{770B3DE1-CFED-4396-B70B-B69EB667F3C3}" dt="2026-09-22T13:18:07.403" v="322" actId="207"/>
          <ac:spMkLst>
            <pc:docMk/>
            <pc:sldMk cId="0" sldId="259"/>
            <ac:spMk id="11" creationId="{00000000-0000-0000-0000-000000000000}"/>
          </ac:spMkLst>
        </pc:spChg>
        <pc:spChg chg="mod">
          <ac:chgData name="Anuj Chaudhary" userId="9bb06fdeceebabfa" providerId="LiveId" clId="{770B3DE1-CFED-4396-B70B-B69EB667F3C3}" dt="2026-09-22T12:26:08.015" v="49" actId="14100"/>
          <ac:spMkLst>
            <pc:docMk/>
            <pc:sldMk cId="0" sldId="259"/>
            <ac:spMk id="13" creationId="{00000000-0000-0000-0000-000000000000}"/>
          </ac:spMkLst>
        </pc:spChg>
        <pc:spChg chg="mod">
          <ac:chgData name="Anuj Chaudhary" userId="9bb06fdeceebabfa" providerId="LiveId" clId="{770B3DE1-CFED-4396-B70B-B69EB667F3C3}" dt="2026-09-22T12:33:53.829" v="128" actId="207"/>
          <ac:spMkLst>
            <pc:docMk/>
            <pc:sldMk cId="0" sldId="259"/>
            <ac:spMk id="14" creationId="{00000000-0000-0000-0000-000000000000}"/>
          </ac:spMkLst>
        </pc:spChg>
        <pc:spChg chg="mod">
          <ac:chgData name="Anuj Chaudhary" userId="9bb06fdeceebabfa" providerId="LiveId" clId="{770B3DE1-CFED-4396-B70B-B69EB667F3C3}" dt="2026-09-22T13:18:24.234" v="324" actId="207"/>
          <ac:spMkLst>
            <pc:docMk/>
            <pc:sldMk cId="0" sldId="259"/>
            <ac:spMk id="15" creationId="{00000000-0000-0000-0000-000000000000}"/>
          </ac:spMkLst>
        </pc:spChg>
        <pc:spChg chg="mod">
          <ac:chgData name="Anuj Chaudhary" userId="9bb06fdeceebabfa" providerId="LiveId" clId="{770B3DE1-CFED-4396-B70B-B69EB667F3C3}" dt="2026-09-22T13:18:17.168" v="323" actId="207"/>
          <ac:spMkLst>
            <pc:docMk/>
            <pc:sldMk cId="0" sldId="259"/>
            <ac:spMk id="17" creationId="{00000000-0000-0000-0000-000000000000}"/>
          </ac:spMkLst>
        </pc:spChg>
        <pc:spChg chg="mod">
          <ac:chgData name="Anuj Chaudhary" userId="9bb06fdeceebabfa" providerId="LiveId" clId="{770B3DE1-CFED-4396-B70B-B69EB667F3C3}" dt="2026-09-22T12:33:45.463" v="127" actId="207"/>
          <ac:spMkLst>
            <pc:docMk/>
            <pc:sldMk cId="0" sldId="259"/>
            <ac:spMk id="21" creationId="{00000000-0000-0000-0000-000000000000}"/>
          </ac:spMkLst>
        </pc:spChg>
        <pc:spChg chg="mod">
          <ac:chgData name="Anuj Chaudhary" userId="9bb06fdeceebabfa" providerId="LiveId" clId="{770B3DE1-CFED-4396-B70B-B69EB667F3C3}" dt="2026-09-22T12:33:12.870" v="123" actId="1076"/>
          <ac:spMkLst>
            <pc:docMk/>
            <pc:sldMk cId="0" sldId="259"/>
            <ac:spMk id="23" creationId="{00000000-0000-0000-0000-000000000000}"/>
          </ac:spMkLst>
        </pc:spChg>
        <pc:spChg chg="mod">
          <ac:chgData name="Anuj Chaudhary" userId="9bb06fdeceebabfa" providerId="LiveId" clId="{770B3DE1-CFED-4396-B70B-B69EB667F3C3}" dt="2026-09-22T12:39:42.051" v="181" actId="207"/>
          <ac:spMkLst>
            <pc:docMk/>
            <pc:sldMk cId="0" sldId="259"/>
            <ac:spMk id="28" creationId="{00000000-0000-0000-0000-000000000000}"/>
          </ac:spMkLst>
        </pc:spChg>
        <pc:spChg chg="mod">
          <ac:chgData name="Anuj Chaudhary" userId="9bb06fdeceebabfa" providerId="LiveId" clId="{770B3DE1-CFED-4396-B70B-B69EB667F3C3}" dt="2026-09-22T12:39:48.018" v="182" actId="207"/>
          <ac:spMkLst>
            <pc:docMk/>
            <pc:sldMk cId="0" sldId="259"/>
            <ac:spMk id="30" creationId="{00000000-0000-0000-0000-000000000000}"/>
          </ac:spMkLst>
        </pc:spChg>
        <pc:spChg chg="add del">
          <ac:chgData name="Anuj Chaudhary" userId="9bb06fdeceebabfa" providerId="LiveId" clId="{770B3DE1-CFED-4396-B70B-B69EB667F3C3}" dt="2026-09-23T18:19:33.595" v="424" actId="478"/>
          <ac:spMkLst>
            <pc:docMk/>
            <pc:sldMk cId="0" sldId="259"/>
            <ac:spMk id="32" creationId="{EFE35067-A984-4C3F-BA19-856C73AD97B5}"/>
          </ac:spMkLst>
        </pc:spChg>
      </pc:sldChg>
      <pc:sldChg chg="addSp delSp modSp mod">
        <pc:chgData name="Anuj Chaudhary" userId="9bb06fdeceebabfa" providerId="LiveId" clId="{770B3DE1-CFED-4396-B70B-B69EB667F3C3}" dt="2026-09-23T18:19:39.896" v="426" actId="478"/>
        <pc:sldMkLst>
          <pc:docMk/>
          <pc:sldMk cId="0" sldId="260"/>
        </pc:sldMkLst>
        <pc:spChg chg="mod">
          <ac:chgData name="Anuj Chaudhary" userId="9bb06fdeceebabfa" providerId="LiveId" clId="{770B3DE1-CFED-4396-B70B-B69EB667F3C3}" dt="2026-09-22T12:38:18.680" v="176" actId="20577"/>
          <ac:spMkLst>
            <pc:docMk/>
            <pc:sldMk cId="0" sldId="260"/>
            <ac:spMk id="6" creationId="{00000000-0000-0000-0000-000000000000}"/>
          </ac:spMkLst>
        </pc:spChg>
        <pc:spChg chg="mod">
          <ac:chgData name="Anuj Chaudhary" userId="9bb06fdeceebabfa" providerId="LiveId" clId="{770B3DE1-CFED-4396-B70B-B69EB667F3C3}" dt="2026-09-23T17:00:00.547" v="385" actId="20577"/>
          <ac:spMkLst>
            <pc:docMk/>
            <pc:sldMk cId="0" sldId="260"/>
            <ac:spMk id="8" creationId="{00000000-0000-0000-0000-000000000000}"/>
          </ac:spMkLst>
        </pc:spChg>
        <pc:spChg chg="mod">
          <ac:chgData name="Anuj Chaudhary" userId="9bb06fdeceebabfa" providerId="LiveId" clId="{770B3DE1-CFED-4396-B70B-B69EB667F3C3}" dt="2026-09-22T12:38:57.234" v="179" actId="207"/>
          <ac:spMkLst>
            <pc:docMk/>
            <pc:sldMk cId="0" sldId="260"/>
            <ac:spMk id="17" creationId="{00000000-0000-0000-0000-000000000000}"/>
          </ac:spMkLst>
        </pc:spChg>
        <pc:spChg chg="mod">
          <ac:chgData name="Anuj Chaudhary" userId="9bb06fdeceebabfa" providerId="LiveId" clId="{770B3DE1-CFED-4396-B70B-B69EB667F3C3}" dt="2026-09-22T12:38:26.729" v="177" actId="207"/>
          <ac:spMkLst>
            <pc:docMk/>
            <pc:sldMk cId="0" sldId="260"/>
            <ac:spMk id="46" creationId="{00000000-0000-0000-0000-000000000000}"/>
          </ac:spMkLst>
        </pc:spChg>
        <pc:spChg chg="mod">
          <ac:chgData name="Anuj Chaudhary" userId="9bb06fdeceebabfa" providerId="LiveId" clId="{770B3DE1-CFED-4396-B70B-B69EB667F3C3}" dt="2026-09-22T12:39:14.117" v="180" actId="207"/>
          <ac:spMkLst>
            <pc:docMk/>
            <pc:sldMk cId="0" sldId="260"/>
            <ac:spMk id="71" creationId="{00000000-0000-0000-0000-000000000000}"/>
          </ac:spMkLst>
        </pc:spChg>
        <pc:spChg chg="add del">
          <ac:chgData name="Anuj Chaudhary" userId="9bb06fdeceebabfa" providerId="LiveId" clId="{770B3DE1-CFED-4396-B70B-B69EB667F3C3}" dt="2026-09-23T18:19:39.896" v="426" actId="478"/>
          <ac:spMkLst>
            <pc:docMk/>
            <pc:sldMk cId="0" sldId="260"/>
            <ac:spMk id="103" creationId="{03D8C03A-682D-9CDF-29D9-64264D163A1D}"/>
          </ac:spMkLst>
        </pc:spChg>
      </pc:sldChg>
      <pc:sldChg chg="addSp delSp modSp mod ord">
        <pc:chgData name="Anuj Chaudhary" userId="9bb06fdeceebabfa" providerId="LiveId" clId="{770B3DE1-CFED-4396-B70B-B69EB667F3C3}" dt="2026-09-23T18:19:36.643" v="425" actId="478"/>
        <pc:sldMkLst>
          <pc:docMk/>
          <pc:sldMk cId="0" sldId="261"/>
        </pc:sldMkLst>
        <pc:spChg chg="mod">
          <ac:chgData name="Anuj Chaudhary" userId="9bb06fdeceebabfa" providerId="LiveId" clId="{770B3DE1-CFED-4396-B70B-B69EB667F3C3}" dt="2026-09-22T13:18:54.153" v="327" actId="207"/>
          <ac:spMkLst>
            <pc:docMk/>
            <pc:sldMk cId="0" sldId="261"/>
            <ac:spMk id="6" creationId="{00000000-0000-0000-0000-000000000000}"/>
          </ac:spMkLst>
        </pc:spChg>
        <pc:spChg chg="mod">
          <ac:chgData name="Anuj Chaudhary" userId="9bb06fdeceebabfa" providerId="LiveId" clId="{770B3DE1-CFED-4396-B70B-B69EB667F3C3}" dt="2026-09-22T13:18:58.839" v="328" actId="113"/>
          <ac:spMkLst>
            <pc:docMk/>
            <pc:sldMk cId="0" sldId="261"/>
            <ac:spMk id="7" creationId="{00000000-0000-0000-0000-000000000000}"/>
          </ac:spMkLst>
        </pc:spChg>
        <pc:spChg chg="mod">
          <ac:chgData name="Anuj Chaudhary" userId="9bb06fdeceebabfa" providerId="LiveId" clId="{770B3DE1-CFED-4396-B70B-B69EB667F3C3}" dt="2026-09-23T16:59:51.139" v="383" actId="20577"/>
          <ac:spMkLst>
            <pc:docMk/>
            <pc:sldMk cId="0" sldId="261"/>
            <ac:spMk id="8" creationId="{00000000-0000-0000-0000-000000000000}"/>
          </ac:spMkLst>
        </pc:spChg>
        <pc:spChg chg="mod">
          <ac:chgData name="Anuj Chaudhary" userId="9bb06fdeceebabfa" providerId="LiveId" clId="{770B3DE1-CFED-4396-B70B-B69EB667F3C3}" dt="2026-09-22T13:19:22.732" v="329" actId="207"/>
          <ac:spMkLst>
            <pc:docMk/>
            <pc:sldMk cId="0" sldId="261"/>
            <ac:spMk id="9" creationId="{00000000-0000-0000-0000-000000000000}"/>
          </ac:spMkLst>
        </pc:spChg>
        <pc:spChg chg="mod">
          <ac:chgData name="Anuj Chaudhary" userId="9bb06fdeceebabfa" providerId="LiveId" clId="{770B3DE1-CFED-4396-B70B-B69EB667F3C3}" dt="2026-09-22T12:41:02.079" v="187" actId="113"/>
          <ac:spMkLst>
            <pc:docMk/>
            <pc:sldMk cId="0" sldId="261"/>
            <ac:spMk id="13" creationId="{00000000-0000-0000-0000-000000000000}"/>
          </ac:spMkLst>
        </pc:spChg>
        <pc:spChg chg="mod">
          <ac:chgData name="Anuj Chaudhary" userId="9bb06fdeceebabfa" providerId="LiveId" clId="{770B3DE1-CFED-4396-B70B-B69EB667F3C3}" dt="2026-09-22T13:19:26.985" v="330" actId="207"/>
          <ac:spMkLst>
            <pc:docMk/>
            <pc:sldMk cId="0" sldId="261"/>
            <ac:spMk id="14" creationId="{00000000-0000-0000-0000-000000000000}"/>
          </ac:spMkLst>
        </pc:spChg>
        <pc:spChg chg="mod">
          <ac:chgData name="Anuj Chaudhary" userId="9bb06fdeceebabfa" providerId="LiveId" clId="{770B3DE1-CFED-4396-B70B-B69EB667F3C3}" dt="2026-09-22T12:41:06.484" v="188" actId="113"/>
          <ac:spMkLst>
            <pc:docMk/>
            <pc:sldMk cId="0" sldId="261"/>
            <ac:spMk id="18" creationId="{00000000-0000-0000-0000-000000000000}"/>
          </ac:spMkLst>
        </pc:spChg>
        <pc:spChg chg="mod">
          <ac:chgData name="Anuj Chaudhary" userId="9bb06fdeceebabfa" providerId="LiveId" clId="{770B3DE1-CFED-4396-B70B-B69EB667F3C3}" dt="2026-09-22T13:19:30.872" v="331" actId="207"/>
          <ac:spMkLst>
            <pc:docMk/>
            <pc:sldMk cId="0" sldId="261"/>
            <ac:spMk id="19" creationId="{00000000-0000-0000-0000-000000000000}"/>
          </ac:spMkLst>
        </pc:spChg>
        <pc:spChg chg="mod">
          <ac:chgData name="Anuj Chaudhary" userId="9bb06fdeceebabfa" providerId="LiveId" clId="{770B3DE1-CFED-4396-B70B-B69EB667F3C3}" dt="2026-09-22T12:41:14.353" v="191" actId="113"/>
          <ac:spMkLst>
            <pc:docMk/>
            <pc:sldMk cId="0" sldId="261"/>
            <ac:spMk id="23" creationId="{00000000-0000-0000-0000-000000000000}"/>
          </ac:spMkLst>
        </pc:spChg>
        <pc:spChg chg="mod">
          <ac:chgData name="Anuj Chaudhary" userId="9bb06fdeceebabfa" providerId="LiveId" clId="{770B3DE1-CFED-4396-B70B-B69EB667F3C3}" dt="2026-09-22T13:19:34.166" v="332" actId="207"/>
          <ac:spMkLst>
            <pc:docMk/>
            <pc:sldMk cId="0" sldId="261"/>
            <ac:spMk id="24" creationId="{00000000-0000-0000-0000-000000000000}"/>
          </ac:spMkLst>
        </pc:spChg>
        <pc:spChg chg="mod">
          <ac:chgData name="Anuj Chaudhary" userId="9bb06fdeceebabfa" providerId="LiveId" clId="{770B3DE1-CFED-4396-B70B-B69EB667F3C3}" dt="2026-09-22T12:41:26.395" v="196" actId="113"/>
          <ac:spMkLst>
            <pc:docMk/>
            <pc:sldMk cId="0" sldId="261"/>
            <ac:spMk id="28" creationId="{00000000-0000-0000-0000-000000000000}"/>
          </ac:spMkLst>
        </pc:spChg>
        <pc:spChg chg="mod">
          <ac:chgData name="Anuj Chaudhary" userId="9bb06fdeceebabfa" providerId="LiveId" clId="{770B3DE1-CFED-4396-B70B-B69EB667F3C3}" dt="2026-09-22T13:19:40.308" v="333" actId="207"/>
          <ac:spMkLst>
            <pc:docMk/>
            <pc:sldMk cId="0" sldId="261"/>
            <ac:spMk id="29" creationId="{00000000-0000-0000-0000-000000000000}"/>
          </ac:spMkLst>
        </pc:spChg>
        <pc:spChg chg="mod">
          <ac:chgData name="Anuj Chaudhary" userId="9bb06fdeceebabfa" providerId="LiveId" clId="{770B3DE1-CFED-4396-B70B-B69EB667F3C3}" dt="2026-09-22T12:41:39.125" v="200" actId="113"/>
          <ac:spMkLst>
            <pc:docMk/>
            <pc:sldMk cId="0" sldId="261"/>
            <ac:spMk id="33" creationId="{00000000-0000-0000-0000-000000000000}"/>
          </ac:spMkLst>
        </pc:spChg>
        <pc:spChg chg="mod">
          <ac:chgData name="Anuj Chaudhary" userId="9bb06fdeceebabfa" providerId="LiveId" clId="{770B3DE1-CFED-4396-B70B-B69EB667F3C3}" dt="2026-09-22T13:19:46.467" v="334" actId="207"/>
          <ac:spMkLst>
            <pc:docMk/>
            <pc:sldMk cId="0" sldId="261"/>
            <ac:spMk id="34" creationId="{00000000-0000-0000-0000-000000000000}"/>
          </ac:spMkLst>
        </pc:spChg>
        <pc:spChg chg="mod">
          <ac:chgData name="Anuj Chaudhary" userId="9bb06fdeceebabfa" providerId="LiveId" clId="{770B3DE1-CFED-4396-B70B-B69EB667F3C3}" dt="2026-09-22T12:41:55.246" v="203" actId="14100"/>
          <ac:spMkLst>
            <pc:docMk/>
            <pc:sldMk cId="0" sldId="261"/>
            <ac:spMk id="38" creationId="{00000000-0000-0000-0000-000000000000}"/>
          </ac:spMkLst>
        </pc:spChg>
        <pc:spChg chg="mod">
          <ac:chgData name="Anuj Chaudhary" userId="9bb06fdeceebabfa" providerId="LiveId" clId="{770B3DE1-CFED-4396-B70B-B69EB667F3C3}" dt="2026-09-22T13:19:51.719" v="335" actId="207"/>
          <ac:spMkLst>
            <pc:docMk/>
            <pc:sldMk cId="0" sldId="261"/>
            <ac:spMk id="39" creationId="{00000000-0000-0000-0000-000000000000}"/>
          </ac:spMkLst>
        </pc:spChg>
        <pc:spChg chg="mod">
          <ac:chgData name="Anuj Chaudhary" userId="9bb06fdeceebabfa" providerId="LiveId" clId="{770B3DE1-CFED-4396-B70B-B69EB667F3C3}" dt="2026-09-22T12:41:51.480" v="202" actId="113"/>
          <ac:spMkLst>
            <pc:docMk/>
            <pc:sldMk cId="0" sldId="261"/>
            <ac:spMk id="43" creationId="{00000000-0000-0000-0000-000000000000}"/>
          </ac:spMkLst>
        </pc:spChg>
        <pc:spChg chg="mod">
          <ac:chgData name="Anuj Chaudhary" userId="9bb06fdeceebabfa" providerId="LiveId" clId="{770B3DE1-CFED-4396-B70B-B69EB667F3C3}" dt="2026-09-22T13:20:06.161" v="336" actId="207"/>
          <ac:spMkLst>
            <pc:docMk/>
            <pc:sldMk cId="0" sldId="261"/>
            <ac:spMk id="44" creationId="{00000000-0000-0000-0000-000000000000}"/>
          </ac:spMkLst>
        </pc:spChg>
        <pc:spChg chg="mod">
          <ac:chgData name="Anuj Chaudhary" userId="9bb06fdeceebabfa" providerId="LiveId" clId="{770B3DE1-CFED-4396-B70B-B69EB667F3C3}" dt="2026-09-22T13:20:41.816" v="343" actId="207"/>
          <ac:spMkLst>
            <pc:docMk/>
            <pc:sldMk cId="0" sldId="261"/>
            <ac:spMk id="45" creationId="{00000000-0000-0000-0000-000000000000}"/>
          </ac:spMkLst>
        </pc:spChg>
        <pc:spChg chg="mod">
          <ac:chgData name="Anuj Chaudhary" userId="9bb06fdeceebabfa" providerId="LiveId" clId="{770B3DE1-CFED-4396-B70B-B69EB667F3C3}" dt="2026-09-22T13:20:24.570" v="339" actId="207"/>
          <ac:spMkLst>
            <pc:docMk/>
            <pc:sldMk cId="0" sldId="261"/>
            <ac:spMk id="46" creationId="{00000000-0000-0000-0000-000000000000}"/>
          </ac:spMkLst>
        </pc:spChg>
        <pc:spChg chg="mod">
          <ac:chgData name="Anuj Chaudhary" userId="9bb06fdeceebabfa" providerId="LiveId" clId="{770B3DE1-CFED-4396-B70B-B69EB667F3C3}" dt="2026-09-22T13:20:32.762" v="342" actId="207"/>
          <ac:spMkLst>
            <pc:docMk/>
            <pc:sldMk cId="0" sldId="261"/>
            <ac:spMk id="47" creationId="{00000000-0000-0000-0000-000000000000}"/>
          </ac:spMkLst>
        </pc:spChg>
        <pc:spChg chg="mod">
          <ac:chgData name="Anuj Chaudhary" userId="9bb06fdeceebabfa" providerId="LiveId" clId="{770B3DE1-CFED-4396-B70B-B69EB667F3C3}" dt="2026-09-22T13:20:13.796" v="338" actId="113"/>
          <ac:spMkLst>
            <pc:docMk/>
            <pc:sldMk cId="0" sldId="261"/>
            <ac:spMk id="48" creationId="{00000000-0000-0000-0000-000000000000}"/>
          </ac:spMkLst>
        </pc:spChg>
        <pc:spChg chg="mod">
          <ac:chgData name="Anuj Chaudhary" userId="9bb06fdeceebabfa" providerId="LiveId" clId="{770B3DE1-CFED-4396-B70B-B69EB667F3C3}" dt="2026-09-22T12:40:43.874" v="186" actId="113"/>
          <ac:spMkLst>
            <pc:docMk/>
            <pc:sldMk cId="0" sldId="261"/>
            <ac:spMk id="55" creationId="{00000000-0000-0000-0000-000000000000}"/>
          </ac:spMkLst>
        </pc:spChg>
        <pc:spChg chg="add del">
          <ac:chgData name="Anuj Chaudhary" userId="9bb06fdeceebabfa" providerId="LiveId" clId="{770B3DE1-CFED-4396-B70B-B69EB667F3C3}" dt="2026-09-23T18:19:36.643" v="425" actId="478"/>
          <ac:spMkLst>
            <pc:docMk/>
            <pc:sldMk cId="0" sldId="261"/>
            <ac:spMk id="57" creationId="{4FCBE8FE-C966-B4C3-08D7-59303CA2DAAA}"/>
          </ac:spMkLst>
        </pc:spChg>
      </pc:sldChg>
      <pc:sldChg chg="addSp delSp modSp mod">
        <pc:chgData name="Anuj Chaudhary" userId="9bb06fdeceebabfa" providerId="LiveId" clId="{770B3DE1-CFED-4396-B70B-B69EB667F3C3}" dt="2026-09-23T18:19:46.835" v="429" actId="478"/>
        <pc:sldMkLst>
          <pc:docMk/>
          <pc:sldMk cId="0" sldId="262"/>
        </pc:sldMkLst>
        <pc:spChg chg="del">
          <ac:chgData name="Anuj Chaudhary" userId="9bb06fdeceebabfa" providerId="LiveId" clId="{770B3DE1-CFED-4396-B70B-B69EB667F3C3}" dt="2026-09-23T18:19:45.674" v="428" actId="478"/>
          <ac:spMkLst>
            <pc:docMk/>
            <pc:sldMk cId="0" sldId="262"/>
            <ac:spMk id="2" creationId="{00000000-0000-0000-0000-000000000000}"/>
          </ac:spMkLst>
        </pc:spChg>
        <pc:spChg chg="mod">
          <ac:chgData name="Anuj Chaudhary" userId="9bb06fdeceebabfa" providerId="LiveId" clId="{770B3DE1-CFED-4396-B70B-B69EB667F3C3}" dt="2026-09-23T17:00:12.163" v="390" actId="20577"/>
          <ac:spMkLst>
            <pc:docMk/>
            <pc:sldMk cId="0" sldId="262"/>
            <ac:spMk id="9" creationId="{00000000-0000-0000-0000-000000000000}"/>
          </ac:spMkLst>
        </pc:spChg>
        <pc:spChg chg="mod">
          <ac:chgData name="Anuj Chaudhary" userId="9bb06fdeceebabfa" providerId="LiveId" clId="{770B3DE1-CFED-4396-B70B-B69EB667F3C3}" dt="2026-09-22T12:45:22.459" v="227" actId="208"/>
          <ac:spMkLst>
            <pc:docMk/>
            <pc:sldMk cId="0" sldId="262"/>
            <ac:spMk id="10" creationId="{00000000-0000-0000-0000-000000000000}"/>
          </ac:spMkLst>
        </pc:spChg>
        <pc:spChg chg="mod">
          <ac:chgData name="Anuj Chaudhary" userId="9bb06fdeceebabfa" providerId="LiveId" clId="{770B3DE1-CFED-4396-B70B-B69EB667F3C3}" dt="2026-09-22T12:45:11.376" v="226" actId="207"/>
          <ac:spMkLst>
            <pc:docMk/>
            <pc:sldMk cId="0" sldId="262"/>
            <ac:spMk id="25" creationId="{00000000-0000-0000-0000-000000000000}"/>
          </ac:spMkLst>
        </pc:spChg>
        <pc:spChg chg="mod">
          <ac:chgData name="Anuj Chaudhary" userId="9bb06fdeceebabfa" providerId="LiveId" clId="{770B3DE1-CFED-4396-B70B-B69EB667F3C3}" dt="2026-09-22T13:21:24.491" v="344" actId="207"/>
          <ac:spMkLst>
            <pc:docMk/>
            <pc:sldMk cId="0" sldId="262"/>
            <ac:spMk id="29" creationId="{00000000-0000-0000-0000-000000000000}"/>
          </ac:spMkLst>
        </pc:spChg>
        <pc:spChg chg="mod">
          <ac:chgData name="Anuj Chaudhary" userId="9bb06fdeceebabfa" providerId="LiveId" clId="{770B3DE1-CFED-4396-B70B-B69EB667F3C3}" dt="2026-09-22T13:21:28.973" v="345" actId="207"/>
          <ac:spMkLst>
            <pc:docMk/>
            <pc:sldMk cId="0" sldId="262"/>
            <ac:spMk id="33" creationId="{00000000-0000-0000-0000-000000000000}"/>
          </ac:spMkLst>
        </pc:spChg>
        <pc:spChg chg="mod">
          <ac:chgData name="Anuj Chaudhary" userId="9bb06fdeceebabfa" providerId="LiveId" clId="{770B3DE1-CFED-4396-B70B-B69EB667F3C3}" dt="2026-09-22T13:21:34.075" v="346" actId="207"/>
          <ac:spMkLst>
            <pc:docMk/>
            <pc:sldMk cId="0" sldId="262"/>
            <ac:spMk id="38" creationId="{00000000-0000-0000-0000-000000000000}"/>
          </ac:spMkLst>
        </pc:spChg>
        <pc:spChg chg="mod">
          <ac:chgData name="Anuj Chaudhary" userId="9bb06fdeceebabfa" providerId="LiveId" clId="{770B3DE1-CFED-4396-B70B-B69EB667F3C3}" dt="2026-09-22T13:21:39.338" v="347" actId="207"/>
          <ac:spMkLst>
            <pc:docMk/>
            <pc:sldMk cId="0" sldId="262"/>
            <ac:spMk id="42" creationId="{00000000-0000-0000-0000-000000000000}"/>
          </ac:spMkLst>
        </pc:spChg>
        <pc:spChg chg="mod">
          <ac:chgData name="Anuj Chaudhary" userId="9bb06fdeceebabfa" providerId="LiveId" clId="{770B3DE1-CFED-4396-B70B-B69EB667F3C3}" dt="2026-09-22T13:21:43.407" v="348" actId="207"/>
          <ac:spMkLst>
            <pc:docMk/>
            <pc:sldMk cId="0" sldId="262"/>
            <ac:spMk id="46" creationId="{00000000-0000-0000-0000-000000000000}"/>
          </ac:spMkLst>
        </pc:spChg>
        <pc:spChg chg="mod">
          <ac:chgData name="Anuj Chaudhary" userId="9bb06fdeceebabfa" providerId="LiveId" clId="{770B3DE1-CFED-4396-B70B-B69EB667F3C3}" dt="2026-09-22T13:21:48.447" v="349" actId="207"/>
          <ac:spMkLst>
            <pc:docMk/>
            <pc:sldMk cId="0" sldId="262"/>
            <ac:spMk id="49" creationId="{00000000-0000-0000-0000-000000000000}"/>
          </ac:spMkLst>
        </pc:spChg>
        <pc:spChg chg="mod">
          <ac:chgData name="Anuj Chaudhary" userId="9bb06fdeceebabfa" providerId="LiveId" clId="{770B3DE1-CFED-4396-B70B-B69EB667F3C3}" dt="2026-09-22T12:45:49.788" v="232" actId="255"/>
          <ac:spMkLst>
            <pc:docMk/>
            <pc:sldMk cId="0" sldId="262"/>
            <ac:spMk id="51" creationId="{00000000-0000-0000-0000-000000000000}"/>
          </ac:spMkLst>
        </pc:spChg>
        <pc:spChg chg="add del">
          <ac:chgData name="Anuj Chaudhary" userId="9bb06fdeceebabfa" providerId="LiveId" clId="{770B3DE1-CFED-4396-B70B-B69EB667F3C3}" dt="2026-09-23T18:19:46.835" v="429" actId="478"/>
          <ac:spMkLst>
            <pc:docMk/>
            <pc:sldMk cId="0" sldId="262"/>
            <ac:spMk id="53" creationId="{19B949A9-5316-01B7-6D8F-4A78A2EEAD8B}"/>
          </ac:spMkLst>
        </pc:spChg>
      </pc:sldChg>
      <pc:sldChg chg="addSp delSp modSp mod ord">
        <pc:chgData name="Anuj Chaudhary" userId="9bb06fdeceebabfa" providerId="LiveId" clId="{770B3DE1-CFED-4396-B70B-B69EB667F3C3}" dt="2026-09-23T18:19:42.698" v="427" actId="478"/>
        <pc:sldMkLst>
          <pc:docMk/>
          <pc:sldMk cId="0" sldId="263"/>
        </pc:sldMkLst>
        <pc:spChg chg="mod">
          <ac:chgData name="Anuj Chaudhary" userId="9bb06fdeceebabfa" providerId="LiveId" clId="{770B3DE1-CFED-4396-B70B-B69EB667F3C3}" dt="2026-09-22T12:49:07.823" v="280" actId="20577"/>
          <ac:spMkLst>
            <pc:docMk/>
            <pc:sldMk cId="0" sldId="263"/>
            <ac:spMk id="5" creationId="{00000000-0000-0000-0000-000000000000}"/>
          </ac:spMkLst>
        </pc:spChg>
        <pc:spChg chg="mod">
          <ac:chgData name="Anuj Chaudhary" userId="9bb06fdeceebabfa" providerId="LiveId" clId="{770B3DE1-CFED-4396-B70B-B69EB667F3C3}" dt="2026-09-23T17:00:06.546" v="388" actId="20577"/>
          <ac:spMkLst>
            <pc:docMk/>
            <pc:sldMk cId="0" sldId="263"/>
            <ac:spMk id="8" creationId="{00000000-0000-0000-0000-000000000000}"/>
          </ac:spMkLst>
        </pc:spChg>
        <pc:spChg chg="mod">
          <ac:chgData name="Anuj Chaudhary" userId="9bb06fdeceebabfa" providerId="LiveId" clId="{770B3DE1-CFED-4396-B70B-B69EB667F3C3}" dt="2026-09-22T12:44:38.300" v="222" actId="207"/>
          <ac:spMkLst>
            <pc:docMk/>
            <pc:sldMk cId="0" sldId="263"/>
            <ac:spMk id="29" creationId="{00000000-0000-0000-0000-000000000000}"/>
          </ac:spMkLst>
        </pc:spChg>
        <pc:spChg chg="mod">
          <ac:chgData name="Anuj Chaudhary" userId="9bb06fdeceebabfa" providerId="LiveId" clId="{770B3DE1-CFED-4396-B70B-B69EB667F3C3}" dt="2026-09-22T12:44:43.510" v="223" actId="207"/>
          <ac:spMkLst>
            <pc:docMk/>
            <pc:sldMk cId="0" sldId="263"/>
            <ac:spMk id="31" creationId="{00000000-0000-0000-0000-000000000000}"/>
          </ac:spMkLst>
        </pc:spChg>
        <pc:spChg chg="mod">
          <ac:chgData name="Anuj Chaudhary" userId="9bb06fdeceebabfa" providerId="LiveId" clId="{770B3DE1-CFED-4396-B70B-B69EB667F3C3}" dt="2026-09-22T12:44:47.033" v="224" actId="207"/>
          <ac:spMkLst>
            <pc:docMk/>
            <pc:sldMk cId="0" sldId="263"/>
            <ac:spMk id="32" creationId="{00000000-0000-0000-0000-000000000000}"/>
          </ac:spMkLst>
        </pc:spChg>
        <pc:spChg chg="mod">
          <ac:chgData name="Anuj Chaudhary" userId="9bb06fdeceebabfa" providerId="LiveId" clId="{770B3DE1-CFED-4396-B70B-B69EB667F3C3}" dt="2026-09-22T12:44:50.552" v="225" actId="207"/>
          <ac:spMkLst>
            <pc:docMk/>
            <pc:sldMk cId="0" sldId="263"/>
            <ac:spMk id="33" creationId="{00000000-0000-0000-0000-000000000000}"/>
          </ac:spMkLst>
        </pc:spChg>
        <pc:spChg chg="add del">
          <ac:chgData name="Anuj Chaudhary" userId="9bb06fdeceebabfa" providerId="LiveId" clId="{770B3DE1-CFED-4396-B70B-B69EB667F3C3}" dt="2026-09-23T18:19:42.698" v="427" actId="478"/>
          <ac:spMkLst>
            <pc:docMk/>
            <pc:sldMk cId="0" sldId="263"/>
            <ac:spMk id="67" creationId="{F8626400-7482-8F81-98B1-21F4009A911C}"/>
          </ac:spMkLst>
        </pc:spChg>
      </pc:sldChg>
      <pc:sldChg chg="addSp delSp modSp mod">
        <pc:chgData name="Anuj Chaudhary" userId="9bb06fdeceebabfa" providerId="LiveId" clId="{770B3DE1-CFED-4396-B70B-B69EB667F3C3}" dt="2026-09-23T18:19:49.146" v="430" actId="478"/>
        <pc:sldMkLst>
          <pc:docMk/>
          <pc:sldMk cId="0" sldId="264"/>
        </pc:sldMkLst>
        <pc:spChg chg="mod">
          <ac:chgData name="Anuj Chaudhary" userId="9bb06fdeceebabfa" providerId="LiveId" clId="{770B3DE1-CFED-4396-B70B-B69EB667F3C3}" dt="2026-09-22T12:44:07.108" v="221" actId="207"/>
          <ac:spMkLst>
            <pc:docMk/>
            <pc:sldMk cId="0" sldId="264"/>
            <ac:spMk id="10" creationId="{00000000-0000-0000-0000-000000000000}"/>
          </ac:spMkLst>
        </pc:spChg>
        <pc:spChg chg="add del mod">
          <ac:chgData name="Anuj Chaudhary" userId="9bb06fdeceebabfa" providerId="LiveId" clId="{770B3DE1-CFED-4396-B70B-B69EB667F3C3}" dt="2026-09-22T12:43:55.418" v="220" actId="208"/>
          <ac:spMkLst>
            <pc:docMk/>
            <pc:sldMk cId="0" sldId="264"/>
            <ac:spMk id="11" creationId="{00000000-0000-0000-0000-000000000000}"/>
          </ac:spMkLst>
        </pc:spChg>
        <pc:spChg chg="mod">
          <ac:chgData name="Anuj Chaudhary" userId="9bb06fdeceebabfa" providerId="LiveId" clId="{770B3DE1-CFED-4396-B70B-B69EB667F3C3}" dt="2026-09-22T12:43:24.426" v="213" actId="208"/>
          <ac:spMkLst>
            <pc:docMk/>
            <pc:sldMk cId="0" sldId="264"/>
            <ac:spMk id="12" creationId="{00000000-0000-0000-0000-000000000000}"/>
          </ac:spMkLst>
        </pc:spChg>
        <pc:spChg chg="mod">
          <ac:chgData name="Anuj Chaudhary" userId="9bb06fdeceebabfa" providerId="LiveId" clId="{770B3DE1-CFED-4396-B70B-B69EB667F3C3}" dt="2026-09-22T12:43:31.209" v="214" actId="208"/>
          <ac:spMkLst>
            <pc:docMk/>
            <pc:sldMk cId="0" sldId="264"/>
            <ac:spMk id="14" creationId="{00000000-0000-0000-0000-000000000000}"/>
          </ac:spMkLst>
        </pc:spChg>
        <pc:spChg chg="mod">
          <ac:chgData name="Anuj Chaudhary" userId="9bb06fdeceebabfa" providerId="LiveId" clId="{770B3DE1-CFED-4396-B70B-B69EB667F3C3}" dt="2026-09-22T12:43:34.370" v="215" actId="208"/>
          <ac:spMkLst>
            <pc:docMk/>
            <pc:sldMk cId="0" sldId="264"/>
            <ac:spMk id="16" creationId="{00000000-0000-0000-0000-000000000000}"/>
          </ac:spMkLst>
        </pc:spChg>
        <pc:spChg chg="mod">
          <ac:chgData name="Anuj Chaudhary" userId="9bb06fdeceebabfa" providerId="LiveId" clId="{770B3DE1-CFED-4396-B70B-B69EB667F3C3}" dt="2026-09-22T12:43:40.330" v="216" actId="208"/>
          <ac:spMkLst>
            <pc:docMk/>
            <pc:sldMk cId="0" sldId="264"/>
            <ac:spMk id="18" creationId="{00000000-0000-0000-0000-000000000000}"/>
          </ac:spMkLst>
        </pc:spChg>
        <pc:spChg chg="mod">
          <ac:chgData name="Anuj Chaudhary" userId="9bb06fdeceebabfa" providerId="LiveId" clId="{770B3DE1-CFED-4396-B70B-B69EB667F3C3}" dt="2026-09-22T13:22:26.244" v="350" actId="207"/>
          <ac:spMkLst>
            <pc:docMk/>
            <pc:sldMk cId="0" sldId="264"/>
            <ac:spMk id="28" creationId="{00000000-0000-0000-0000-000000000000}"/>
          </ac:spMkLst>
        </pc:spChg>
        <pc:spChg chg="mod">
          <ac:chgData name="Anuj Chaudhary" userId="9bb06fdeceebabfa" providerId="LiveId" clId="{770B3DE1-CFED-4396-B70B-B69EB667F3C3}" dt="2026-09-22T13:22:29.956" v="351" actId="207"/>
          <ac:spMkLst>
            <pc:docMk/>
            <pc:sldMk cId="0" sldId="264"/>
            <ac:spMk id="33" creationId="{00000000-0000-0000-0000-000000000000}"/>
          </ac:spMkLst>
        </pc:spChg>
        <pc:spChg chg="mod">
          <ac:chgData name="Anuj Chaudhary" userId="9bb06fdeceebabfa" providerId="LiveId" clId="{770B3DE1-CFED-4396-B70B-B69EB667F3C3}" dt="2026-09-22T13:22:35.230" v="352" actId="207"/>
          <ac:spMkLst>
            <pc:docMk/>
            <pc:sldMk cId="0" sldId="264"/>
            <ac:spMk id="38" creationId="{00000000-0000-0000-0000-000000000000}"/>
          </ac:spMkLst>
        </pc:spChg>
        <pc:spChg chg="mod">
          <ac:chgData name="Anuj Chaudhary" userId="9bb06fdeceebabfa" providerId="LiveId" clId="{770B3DE1-CFED-4396-B70B-B69EB667F3C3}" dt="2026-09-22T12:48:12.085" v="240" actId="20577"/>
          <ac:spMkLst>
            <pc:docMk/>
            <pc:sldMk cId="0" sldId="264"/>
            <ac:spMk id="40" creationId="{00000000-0000-0000-0000-000000000000}"/>
          </ac:spMkLst>
        </pc:spChg>
        <pc:spChg chg="mod">
          <ac:chgData name="Anuj Chaudhary" userId="9bb06fdeceebabfa" providerId="LiveId" clId="{770B3DE1-CFED-4396-B70B-B69EB667F3C3}" dt="2026-09-22T12:43:15.357" v="212" actId="113"/>
          <ac:spMkLst>
            <pc:docMk/>
            <pc:sldMk cId="0" sldId="264"/>
            <ac:spMk id="62" creationId="{00000000-0000-0000-0000-000000000000}"/>
          </ac:spMkLst>
        </pc:spChg>
        <pc:spChg chg="add del">
          <ac:chgData name="Anuj Chaudhary" userId="9bb06fdeceebabfa" providerId="LiveId" clId="{770B3DE1-CFED-4396-B70B-B69EB667F3C3}" dt="2026-09-23T18:19:49.146" v="430" actId="478"/>
          <ac:spMkLst>
            <pc:docMk/>
            <pc:sldMk cId="0" sldId="264"/>
            <ac:spMk id="64" creationId="{0F3B55C3-41B1-8320-7E8B-23BF5BB4A13E}"/>
          </ac:spMkLst>
        </pc:spChg>
      </pc:sldChg>
      <pc:sldChg chg="addSp delSp modSp mod">
        <pc:chgData name="Anuj Chaudhary" userId="9bb06fdeceebabfa" providerId="LiveId" clId="{770B3DE1-CFED-4396-B70B-B69EB667F3C3}" dt="2026-09-23T18:19:51.595" v="431" actId="478"/>
        <pc:sldMkLst>
          <pc:docMk/>
          <pc:sldMk cId="0" sldId="265"/>
        </pc:sldMkLst>
        <pc:spChg chg="mod">
          <ac:chgData name="Anuj Chaudhary" userId="9bb06fdeceebabfa" providerId="LiveId" clId="{770B3DE1-CFED-4396-B70B-B69EB667F3C3}" dt="2026-09-22T12:50:41.867" v="285" actId="207"/>
          <ac:spMkLst>
            <pc:docMk/>
            <pc:sldMk cId="0" sldId="265"/>
            <ac:spMk id="31" creationId="{00000000-0000-0000-0000-000000000000}"/>
          </ac:spMkLst>
        </pc:spChg>
        <pc:spChg chg="mod">
          <ac:chgData name="Anuj Chaudhary" userId="9bb06fdeceebabfa" providerId="LiveId" clId="{770B3DE1-CFED-4396-B70B-B69EB667F3C3}" dt="2026-09-22T12:51:23.180" v="300" actId="207"/>
          <ac:spMkLst>
            <pc:docMk/>
            <pc:sldMk cId="0" sldId="265"/>
            <ac:spMk id="32" creationId="{00000000-0000-0000-0000-000000000000}"/>
          </ac:spMkLst>
        </pc:spChg>
        <pc:spChg chg="mod">
          <ac:chgData name="Anuj Chaudhary" userId="9bb06fdeceebabfa" providerId="LiveId" clId="{770B3DE1-CFED-4396-B70B-B69EB667F3C3}" dt="2026-09-22T12:50:46.476" v="286" actId="207"/>
          <ac:spMkLst>
            <pc:docMk/>
            <pc:sldMk cId="0" sldId="265"/>
            <ac:spMk id="34" creationId="{00000000-0000-0000-0000-000000000000}"/>
          </ac:spMkLst>
        </pc:spChg>
        <pc:spChg chg="mod">
          <ac:chgData name="Anuj Chaudhary" userId="9bb06fdeceebabfa" providerId="LiveId" clId="{770B3DE1-CFED-4396-B70B-B69EB667F3C3}" dt="2026-09-22T12:50:55.690" v="291" actId="207"/>
          <ac:spMkLst>
            <pc:docMk/>
            <pc:sldMk cId="0" sldId="265"/>
            <ac:spMk id="36" creationId="{00000000-0000-0000-0000-000000000000}"/>
          </ac:spMkLst>
        </pc:spChg>
        <pc:spChg chg="mod">
          <ac:chgData name="Anuj Chaudhary" userId="9bb06fdeceebabfa" providerId="LiveId" clId="{770B3DE1-CFED-4396-B70B-B69EB667F3C3}" dt="2026-09-22T12:51:02.488" v="294" actId="207"/>
          <ac:spMkLst>
            <pc:docMk/>
            <pc:sldMk cId="0" sldId="265"/>
            <ac:spMk id="38" creationId="{00000000-0000-0000-0000-000000000000}"/>
          </ac:spMkLst>
        </pc:spChg>
        <pc:spChg chg="mod">
          <ac:chgData name="Anuj Chaudhary" userId="9bb06fdeceebabfa" providerId="LiveId" clId="{770B3DE1-CFED-4396-B70B-B69EB667F3C3}" dt="2026-09-22T12:51:09.353" v="295" actId="207"/>
          <ac:spMkLst>
            <pc:docMk/>
            <pc:sldMk cId="0" sldId="265"/>
            <ac:spMk id="39" creationId="{00000000-0000-0000-0000-000000000000}"/>
          </ac:spMkLst>
        </pc:spChg>
        <pc:spChg chg="add del">
          <ac:chgData name="Anuj Chaudhary" userId="9bb06fdeceebabfa" providerId="LiveId" clId="{770B3DE1-CFED-4396-B70B-B69EB667F3C3}" dt="2026-09-23T18:19:51.595" v="431" actId="478"/>
          <ac:spMkLst>
            <pc:docMk/>
            <pc:sldMk cId="0" sldId="265"/>
            <ac:spMk id="41" creationId="{F08BD30B-DEF9-25A5-368F-D4B7C6BCC4B3}"/>
          </ac:spMkLst>
        </pc:spChg>
      </pc:sldChg>
      <pc:sldChg chg="addSp modSp del mod">
        <pc:chgData name="Anuj Chaudhary" userId="9bb06fdeceebabfa" providerId="LiveId" clId="{770B3DE1-CFED-4396-B70B-B69EB667F3C3}" dt="2026-09-24T15:10:01.055" v="575" actId="1076"/>
        <pc:sldMkLst>
          <pc:docMk/>
          <pc:sldMk cId="0" sldId="266"/>
        </pc:sldMkLst>
        <pc:spChg chg="add mod">
          <ac:chgData name="Anuj Chaudhary" userId="9bb06fdeceebabfa" providerId="LiveId" clId="{770B3DE1-CFED-4396-B70B-B69EB667F3C3}" dt="2026-09-24T15:10:01.055" v="575" actId="1076"/>
          <ac:spMkLst>
            <pc:docMk/>
            <pc:sldMk cId="0" sldId="266"/>
            <ac:spMk id="13" creationId="{55CA792A-8F28-CE0A-F18A-98476059387A}"/>
          </ac:spMkLst>
        </pc:spChg>
        <pc:spChg chg="add">
          <ac:chgData name="Anuj Chaudhary" userId="9bb06fdeceebabfa" providerId="LiveId" clId="{770B3DE1-CFED-4396-B70B-B69EB667F3C3}" dt="2026-09-23T18:19:27.919" v="423" actId="22"/>
          <ac:spMkLst>
            <pc:docMk/>
            <pc:sldMk cId="0" sldId="266"/>
            <ac:spMk id="23" creationId="{27488896-0ED2-AF73-D102-8755EF076F6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hyperlink" Target="https://drive.google.com/file/d/12pj0Q5tV2_Jx3ihUPKmgyCJicYBz9QDa/view?usp=sharing" TargetMode="External"/><Relationship Id="rId5" Type="http://schemas.openxmlformats.org/officeDocument/2006/relationships/image" Target="../media/image3.png"/><Relationship Id="rId4" Type="http://schemas.openxmlformats.org/officeDocument/2006/relationships/hyperlink" Target="https://github.com/Ajbit07/muni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svg"/><Relationship Id="rId7"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hyperlink" Target="https://drive.google.com/file/d/12pj0Q5tV2_Jx3ihUPKmgyCJicYBz9QDa/view?usp=sharing" TargetMode="External"/><Relationship Id="rId4" Type="http://schemas.openxmlformats.org/officeDocument/2006/relationships/image" Target="../media/image2.svg"/><Relationship Id="rId9" Type="http://schemas.openxmlformats.org/officeDocument/2006/relationships/hyperlink" Target="https://github.com/Ajbit07/muni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svg"/><Relationship Id="rId7"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8" Type="http://schemas.openxmlformats.org/officeDocument/2006/relationships/hyperlink" Target="https://www.bdo.in/en-gb/insights/alerts-updates/cbdt-issues-additional-guidelines-on-tds-by-e-commerce-operators-under-section-194-o-of-the-it-act" TargetMode="External"/><Relationship Id="rId13" Type="http://schemas.openxmlformats.org/officeDocument/2006/relationships/hyperlink" Target="https://docs.sarvam.ai" TargetMode="External"/><Relationship Id="rId3" Type="http://schemas.openxmlformats.org/officeDocument/2006/relationships/image" Target="../media/image2.svg"/><Relationship Id="rId7" Type="http://schemas.openxmlformats.org/officeDocument/2006/relationships/hyperlink" Target="https://gstcouncil.gov.in/sites/default/files/2024-06/circular-cgst-194.pdf" TargetMode="External"/><Relationship Id="rId12" Type="http://schemas.openxmlformats.org/officeDocument/2006/relationships/hyperlink" Target="https://docs.cognee.ai" TargetMode="Externa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hyperlink" Target="https://www.business-standard.com/finance/news/npci-sets-0-4-fee-on-upi-merchant-payments-above-2-000-effective-oct-15-126091501061_1.html" TargetMode="External"/><Relationship Id="rId11" Type="http://schemas.openxmlformats.org/officeDocument/2006/relationships/hyperlink" Target="https://docs.n8n.io" TargetMode="External"/><Relationship Id="rId5" Type="http://schemas.openxmlformats.org/officeDocument/2006/relationships/hyperlink" Target="https://www.rbi.org.in/commonman/English/scripts/Notification.aspx?Id=2620" TargetMode="External"/><Relationship Id="rId10" Type="http://schemas.openxmlformats.org/officeDocument/2006/relationships/hyperlink" Target="https://www.paytmpayments.com/docs/settlement-reports-on-dashboard" TargetMode="External"/><Relationship Id="rId4" Type="http://schemas.openxmlformats.org/officeDocument/2006/relationships/hyperlink" Target="https://www.scconline.com/blog/post/2026/09/15/centre-specifies-rupay-and-upi-transactions-under-payment-systems-act/" TargetMode="External"/><Relationship Id="rId9" Type="http://schemas.openxmlformats.org/officeDocument/2006/relationships/hyperlink" Target="https://taxguru.in/rbi/rbi-regulation-payment-aggregators-directions-2025.html" TargetMode="External"/><Relationship Id="rId14" Type="http://schemas.openxmlformats.org/officeDocument/2006/relationships/hyperlink" Target="https://ollama.com/library/gemma3"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742792" y="-744342"/>
            <a:ext cx="2971168" cy="2977371"/>
          </a:xfrm>
          <a:custGeom>
            <a:avLst/>
            <a:gdLst/>
            <a:ahLst/>
            <a:cxnLst/>
            <a:rect l="l" t="t" r="r" b="b"/>
            <a:pathLst>
              <a:path w="4951948" h="4962286">
                <a:moveTo>
                  <a:pt x="0" y="0"/>
                </a:moveTo>
                <a:lnTo>
                  <a:pt x="4951948" y="0"/>
                </a:lnTo>
                <a:lnTo>
                  <a:pt x="4951948" y="4962286"/>
                </a:lnTo>
                <a:lnTo>
                  <a:pt x="0" y="496228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Freeform 4"/>
          <p:cNvSpPr/>
          <p:nvPr/>
        </p:nvSpPr>
        <p:spPr>
          <a:xfrm flipH="1" flipV="1">
            <a:off x="16059623" y="8053971"/>
            <a:ext cx="2971168" cy="2977371"/>
          </a:xfrm>
          <a:custGeom>
            <a:avLst/>
            <a:gdLst/>
            <a:ahLst/>
            <a:cxnLst/>
            <a:rect l="l" t="t" r="r" b="b"/>
            <a:pathLst>
              <a:path w="4951948" h="4962286">
                <a:moveTo>
                  <a:pt x="4951948" y="4962286"/>
                </a:moveTo>
                <a:lnTo>
                  <a:pt x="0" y="4962286"/>
                </a:lnTo>
                <a:lnTo>
                  <a:pt x="0" y="0"/>
                </a:lnTo>
                <a:lnTo>
                  <a:pt x="4951948" y="0"/>
                </a:lnTo>
                <a:lnTo>
                  <a:pt x="4951948" y="4962286"/>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5" name="Freeform 5"/>
          <p:cNvSpPr/>
          <p:nvPr/>
        </p:nvSpPr>
        <p:spPr>
          <a:xfrm flipV="1">
            <a:off x="-551471" y="9484703"/>
            <a:ext cx="2205886" cy="202206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6" name="Freeform 6"/>
          <p:cNvSpPr/>
          <p:nvPr/>
        </p:nvSpPr>
        <p:spPr>
          <a:xfrm flipH="1">
            <a:off x="16633585" y="-1228084"/>
            <a:ext cx="2205886" cy="2022062"/>
          </a:xfrm>
          <a:custGeom>
            <a:avLst/>
            <a:gdLst/>
            <a:ahLst/>
            <a:cxnLst/>
            <a:rect l="l" t="t" r="r" b="b"/>
            <a:pathLst>
              <a:path w="3676477" h="3370104">
                <a:moveTo>
                  <a:pt x="3676477" y="0"/>
                </a:moveTo>
                <a:lnTo>
                  <a:pt x="0" y="0"/>
                </a:lnTo>
                <a:lnTo>
                  <a:pt x="0" y="3370103"/>
                </a:lnTo>
                <a:lnTo>
                  <a:pt x="3676477" y="3370103"/>
                </a:lnTo>
                <a:lnTo>
                  <a:pt x="367647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TextBox 6"/>
          <p:cNvSpPr txBox="1"/>
          <p:nvPr/>
        </p:nvSpPr>
        <p:spPr>
          <a:xfrm>
            <a:off x="0" y="1600200"/>
            <a:ext cx="18288000" cy="365760"/>
          </a:xfrm>
          <a:prstGeom prst="rect">
            <a:avLst/>
          </a:prstGeom>
          <a:noFill/>
        </p:spPr>
        <p:txBody>
          <a:bodyPr wrap="square" lIns="0" tIns="0" rIns="0" bIns="0" anchor="t">
            <a:noAutofit/>
          </a:bodyPr>
          <a:lstStyle/>
          <a:p>
            <a:pPr algn="ctr">
              <a:lnSpc>
                <a:spcPct val="112000"/>
              </a:lnSpc>
              <a:spcAft>
                <a:spcPts val="0"/>
              </a:spcAft>
            </a:pPr>
            <a:r>
              <a:rPr sz="1600" b="0" i="0" spc="400" dirty="0">
                <a:solidFill>
                  <a:srgbClr val="1B3A6B"/>
                </a:solidFill>
                <a:latin typeface="Segoe UI Semibold"/>
                <a:cs typeface="Segoe UI Semibold"/>
              </a:rPr>
              <a:t>TITLE PAGE</a:t>
            </a:r>
          </a:p>
        </p:txBody>
      </p:sp>
      <p:sp>
        <p:nvSpPr>
          <p:cNvPr id="8" name="TextBox 7"/>
          <p:cNvSpPr txBox="1"/>
          <p:nvPr/>
        </p:nvSpPr>
        <p:spPr>
          <a:xfrm>
            <a:off x="0" y="2011680"/>
            <a:ext cx="18288000" cy="365760"/>
          </a:xfrm>
          <a:prstGeom prst="rect">
            <a:avLst/>
          </a:prstGeom>
          <a:noFill/>
        </p:spPr>
        <p:txBody>
          <a:bodyPr wrap="square" lIns="0" tIns="0" rIns="0" bIns="0" anchor="t">
            <a:noAutofit/>
          </a:bodyPr>
          <a:lstStyle/>
          <a:p>
            <a:pPr algn="ctr">
              <a:lnSpc>
                <a:spcPct val="112000"/>
              </a:lnSpc>
              <a:spcAft>
                <a:spcPts val="0"/>
              </a:spcAft>
            </a:pPr>
            <a:r>
              <a:rPr sz="1400" b="0" i="0">
                <a:solidFill>
                  <a:srgbClr val="8A6F55"/>
                </a:solidFill>
                <a:latin typeface="Segoe UI"/>
                <a:cs typeface="Segoe UI"/>
              </a:rPr>
              <a:t>Paytm Build for India AI Hackathon 2026, Mumbai</a:t>
            </a:r>
          </a:p>
        </p:txBody>
      </p:sp>
      <p:sp>
        <p:nvSpPr>
          <p:cNvPr id="9" name="Rounded Rectangle 8"/>
          <p:cNvSpPr/>
          <p:nvPr/>
        </p:nvSpPr>
        <p:spPr>
          <a:xfrm>
            <a:off x="5381244" y="2697480"/>
            <a:ext cx="1193292" cy="1371600"/>
          </a:xfrm>
          <a:prstGeom prst="roundRect">
            <a:avLst>
              <a:gd name="adj" fmla="val 10000"/>
            </a:avLst>
          </a:prstGeom>
          <a:solidFill>
            <a:srgbClr val="C8102E"/>
          </a:solidFill>
          <a:ln>
            <a:noFill/>
          </a:ln>
        </p:spPr>
        <p:txBody>
          <a:bodyPr rtlCol="0" anchor="ctr"/>
          <a:lstStyle/>
          <a:p>
            <a:endParaRPr/>
          </a:p>
        </p:txBody>
      </p:sp>
      <p:sp>
        <p:nvSpPr>
          <p:cNvPr id="10" name="Rounded Rectangle 9"/>
          <p:cNvSpPr/>
          <p:nvPr/>
        </p:nvSpPr>
        <p:spPr>
          <a:xfrm>
            <a:off x="5381244" y="2697480"/>
            <a:ext cx="226725" cy="1371600"/>
          </a:xfrm>
          <a:prstGeom prst="roundRect">
            <a:avLst>
              <a:gd name="adj" fmla="val 30000"/>
            </a:avLst>
          </a:prstGeom>
          <a:solidFill>
            <a:srgbClr val="8E0B20"/>
          </a:solidFill>
          <a:ln>
            <a:noFill/>
          </a:ln>
        </p:spPr>
        <p:txBody>
          <a:bodyPr rtlCol="0" anchor="ctr"/>
          <a:lstStyle/>
          <a:p>
            <a:endParaRPr/>
          </a:p>
        </p:txBody>
      </p:sp>
      <p:sp>
        <p:nvSpPr>
          <p:cNvPr id="11" name="Rounded Rectangle 10"/>
          <p:cNvSpPr/>
          <p:nvPr/>
        </p:nvSpPr>
        <p:spPr>
          <a:xfrm>
            <a:off x="5715365" y="2875788"/>
            <a:ext cx="739841" cy="1014983"/>
          </a:xfrm>
          <a:prstGeom prst="roundRect">
            <a:avLst>
              <a:gd name="adj" fmla="val 6000"/>
            </a:avLst>
          </a:prstGeom>
          <a:solidFill>
            <a:srgbClr val="FFF6F7"/>
          </a:solidFill>
          <a:ln>
            <a:noFill/>
          </a:ln>
        </p:spPr>
        <p:txBody>
          <a:bodyPr rtlCol="0" anchor="ctr"/>
          <a:lstStyle/>
          <a:p>
            <a:endParaRPr/>
          </a:p>
        </p:txBody>
      </p:sp>
      <p:cxnSp>
        <p:nvCxnSpPr>
          <p:cNvPr id="12" name="Connector 11"/>
          <p:cNvCxnSpPr>
            <a:cxnSpLocks/>
          </p:cNvCxnSpPr>
          <p:nvPr/>
        </p:nvCxnSpPr>
        <p:spPr>
          <a:xfrm>
            <a:off x="5834694" y="3410712"/>
            <a:ext cx="167061" cy="132588"/>
          </a:xfrm>
          <a:prstGeom prst="line">
            <a:avLst/>
          </a:prstGeom>
          <a:ln w="95250">
            <a:solidFill>
              <a:srgbClr val="0F7B55"/>
            </a:solidFill>
          </a:ln>
        </p:spPr>
      </p:cxnSp>
      <p:cxnSp>
        <p:nvCxnSpPr>
          <p:cNvPr id="13" name="Connector 12"/>
          <p:cNvCxnSpPr/>
          <p:nvPr/>
        </p:nvCxnSpPr>
        <p:spPr>
          <a:xfrm flipV="1">
            <a:off x="6001755" y="3163824"/>
            <a:ext cx="334122" cy="411480"/>
          </a:xfrm>
          <a:prstGeom prst="line">
            <a:avLst/>
          </a:prstGeom>
          <a:ln w="95250">
            <a:solidFill>
              <a:srgbClr val="0F7B55"/>
            </a:solidFill>
          </a:ln>
        </p:spPr>
      </p:cxnSp>
      <p:sp>
        <p:nvSpPr>
          <p:cNvPr id="14" name="TextBox 13"/>
          <p:cNvSpPr txBox="1"/>
          <p:nvPr/>
        </p:nvSpPr>
        <p:spPr>
          <a:xfrm>
            <a:off x="6862571" y="2423160"/>
            <a:ext cx="5669280" cy="1828800"/>
          </a:xfrm>
          <a:prstGeom prst="rect">
            <a:avLst/>
          </a:prstGeom>
          <a:noFill/>
        </p:spPr>
        <p:txBody>
          <a:bodyPr wrap="square" lIns="0" tIns="0" rIns="0" bIns="0" anchor="ctr">
            <a:noAutofit/>
          </a:bodyPr>
          <a:lstStyle/>
          <a:p>
            <a:pPr algn="l">
              <a:lnSpc>
                <a:spcPct val="85000"/>
              </a:lnSpc>
              <a:spcAft>
                <a:spcPts val="0"/>
              </a:spcAft>
            </a:pPr>
            <a:r>
              <a:rPr sz="11000" b="0" i="0" dirty="0">
                <a:solidFill>
                  <a:schemeClr val="accent6">
                    <a:lumMod val="75000"/>
                  </a:schemeClr>
                </a:solidFill>
                <a:latin typeface="League Spartan"/>
                <a:cs typeface="League Spartan"/>
              </a:rPr>
              <a:t>MUNIM</a:t>
            </a:r>
          </a:p>
        </p:txBody>
      </p:sp>
      <p:sp>
        <p:nvSpPr>
          <p:cNvPr id="15" name="TextBox 14"/>
          <p:cNvSpPr txBox="1"/>
          <p:nvPr/>
        </p:nvSpPr>
        <p:spPr>
          <a:xfrm>
            <a:off x="12207239" y="3227832"/>
            <a:ext cx="1828800" cy="822960"/>
          </a:xfrm>
          <a:prstGeom prst="rect">
            <a:avLst/>
          </a:prstGeom>
          <a:noFill/>
        </p:spPr>
        <p:txBody>
          <a:bodyPr wrap="square" lIns="0" tIns="0" rIns="0" bIns="0" anchor="t">
            <a:noAutofit/>
          </a:bodyPr>
          <a:lstStyle/>
          <a:p>
            <a:pPr algn="l">
              <a:lnSpc>
                <a:spcPct val="112000"/>
              </a:lnSpc>
              <a:spcAft>
                <a:spcPts val="0"/>
              </a:spcAft>
            </a:pPr>
            <a:r>
              <a:rPr sz="3400" b="0" i="0" dirty="0" err="1">
                <a:solidFill>
                  <a:srgbClr val="E4873B"/>
                </a:solidFill>
                <a:latin typeface="Nirmala UI"/>
                <a:cs typeface="Nirmala UI"/>
              </a:rPr>
              <a:t>मुनीम</a:t>
            </a:r>
            <a:endParaRPr sz="3400" b="0" i="0" dirty="0">
              <a:solidFill>
                <a:srgbClr val="E4873B"/>
              </a:solidFill>
              <a:latin typeface="Nirmala UI"/>
              <a:cs typeface="Nirmala UI"/>
            </a:endParaRPr>
          </a:p>
        </p:txBody>
      </p:sp>
      <p:sp>
        <p:nvSpPr>
          <p:cNvPr id="16" name="TextBox 15"/>
          <p:cNvSpPr txBox="1"/>
          <p:nvPr/>
        </p:nvSpPr>
        <p:spPr>
          <a:xfrm>
            <a:off x="1371600" y="4526280"/>
            <a:ext cx="15544800" cy="1371600"/>
          </a:xfrm>
          <a:prstGeom prst="rect">
            <a:avLst/>
          </a:prstGeom>
          <a:noFill/>
        </p:spPr>
        <p:txBody>
          <a:bodyPr wrap="square" lIns="0" tIns="0" rIns="0" bIns="0" anchor="t">
            <a:noAutofit/>
          </a:bodyPr>
          <a:lstStyle/>
          <a:p>
            <a:pPr algn="ctr">
              <a:lnSpc>
                <a:spcPct val="108000"/>
              </a:lnSpc>
              <a:spcAft>
                <a:spcPts val="0"/>
              </a:spcAft>
            </a:pPr>
            <a:r>
              <a:rPr sz="2700" b="0" i="0" dirty="0">
                <a:solidFill>
                  <a:srgbClr val="1B3A6B"/>
                </a:solidFill>
                <a:latin typeface="Segoe UI"/>
                <a:cs typeface="Segoe UI"/>
              </a:rPr>
              <a:t>Paytm fixes its own settlement mistakes </a:t>
            </a:r>
            <a:r>
              <a:rPr sz="2700" b="0" i="0" dirty="0">
                <a:solidFill>
                  <a:srgbClr val="B96A1E"/>
                </a:solidFill>
                <a:latin typeface="Segoe UI"/>
                <a:cs typeface="Segoe UI"/>
              </a:rPr>
              <a:t>before the merchant knows they happened.</a:t>
            </a:r>
          </a:p>
        </p:txBody>
      </p:sp>
      <p:sp>
        <p:nvSpPr>
          <p:cNvPr id="17" name="Rounded Rectangle 16"/>
          <p:cNvSpPr/>
          <p:nvPr/>
        </p:nvSpPr>
        <p:spPr>
          <a:xfrm>
            <a:off x="5166360" y="5623560"/>
            <a:ext cx="7955279" cy="1675727"/>
          </a:xfrm>
          <a:prstGeom prst="roundRect">
            <a:avLst>
              <a:gd name="adj" fmla="val 5000"/>
            </a:avLst>
          </a:prstGeom>
          <a:solidFill>
            <a:srgbClr val="FFFFFF"/>
          </a:solidFill>
          <a:ln w="12700">
            <a:solidFill>
              <a:srgbClr val="E9DDC7"/>
            </a:solidFill>
          </a:ln>
        </p:spPr>
        <p:txBody>
          <a:bodyPr rtlCol="0" anchor="ctr"/>
          <a:lstStyle/>
          <a:p>
            <a:endParaRPr dirty="0">
              <a:highlight>
                <a:srgbClr val="FFFF00"/>
              </a:highlight>
            </a:endParaRPr>
          </a:p>
        </p:txBody>
      </p:sp>
      <p:sp>
        <p:nvSpPr>
          <p:cNvPr id="18" name="TextBox 17"/>
          <p:cNvSpPr txBox="1"/>
          <p:nvPr/>
        </p:nvSpPr>
        <p:spPr>
          <a:xfrm>
            <a:off x="5532120" y="5870448"/>
            <a:ext cx="2011680" cy="384048"/>
          </a:xfrm>
          <a:prstGeom prst="rect">
            <a:avLst/>
          </a:prstGeom>
          <a:noFill/>
        </p:spPr>
        <p:txBody>
          <a:bodyPr wrap="square" lIns="0" tIns="0" rIns="0" bIns="0" anchor="t">
            <a:noAutofit/>
          </a:bodyPr>
          <a:lstStyle/>
          <a:p>
            <a:pPr algn="l">
              <a:lnSpc>
                <a:spcPct val="112000"/>
              </a:lnSpc>
              <a:spcAft>
                <a:spcPts val="0"/>
              </a:spcAft>
            </a:pPr>
            <a:r>
              <a:rPr sz="1400" b="0" i="0">
                <a:solidFill>
                  <a:srgbClr val="1B3A6B"/>
                </a:solidFill>
                <a:latin typeface="Segoe UI Semibold"/>
                <a:cs typeface="Segoe UI Semibold"/>
              </a:rPr>
              <a:t>TRACK</a:t>
            </a:r>
          </a:p>
        </p:txBody>
      </p:sp>
      <p:sp>
        <p:nvSpPr>
          <p:cNvPr id="19" name="TextBox 18"/>
          <p:cNvSpPr txBox="1"/>
          <p:nvPr/>
        </p:nvSpPr>
        <p:spPr>
          <a:xfrm>
            <a:off x="7543800" y="5852160"/>
            <a:ext cx="5486400" cy="384048"/>
          </a:xfrm>
          <a:prstGeom prst="rect">
            <a:avLst/>
          </a:prstGeom>
          <a:noFill/>
        </p:spPr>
        <p:txBody>
          <a:bodyPr wrap="square" lIns="0" tIns="0" rIns="0" bIns="0" anchor="t">
            <a:noAutofit/>
          </a:bodyPr>
          <a:lstStyle/>
          <a:p>
            <a:pPr algn="l">
              <a:lnSpc>
                <a:spcPct val="112000"/>
              </a:lnSpc>
              <a:spcAft>
                <a:spcPts val="0"/>
              </a:spcAft>
            </a:pPr>
            <a:r>
              <a:rPr sz="1700" b="0" i="0">
                <a:solidFill>
                  <a:srgbClr val="3D2410"/>
                </a:solidFill>
                <a:latin typeface="Segoe UI"/>
                <a:cs typeface="Segoe UI"/>
              </a:rPr>
              <a:t>3, Autonomous AI Teammates</a:t>
            </a:r>
          </a:p>
        </p:txBody>
      </p:sp>
      <p:sp>
        <p:nvSpPr>
          <p:cNvPr id="20" name="TextBox 19"/>
          <p:cNvSpPr txBox="1"/>
          <p:nvPr/>
        </p:nvSpPr>
        <p:spPr>
          <a:xfrm>
            <a:off x="5532120" y="6373368"/>
            <a:ext cx="2011680" cy="384048"/>
          </a:xfrm>
          <a:prstGeom prst="rect">
            <a:avLst/>
          </a:prstGeom>
          <a:noFill/>
        </p:spPr>
        <p:txBody>
          <a:bodyPr wrap="square" lIns="0" tIns="0" rIns="0" bIns="0" anchor="t">
            <a:noAutofit/>
          </a:bodyPr>
          <a:lstStyle/>
          <a:p>
            <a:pPr algn="l">
              <a:lnSpc>
                <a:spcPct val="112000"/>
              </a:lnSpc>
              <a:spcAft>
                <a:spcPts val="0"/>
              </a:spcAft>
            </a:pPr>
            <a:r>
              <a:rPr sz="1400" b="0" i="0">
                <a:solidFill>
                  <a:srgbClr val="1B3A6B"/>
                </a:solidFill>
                <a:latin typeface="Segoe UI Semibold"/>
                <a:cs typeface="Segoe UI Semibold"/>
              </a:rPr>
              <a:t>PROBLEM</a:t>
            </a:r>
          </a:p>
        </p:txBody>
      </p:sp>
      <p:sp>
        <p:nvSpPr>
          <p:cNvPr id="21" name="TextBox 20"/>
          <p:cNvSpPr txBox="1"/>
          <p:nvPr/>
        </p:nvSpPr>
        <p:spPr>
          <a:xfrm>
            <a:off x="7543800" y="6355080"/>
            <a:ext cx="5486400" cy="384048"/>
          </a:xfrm>
          <a:prstGeom prst="rect">
            <a:avLst/>
          </a:prstGeom>
          <a:noFill/>
        </p:spPr>
        <p:txBody>
          <a:bodyPr wrap="square" lIns="0" tIns="0" rIns="0" bIns="0" anchor="t">
            <a:noAutofit/>
          </a:bodyPr>
          <a:lstStyle/>
          <a:p>
            <a:pPr algn="l">
              <a:lnSpc>
                <a:spcPct val="112000"/>
              </a:lnSpc>
              <a:spcAft>
                <a:spcPts val="0"/>
              </a:spcAft>
            </a:pPr>
            <a:r>
              <a:rPr sz="1700" b="0" i="0">
                <a:solidFill>
                  <a:srgbClr val="3D2410"/>
                </a:solidFill>
                <a:latin typeface="Segoe UI"/>
                <a:cs typeface="Segoe UI"/>
              </a:rPr>
              <a:t>Settlement errors merchants never report</a:t>
            </a:r>
          </a:p>
        </p:txBody>
      </p:sp>
      <p:sp>
        <p:nvSpPr>
          <p:cNvPr id="24" name="TextBox 23"/>
          <p:cNvSpPr txBox="1"/>
          <p:nvPr/>
        </p:nvSpPr>
        <p:spPr>
          <a:xfrm>
            <a:off x="5532120" y="6903720"/>
            <a:ext cx="2011680" cy="384048"/>
          </a:xfrm>
          <a:prstGeom prst="rect">
            <a:avLst/>
          </a:prstGeom>
          <a:noFill/>
        </p:spPr>
        <p:txBody>
          <a:bodyPr wrap="square" lIns="0" tIns="0" rIns="0" bIns="0" anchor="t">
            <a:noAutofit/>
          </a:bodyPr>
          <a:lstStyle/>
          <a:p>
            <a:pPr algn="l">
              <a:lnSpc>
                <a:spcPct val="112000"/>
              </a:lnSpc>
              <a:spcAft>
                <a:spcPts val="0"/>
              </a:spcAft>
            </a:pPr>
            <a:r>
              <a:rPr sz="1400" b="0" i="0">
                <a:solidFill>
                  <a:srgbClr val="1B3A6B"/>
                </a:solidFill>
                <a:latin typeface="Segoe UI Semibold"/>
                <a:cs typeface="Segoe UI Semibold"/>
              </a:rPr>
              <a:t>TEAM NAME</a:t>
            </a:r>
          </a:p>
        </p:txBody>
      </p:sp>
      <p:sp>
        <p:nvSpPr>
          <p:cNvPr id="25" name="TextBox 24"/>
          <p:cNvSpPr txBox="1"/>
          <p:nvPr/>
        </p:nvSpPr>
        <p:spPr>
          <a:xfrm>
            <a:off x="7543800" y="6885432"/>
            <a:ext cx="5486400" cy="384048"/>
          </a:xfrm>
          <a:prstGeom prst="rect">
            <a:avLst/>
          </a:prstGeom>
          <a:noFill/>
        </p:spPr>
        <p:txBody>
          <a:bodyPr wrap="square" lIns="0" tIns="0" rIns="0" bIns="0" anchor="t">
            <a:noAutofit/>
          </a:bodyPr>
          <a:lstStyle/>
          <a:p>
            <a:pPr algn="l">
              <a:lnSpc>
                <a:spcPct val="112000"/>
              </a:lnSpc>
              <a:spcAft>
                <a:spcPts val="0"/>
              </a:spcAft>
            </a:pPr>
            <a:r>
              <a:rPr lang="en-IN" sz="1700" dirty="0" err="1">
                <a:solidFill>
                  <a:srgbClr val="3D2410"/>
                </a:solidFill>
                <a:latin typeface="Segoe UI"/>
                <a:cs typeface="Segoe UI"/>
              </a:rPr>
              <a:t>Dracarys</a:t>
            </a:r>
            <a:endParaRPr sz="1700" b="0" i="0" dirty="0">
              <a:solidFill>
                <a:srgbClr val="3D2410"/>
              </a:solidFill>
              <a:latin typeface="Montserrat"/>
              <a:cs typeface="Montserrat"/>
            </a:endParaRPr>
          </a:p>
        </p:txBody>
      </p:sp>
      <p:sp>
        <p:nvSpPr>
          <p:cNvPr id="40" name="GitHub link">
            <a:hlinkClick r:id="rId4"/>
          </p:cNvPr>
          <p:cNvSpPr/>
          <p:nvPr/>
        </p:nvSpPr>
        <p:spPr>
          <a:xfrm>
            <a:off x="7475218" y="7665047"/>
            <a:ext cx="3337560" cy="502920"/>
          </a:xfrm>
          <a:prstGeom prst="roundRect">
            <a:avLst>
              <a:gd name="adj" fmla="val 50000"/>
            </a:avLst>
          </a:prstGeom>
          <a:solidFill>
            <a:schemeClr val="accent1">
              <a:lumMod val="75000"/>
            </a:schemeClr>
          </a:solidFill>
          <a:ln>
            <a:noFill/>
          </a:ln>
        </p:spPr>
        <p:txBody>
          <a:bodyPr wrap="none" lIns="566928" tIns="0" rIns="137160" bIns="0" rtlCol="0" anchor="ctr"/>
          <a:lstStyle/>
          <a:p>
            <a:pPr algn="l"/>
            <a:r>
              <a:rPr sz="1500" dirty="0">
                <a:solidFill>
                  <a:srgbClr val="FFFF00"/>
                </a:solidFill>
                <a:latin typeface="Segoe UI Semibold"/>
              </a:rPr>
              <a:t>GitHub </a:t>
            </a:r>
            <a:r>
              <a:rPr sz="1500" dirty="0">
                <a:solidFill>
                  <a:srgbClr val="F4C542"/>
                </a:solidFill>
                <a:latin typeface="Segoe UI Semibold"/>
              </a:rPr>
              <a:t>  </a:t>
            </a:r>
            <a:r>
              <a:rPr lang="en-IN" sz="1500" dirty="0">
                <a:solidFill>
                  <a:srgbClr val="FFFFFF"/>
                </a:solidFill>
                <a:latin typeface="Segoe UI"/>
              </a:rPr>
              <a:t>Our Repo of Munim</a:t>
            </a:r>
            <a:endParaRPr sz="1500" dirty="0">
              <a:solidFill>
                <a:srgbClr val="FFFFFF"/>
              </a:solidFill>
              <a:latin typeface="Segoe UI"/>
            </a:endParaRPr>
          </a:p>
        </p:txBody>
      </p:sp>
      <p:pic>
        <p:nvPicPr>
          <p:cNvPr id="41" name="GitHub logo" descr="GitHub logo">
            <a:hlinkClick r:id="rId4"/>
          </p:cNvPr>
          <p:cNvPicPr>
            <a:picLocks noChangeAspect="1"/>
          </p:cNvPicPr>
          <p:nvPr/>
        </p:nvPicPr>
        <p:blipFill>
          <a:blip r:embed="rId5"/>
          <a:stretch>
            <a:fillRect/>
          </a:stretch>
        </p:blipFill>
        <p:spPr>
          <a:xfrm>
            <a:off x="7574001" y="7726680"/>
            <a:ext cx="320040" cy="320040"/>
          </a:xfrm>
          <a:prstGeom prst="rect">
            <a:avLst/>
          </a:prstGeom>
        </p:spPr>
      </p:pic>
      <p:sp>
        <p:nvSpPr>
          <p:cNvPr id="22" name="GitHub link">
            <a:hlinkClick r:id="rId6"/>
            <a:extLst>
              <a:ext uri="{FF2B5EF4-FFF2-40B4-BE49-F238E27FC236}">
                <a16:creationId xmlns:a16="http://schemas.microsoft.com/office/drawing/2014/main" id="{B2951A0A-12FE-D1CC-BEDB-DE1E5172655B}"/>
              </a:ext>
            </a:extLst>
          </p:cNvPr>
          <p:cNvSpPr/>
          <p:nvPr/>
        </p:nvSpPr>
        <p:spPr>
          <a:xfrm>
            <a:off x="5953962" y="8259407"/>
            <a:ext cx="6380073" cy="502920"/>
          </a:xfrm>
          <a:prstGeom prst="roundRect">
            <a:avLst>
              <a:gd name="adj" fmla="val 50000"/>
            </a:avLst>
          </a:prstGeom>
          <a:solidFill>
            <a:schemeClr val="accent2">
              <a:lumMod val="60000"/>
              <a:lumOff val="40000"/>
            </a:schemeClr>
          </a:solidFill>
          <a:ln>
            <a:noFill/>
          </a:ln>
        </p:spPr>
        <p:txBody>
          <a:bodyPr wrap="none" lIns="566928" tIns="0" rIns="137160" bIns="0" rtlCol="0" anchor="ctr"/>
          <a:lstStyle/>
          <a:p>
            <a:pPr algn="l"/>
            <a:r>
              <a:rPr lang="en-IN" sz="1500" dirty="0">
                <a:solidFill>
                  <a:srgbClr val="EBEF47"/>
                </a:solidFill>
                <a:latin typeface="Segoe UI Semibold"/>
              </a:rPr>
              <a:t>Click here for</a:t>
            </a:r>
            <a:r>
              <a:rPr sz="1500" dirty="0">
                <a:solidFill>
                  <a:srgbClr val="EBEF47"/>
                </a:solidFill>
                <a:latin typeface="Segoe UI Semibold"/>
              </a:rPr>
              <a:t>   </a:t>
            </a:r>
            <a:r>
              <a:rPr lang="en-IN" sz="1500" b="1" dirty="0">
                <a:latin typeface="Segoe UI"/>
              </a:rPr>
              <a:t>Demo Video Showing Working of Munim </a:t>
            </a:r>
            <a:endParaRPr sz="1500" b="1" dirty="0">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flipH="1">
            <a:off x="16257701" y="-446605"/>
            <a:ext cx="2475974" cy="2481143"/>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V="1">
            <a:off x="17380895" y="9039441"/>
            <a:ext cx="1838238" cy="168505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5" name="Freeform 5"/>
          <p:cNvSpPr/>
          <p:nvPr/>
        </p:nvSpPr>
        <p:spPr>
          <a:xfrm flipH="1">
            <a:off x="-1143994" y="-324222"/>
            <a:ext cx="1838238" cy="1685052"/>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TextBox 5"/>
          <p:cNvSpPr txBox="1"/>
          <p:nvPr/>
        </p:nvSpPr>
        <p:spPr>
          <a:xfrm>
            <a:off x="1188720" y="557783"/>
            <a:ext cx="12801600" cy="822960"/>
          </a:xfrm>
          <a:prstGeom prst="rect">
            <a:avLst/>
          </a:prstGeom>
          <a:noFill/>
        </p:spPr>
        <p:txBody>
          <a:bodyPr wrap="square" lIns="0" tIns="0" rIns="0" bIns="0" anchor="t">
            <a:noAutofit/>
          </a:bodyPr>
          <a:lstStyle/>
          <a:p>
            <a:pPr>
              <a:lnSpc>
                <a:spcPct val="90000"/>
              </a:lnSpc>
            </a:pPr>
            <a:r>
              <a:rPr lang="en-IN" sz="5000" dirty="0">
                <a:solidFill>
                  <a:schemeClr val="accent6">
                    <a:lumMod val="75000"/>
                  </a:schemeClr>
                </a:solidFill>
                <a:latin typeface="League Spartan"/>
                <a:cs typeface="League Spartan"/>
              </a:rPr>
              <a:t>Munim</a:t>
            </a:r>
            <a:r>
              <a:rPr lang="en-IN" sz="5000" dirty="0">
                <a:solidFill>
                  <a:srgbClr val="1B3A6B"/>
                </a:solidFill>
                <a:latin typeface="League Spartan"/>
                <a:cs typeface="League Spartan"/>
              </a:rPr>
              <a:t> </a:t>
            </a:r>
            <a:r>
              <a:rPr lang="hi-IN" sz="3200" dirty="0">
                <a:solidFill>
                  <a:srgbClr val="E4873B"/>
                </a:solidFill>
                <a:latin typeface="Nirmala UI"/>
                <a:cs typeface="Nirmala UI"/>
              </a:rPr>
              <a:t>मुनीम</a:t>
            </a:r>
            <a:endParaRPr lang="en-IN" sz="3200" dirty="0"/>
          </a:p>
          <a:p>
            <a:pPr algn="l">
              <a:lnSpc>
                <a:spcPct val="90000"/>
              </a:lnSpc>
              <a:spcAft>
                <a:spcPts val="0"/>
              </a:spcAft>
            </a:pPr>
            <a:endParaRPr dirty="0"/>
          </a:p>
        </p:txBody>
      </p:sp>
      <p:sp>
        <p:nvSpPr>
          <p:cNvPr id="7" name="TextBox 6"/>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a:solidFill>
                  <a:srgbClr val="1B3A6B"/>
                </a:solidFill>
                <a:latin typeface="Segoe UI"/>
                <a:cs typeface="Segoe UI"/>
              </a:rPr>
              <a:t>₹270 was deducted from a ₹12,000 day. Nobody asked why.</a:t>
            </a:r>
          </a:p>
        </p:txBody>
      </p:sp>
      <p:sp>
        <p:nvSpPr>
          <p:cNvPr id="8" name="TextBox 7"/>
          <p:cNvSpPr txBox="1"/>
          <p:nvPr/>
        </p:nvSpPr>
        <p:spPr>
          <a:xfrm>
            <a:off x="1207007" y="1810512"/>
            <a:ext cx="15050693" cy="658368"/>
          </a:xfrm>
          <a:prstGeom prst="rect">
            <a:avLst/>
          </a:prstGeom>
          <a:noFill/>
        </p:spPr>
        <p:txBody>
          <a:bodyPr wrap="square" lIns="0" tIns="0" rIns="0" bIns="0" anchor="t">
            <a:noAutofit/>
          </a:bodyPr>
          <a:lstStyle/>
          <a:p>
            <a:pPr algn="l">
              <a:lnSpc>
                <a:spcPct val="112000"/>
              </a:lnSpc>
              <a:spcAft>
                <a:spcPts val="0"/>
              </a:spcAft>
            </a:pPr>
            <a:r>
              <a:rPr sz="1400" b="1" i="0" dirty="0">
                <a:solidFill>
                  <a:srgbClr val="B96A1E"/>
                </a:solidFill>
                <a:latin typeface="Segoe UI Semibold"/>
                <a:cs typeface="Segoe UI"/>
              </a:rPr>
              <a:t>The problem: </a:t>
            </a:r>
            <a:r>
              <a:rPr lang="en-IN" sz="1600" b="0" i="0" dirty="0">
                <a:solidFill>
                  <a:srgbClr val="000000"/>
                </a:solidFill>
                <a:latin typeface="Segoe UI"/>
                <a:cs typeface="Segoe UI"/>
              </a:rPr>
              <a:t>A</a:t>
            </a:r>
            <a:r>
              <a:rPr sz="1600" dirty="0">
                <a:solidFill>
                  <a:srgbClr val="000000"/>
                </a:solidFill>
                <a:latin typeface="Segoe UI"/>
              </a:rPr>
              <a:t> merchant receives one net amount after MDR, GST, device rental and fees are taken out, under rules that change with the payment type, the amount and the date. When one deduction is wrong, nothing on the statement shows it. The loss is small, it repeats every day, and because nobody complains, nobody fixes it.</a:t>
            </a:r>
          </a:p>
        </p:txBody>
      </p:sp>
      <p:sp>
        <p:nvSpPr>
          <p:cNvPr id="9" name="TextBox 8"/>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02</a:t>
            </a:r>
            <a:r>
              <a:rPr sz="1200" b="0" i="0">
                <a:solidFill>
                  <a:srgbClr val="8A6F55"/>
                </a:solidFill>
                <a:latin typeface="Segoe UI"/>
                <a:cs typeface="Segoe UI"/>
              </a:rPr>
              <a:t>   Munim   Paytm Build for India, Track 3</a:t>
            </a:r>
          </a:p>
        </p:txBody>
      </p:sp>
      <p:sp>
        <p:nvSpPr>
          <p:cNvPr id="10" name="Rounded Rectangular Callout 9"/>
          <p:cNvSpPr/>
          <p:nvPr/>
        </p:nvSpPr>
        <p:spPr>
          <a:xfrm>
            <a:off x="1188720" y="2468880"/>
            <a:ext cx="5943600" cy="1371600"/>
          </a:xfrm>
          <a:prstGeom prst="wedgeRoundRectCallout">
            <a:avLst>
              <a:gd name="adj1" fmla="val -30000"/>
              <a:gd name="adj2" fmla="val 78000"/>
              <a:gd name="adj3" fmla="val 16667"/>
            </a:avLst>
          </a:prstGeom>
          <a:solidFill>
            <a:srgbClr val="FDF3D2"/>
          </a:solidFill>
          <a:ln>
            <a:noFill/>
          </a:ln>
        </p:spPr>
        <p:txBody>
          <a:bodyPr wrap="square" lIns="228600" tIns="91440" rIns="182880" bIns="91440" rtlCol="0" anchor="ctr">
            <a:noAutofit/>
          </a:bodyPr>
          <a:lstStyle/>
          <a:p>
            <a:pPr algn="l">
              <a:lnSpc>
                <a:spcPct val="112000"/>
              </a:lnSpc>
              <a:spcAft>
                <a:spcPts val="400"/>
              </a:spcAft>
            </a:pPr>
            <a:r>
              <a:rPr sz="1900" b="0" i="0">
                <a:solidFill>
                  <a:srgbClr val="3D2410"/>
                </a:solidFill>
                <a:latin typeface="Segoe UI"/>
                <a:cs typeface="Segoe UI"/>
              </a:rPr>
              <a:t>“₹12,000 ka maal becha, ₹11,730 aaya. Baaki Paytm ka charge hoga.”</a:t>
            </a:r>
          </a:p>
          <a:p>
            <a:pPr algn="l">
              <a:lnSpc>
                <a:spcPct val="112000"/>
              </a:lnSpc>
              <a:spcAft>
                <a:spcPts val="0"/>
              </a:spcAft>
            </a:pPr>
            <a:r>
              <a:rPr sz="1300" b="0" i="0">
                <a:solidFill>
                  <a:srgbClr val="8A6F55"/>
                </a:solidFill>
                <a:latin typeface="Segoe UI"/>
                <a:cs typeface="Segoe UI"/>
              </a:rPr>
              <a:t>— a kirana owner, asked where ₹270 went</a:t>
            </a:r>
          </a:p>
        </p:txBody>
      </p:sp>
      <p:sp>
        <p:nvSpPr>
          <p:cNvPr id="11" name="Rounded Rectangle 10"/>
          <p:cNvSpPr/>
          <p:nvPr/>
        </p:nvSpPr>
        <p:spPr>
          <a:xfrm>
            <a:off x="1188720" y="4343400"/>
            <a:ext cx="5943600" cy="4983480"/>
          </a:xfrm>
          <a:prstGeom prst="roundRect">
            <a:avLst>
              <a:gd name="adj" fmla="val 3000"/>
            </a:avLst>
          </a:prstGeom>
          <a:solidFill>
            <a:srgbClr val="FFFFFF"/>
          </a:solidFill>
          <a:ln w="12700">
            <a:solidFill>
              <a:srgbClr val="E9DDC7"/>
            </a:solidFill>
          </a:ln>
        </p:spPr>
        <p:txBody>
          <a:bodyPr rtlCol="0" anchor="ctr"/>
          <a:lstStyle/>
          <a:p>
            <a:endParaRPr/>
          </a:p>
        </p:txBody>
      </p:sp>
      <p:sp>
        <p:nvSpPr>
          <p:cNvPr id="12" name="TextBox 11"/>
          <p:cNvSpPr txBox="1"/>
          <p:nvPr/>
        </p:nvSpPr>
        <p:spPr>
          <a:xfrm>
            <a:off x="1463040" y="4526280"/>
            <a:ext cx="5486400" cy="365760"/>
          </a:xfrm>
          <a:prstGeom prst="rect">
            <a:avLst/>
          </a:prstGeom>
          <a:noFill/>
        </p:spPr>
        <p:txBody>
          <a:bodyPr wrap="square" lIns="0" tIns="0" rIns="0" bIns="0" anchor="t">
            <a:noAutofit/>
          </a:bodyPr>
          <a:lstStyle/>
          <a:p>
            <a:pPr algn="l">
              <a:lnSpc>
                <a:spcPct val="112000"/>
              </a:lnSpc>
              <a:spcAft>
                <a:spcPts val="0"/>
              </a:spcAft>
            </a:pPr>
            <a:r>
              <a:rPr sz="1800" b="0" i="0">
                <a:solidFill>
                  <a:srgbClr val="1B3A6B"/>
                </a:solidFill>
                <a:latin typeface="Segoe UI Semibold"/>
                <a:cs typeface="Segoe UI Semibold"/>
              </a:rPr>
              <a:t>One day’s settlement</a:t>
            </a:r>
          </a:p>
        </p:txBody>
      </p:sp>
      <p:sp>
        <p:nvSpPr>
          <p:cNvPr id="13" name="TextBox 12"/>
          <p:cNvSpPr txBox="1"/>
          <p:nvPr/>
        </p:nvSpPr>
        <p:spPr>
          <a:xfrm>
            <a:off x="1463040" y="4846320"/>
            <a:ext cx="5486400" cy="320040"/>
          </a:xfrm>
          <a:prstGeom prst="rect">
            <a:avLst/>
          </a:prstGeom>
          <a:noFill/>
        </p:spPr>
        <p:txBody>
          <a:bodyPr wrap="square" lIns="0" tIns="0" rIns="0" bIns="0" anchor="t">
            <a:noAutofit/>
          </a:bodyPr>
          <a:lstStyle/>
          <a:p>
            <a:pPr algn="l">
              <a:lnSpc>
                <a:spcPct val="112000"/>
              </a:lnSpc>
              <a:spcAft>
                <a:spcPts val="0"/>
              </a:spcAft>
            </a:pPr>
            <a:r>
              <a:rPr sz="1200" b="0" i="0">
                <a:solidFill>
                  <a:srgbClr val="8A6F55"/>
                </a:solidFill>
                <a:latin typeface="Segoe UI"/>
                <a:cs typeface="Segoe UI"/>
              </a:rPr>
              <a:t>UPI ₹6,000, RuPay debit ₹1,500, credit cards ₹4,500</a:t>
            </a:r>
          </a:p>
        </p:txBody>
      </p:sp>
      <p:sp>
        <p:nvSpPr>
          <p:cNvPr id="14" name="TextBox 13"/>
          <p:cNvSpPr txBox="1"/>
          <p:nvPr/>
        </p:nvSpPr>
        <p:spPr>
          <a:xfrm>
            <a:off x="1463040" y="5230368"/>
            <a:ext cx="4206240" cy="411480"/>
          </a:xfrm>
          <a:prstGeom prst="rect">
            <a:avLst/>
          </a:prstGeom>
          <a:noFill/>
        </p:spPr>
        <p:txBody>
          <a:bodyPr wrap="square" lIns="0" tIns="0" rIns="0" bIns="0" anchor="ctr">
            <a:noAutofit/>
          </a:bodyPr>
          <a:lstStyle/>
          <a:p>
            <a:pPr algn="l">
              <a:lnSpc>
                <a:spcPct val="112000"/>
              </a:lnSpc>
              <a:spcAft>
                <a:spcPts val="0"/>
              </a:spcAft>
            </a:pPr>
            <a:r>
              <a:rPr sz="1500" b="0" i="0">
                <a:solidFill>
                  <a:srgbClr val="3D2410"/>
                </a:solidFill>
                <a:latin typeface="Segoe UI"/>
                <a:cs typeface="Segoe UI"/>
              </a:rPr>
              <a:t>Sold</a:t>
            </a:r>
          </a:p>
        </p:txBody>
      </p:sp>
      <p:sp>
        <p:nvSpPr>
          <p:cNvPr id="15" name="TextBox 14"/>
          <p:cNvSpPr txBox="1"/>
          <p:nvPr/>
        </p:nvSpPr>
        <p:spPr>
          <a:xfrm>
            <a:off x="5486400" y="5230368"/>
            <a:ext cx="1371600" cy="411480"/>
          </a:xfrm>
          <a:prstGeom prst="rect">
            <a:avLst/>
          </a:prstGeom>
          <a:noFill/>
        </p:spPr>
        <p:txBody>
          <a:bodyPr wrap="square" lIns="0" tIns="0" rIns="0" bIns="0" anchor="ctr">
            <a:noAutofit/>
          </a:bodyPr>
          <a:lstStyle/>
          <a:p>
            <a:pPr algn="r">
              <a:lnSpc>
                <a:spcPct val="112000"/>
              </a:lnSpc>
              <a:spcAft>
                <a:spcPts val="0"/>
              </a:spcAft>
            </a:pPr>
            <a:r>
              <a:rPr sz="1500" b="0" i="0">
                <a:solidFill>
                  <a:srgbClr val="3D2410"/>
                </a:solidFill>
                <a:latin typeface="Segoe UI"/>
                <a:cs typeface="Segoe UI"/>
              </a:rPr>
              <a:t>12,000.00</a:t>
            </a:r>
          </a:p>
        </p:txBody>
      </p:sp>
      <p:sp>
        <p:nvSpPr>
          <p:cNvPr id="16" name="TextBox 15"/>
          <p:cNvSpPr txBox="1"/>
          <p:nvPr/>
        </p:nvSpPr>
        <p:spPr>
          <a:xfrm>
            <a:off x="1463040" y="5687568"/>
            <a:ext cx="4206240" cy="411480"/>
          </a:xfrm>
          <a:prstGeom prst="rect">
            <a:avLst/>
          </a:prstGeom>
          <a:noFill/>
        </p:spPr>
        <p:txBody>
          <a:bodyPr wrap="square" lIns="0" tIns="0" rIns="0" bIns="0" anchor="ctr">
            <a:noAutofit/>
          </a:bodyPr>
          <a:lstStyle/>
          <a:p>
            <a:pPr algn="l">
              <a:lnSpc>
                <a:spcPct val="112000"/>
              </a:lnSpc>
              <a:spcAft>
                <a:spcPts val="0"/>
              </a:spcAft>
            </a:pPr>
            <a:r>
              <a:rPr sz="1500" b="0" i="0">
                <a:solidFill>
                  <a:srgbClr val="3D2410"/>
                </a:solidFill>
                <a:latin typeface="Segoe UI"/>
                <a:cs typeface="Segoe UI"/>
              </a:rPr>
              <a:t>− MDR on credit cards @ 1.8%</a:t>
            </a:r>
          </a:p>
        </p:txBody>
      </p:sp>
      <p:sp>
        <p:nvSpPr>
          <p:cNvPr id="17" name="TextBox 16"/>
          <p:cNvSpPr txBox="1"/>
          <p:nvPr/>
        </p:nvSpPr>
        <p:spPr>
          <a:xfrm>
            <a:off x="5486400" y="5687568"/>
            <a:ext cx="1371600" cy="411480"/>
          </a:xfrm>
          <a:prstGeom prst="rect">
            <a:avLst/>
          </a:prstGeom>
          <a:noFill/>
        </p:spPr>
        <p:txBody>
          <a:bodyPr wrap="square" lIns="0" tIns="0" rIns="0" bIns="0" anchor="ctr">
            <a:noAutofit/>
          </a:bodyPr>
          <a:lstStyle/>
          <a:p>
            <a:pPr algn="r">
              <a:lnSpc>
                <a:spcPct val="112000"/>
              </a:lnSpc>
              <a:spcAft>
                <a:spcPts val="0"/>
              </a:spcAft>
            </a:pPr>
            <a:r>
              <a:rPr sz="1500" b="0" i="0">
                <a:solidFill>
                  <a:srgbClr val="3D2410"/>
                </a:solidFill>
                <a:latin typeface="Segoe UI"/>
                <a:cs typeface="Segoe UI"/>
              </a:rPr>
              <a:t>81.00</a:t>
            </a:r>
          </a:p>
        </p:txBody>
      </p:sp>
      <p:sp>
        <p:nvSpPr>
          <p:cNvPr id="18" name="TextBox 17"/>
          <p:cNvSpPr txBox="1"/>
          <p:nvPr/>
        </p:nvSpPr>
        <p:spPr>
          <a:xfrm>
            <a:off x="1463040" y="6144768"/>
            <a:ext cx="4206240" cy="411480"/>
          </a:xfrm>
          <a:prstGeom prst="rect">
            <a:avLst/>
          </a:prstGeom>
          <a:noFill/>
        </p:spPr>
        <p:txBody>
          <a:bodyPr wrap="square" lIns="0" tIns="0" rIns="0" bIns="0" anchor="ctr">
            <a:noAutofit/>
          </a:bodyPr>
          <a:lstStyle/>
          <a:p>
            <a:pPr algn="l">
              <a:lnSpc>
                <a:spcPct val="112000"/>
              </a:lnSpc>
              <a:spcAft>
                <a:spcPts val="0"/>
              </a:spcAft>
            </a:pPr>
            <a:r>
              <a:rPr sz="1500" b="0" i="0">
                <a:solidFill>
                  <a:srgbClr val="3D2410"/>
                </a:solidFill>
                <a:latin typeface="Segoe UI"/>
                <a:cs typeface="Segoe UI"/>
              </a:rPr>
              <a:t>− GST 18% on that MDR</a:t>
            </a:r>
          </a:p>
        </p:txBody>
      </p:sp>
      <p:sp>
        <p:nvSpPr>
          <p:cNvPr id="19" name="TextBox 18"/>
          <p:cNvSpPr txBox="1"/>
          <p:nvPr/>
        </p:nvSpPr>
        <p:spPr>
          <a:xfrm>
            <a:off x="5486400" y="6144768"/>
            <a:ext cx="1371600" cy="411480"/>
          </a:xfrm>
          <a:prstGeom prst="rect">
            <a:avLst/>
          </a:prstGeom>
          <a:noFill/>
        </p:spPr>
        <p:txBody>
          <a:bodyPr wrap="square" lIns="0" tIns="0" rIns="0" bIns="0" anchor="ctr">
            <a:noAutofit/>
          </a:bodyPr>
          <a:lstStyle/>
          <a:p>
            <a:pPr algn="r">
              <a:lnSpc>
                <a:spcPct val="112000"/>
              </a:lnSpc>
              <a:spcAft>
                <a:spcPts val="0"/>
              </a:spcAft>
            </a:pPr>
            <a:r>
              <a:rPr sz="1500" b="0" i="0">
                <a:solidFill>
                  <a:srgbClr val="3D2410"/>
                </a:solidFill>
                <a:latin typeface="Segoe UI"/>
                <a:cs typeface="Segoe UI"/>
              </a:rPr>
              <a:t>14.58</a:t>
            </a:r>
          </a:p>
        </p:txBody>
      </p:sp>
      <p:sp>
        <p:nvSpPr>
          <p:cNvPr id="20" name="Rounded Rectangle 19"/>
          <p:cNvSpPr/>
          <p:nvPr/>
        </p:nvSpPr>
        <p:spPr>
          <a:xfrm>
            <a:off x="1325880" y="6565392"/>
            <a:ext cx="5669280" cy="457200"/>
          </a:xfrm>
          <a:prstGeom prst="roundRect">
            <a:avLst>
              <a:gd name="adj" fmla="val 15000"/>
            </a:avLst>
          </a:prstGeom>
          <a:solidFill>
            <a:srgbClr val="F9E3DF"/>
          </a:solidFill>
          <a:ln>
            <a:noFill/>
          </a:ln>
        </p:spPr>
        <p:txBody>
          <a:bodyPr rtlCol="0" anchor="ctr"/>
          <a:lstStyle/>
          <a:p>
            <a:endParaRPr/>
          </a:p>
        </p:txBody>
      </p:sp>
      <p:sp>
        <p:nvSpPr>
          <p:cNvPr id="21" name="TextBox 20"/>
          <p:cNvSpPr txBox="1"/>
          <p:nvPr/>
        </p:nvSpPr>
        <p:spPr>
          <a:xfrm>
            <a:off x="1463040" y="6601968"/>
            <a:ext cx="4206240" cy="411480"/>
          </a:xfrm>
          <a:prstGeom prst="rect">
            <a:avLst/>
          </a:prstGeom>
          <a:noFill/>
        </p:spPr>
        <p:txBody>
          <a:bodyPr wrap="square" lIns="0" tIns="0" rIns="0" bIns="0" anchor="ctr">
            <a:noAutofit/>
          </a:bodyPr>
          <a:lstStyle/>
          <a:p>
            <a:pPr algn="l">
              <a:lnSpc>
                <a:spcPct val="112000"/>
              </a:lnSpc>
              <a:spcAft>
                <a:spcPts val="0"/>
              </a:spcAft>
            </a:pPr>
            <a:r>
              <a:rPr sz="1500" b="0" i="0">
                <a:solidFill>
                  <a:srgbClr val="B83A2E"/>
                </a:solidFill>
                <a:latin typeface="Segoe UI"/>
                <a:cs typeface="Segoe UI"/>
              </a:rPr>
              <a:t>− MDR on RuPay debit</a:t>
            </a:r>
          </a:p>
        </p:txBody>
      </p:sp>
      <p:sp>
        <p:nvSpPr>
          <p:cNvPr id="22" name="TextBox 21"/>
          <p:cNvSpPr txBox="1"/>
          <p:nvPr/>
        </p:nvSpPr>
        <p:spPr>
          <a:xfrm>
            <a:off x="5486400" y="6601968"/>
            <a:ext cx="1371600" cy="411480"/>
          </a:xfrm>
          <a:prstGeom prst="rect">
            <a:avLst/>
          </a:prstGeom>
          <a:noFill/>
        </p:spPr>
        <p:txBody>
          <a:bodyPr wrap="square" lIns="0" tIns="0" rIns="0" bIns="0" anchor="ctr">
            <a:noAutofit/>
          </a:bodyPr>
          <a:lstStyle/>
          <a:p>
            <a:pPr algn="r">
              <a:lnSpc>
                <a:spcPct val="112000"/>
              </a:lnSpc>
              <a:spcAft>
                <a:spcPts val="0"/>
              </a:spcAft>
            </a:pPr>
            <a:r>
              <a:rPr sz="1500" b="0" i="0">
                <a:solidFill>
                  <a:srgbClr val="B83A2E"/>
                </a:solidFill>
                <a:latin typeface="Segoe UI"/>
                <a:cs typeface="Segoe UI"/>
              </a:rPr>
              <a:t>27.00</a:t>
            </a:r>
          </a:p>
        </p:txBody>
      </p:sp>
      <p:sp>
        <p:nvSpPr>
          <p:cNvPr id="23" name="Rounded Rectangle 22"/>
          <p:cNvSpPr/>
          <p:nvPr/>
        </p:nvSpPr>
        <p:spPr>
          <a:xfrm>
            <a:off x="1325880" y="7022592"/>
            <a:ext cx="5669280" cy="457200"/>
          </a:xfrm>
          <a:prstGeom prst="roundRect">
            <a:avLst>
              <a:gd name="adj" fmla="val 15000"/>
            </a:avLst>
          </a:prstGeom>
          <a:solidFill>
            <a:srgbClr val="F9E3DF"/>
          </a:solidFill>
          <a:ln>
            <a:noFill/>
          </a:ln>
        </p:spPr>
        <p:txBody>
          <a:bodyPr rtlCol="0" anchor="ctr"/>
          <a:lstStyle/>
          <a:p>
            <a:endParaRPr/>
          </a:p>
        </p:txBody>
      </p:sp>
      <p:sp>
        <p:nvSpPr>
          <p:cNvPr id="24" name="TextBox 23"/>
          <p:cNvSpPr txBox="1"/>
          <p:nvPr/>
        </p:nvSpPr>
        <p:spPr>
          <a:xfrm>
            <a:off x="1463040" y="7059168"/>
            <a:ext cx="4206240" cy="411480"/>
          </a:xfrm>
          <a:prstGeom prst="rect">
            <a:avLst/>
          </a:prstGeom>
          <a:noFill/>
        </p:spPr>
        <p:txBody>
          <a:bodyPr wrap="square" lIns="0" tIns="0" rIns="0" bIns="0" anchor="ctr">
            <a:noAutofit/>
          </a:bodyPr>
          <a:lstStyle/>
          <a:p>
            <a:pPr algn="l">
              <a:lnSpc>
                <a:spcPct val="112000"/>
              </a:lnSpc>
              <a:spcAft>
                <a:spcPts val="0"/>
              </a:spcAft>
            </a:pPr>
            <a:r>
              <a:rPr sz="1500" b="0" i="0">
                <a:solidFill>
                  <a:srgbClr val="B83A2E"/>
                </a:solidFill>
                <a:latin typeface="Segoe UI"/>
                <a:cs typeface="Segoe UI"/>
              </a:rPr>
              <a:t>− GST on that MDR</a:t>
            </a:r>
          </a:p>
        </p:txBody>
      </p:sp>
      <p:sp>
        <p:nvSpPr>
          <p:cNvPr id="25" name="TextBox 24"/>
          <p:cNvSpPr txBox="1"/>
          <p:nvPr/>
        </p:nvSpPr>
        <p:spPr>
          <a:xfrm>
            <a:off x="5486400" y="7059168"/>
            <a:ext cx="1371600" cy="411480"/>
          </a:xfrm>
          <a:prstGeom prst="rect">
            <a:avLst/>
          </a:prstGeom>
          <a:noFill/>
        </p:spPr>
        <p:txBody>
          <a:bodyPr wrap="square" lIns="0" tIns="0" rIns="0" bIns="0" anchor="ctr">
            <a:noAutofit/>
          </a:bodyPr>
          <a:lstStyle/>
          <a:p>
            <a:pPr algn="r">
              <a:lnSpc>
                <a:spcPct val="112000"/>
              </a:lnSpc>
              <a:spcAft>
                <a:spcPts val="0"/>
              </a:spcAft>
            </a:pPr>
            <a:r>
              <a:rPr sz="1500" b="0" i="0">
                <a:solidFill>
                  <a:srgbClr val="B83A2E"/>
                </a:solidFill>
                <a:latin typeface="Segoe UI"/>
                <a:cs typeface="Segoe UI"/>
              </a:rPr>
              <a:t>4.86</a:t>
            </a:r>
          </a:p>
        </p:txBody>
      </p:sp>
      <p:sp>
        <p:nvSpPr>
          <p:cNvPr id="26" name="TextBox 25"/>
          <p:cNvSpPr txBox="1"/>
          <p:nvPr/>
        </p:nvSpPr>
        <p:spPr>
          <a:xfrm>
            <a:off x="1463040" y="7516367"/>
            <a:ext cx="4206240" cy="411480"/>
          </a:xfrm>
          <a:prstGeom prst="rect">
            <a:avLst/>
          </a:prstGeom>
          <a:noFill/>
        </p:spPr>
        <p:txBody>
          <a:bodyPr wrap="square" lIns="0" tIns="0" rIns="0" bIns="0" anchor="ctr">
            <a:noAutofit/>
          </a:bodyPr>
          <a:lstStyle/>
          <a:p>
            <a:pPr algn="l">
              <a:lnSpc>
                <a:spcPct val="112000"/>
              </a:lnSpc>
              <a:spcAft>
                <a:spcPts val="0"/>
              </a:spcAft>
            </a:pPr>
            <a:r>
              <a:rPr sz="1500" b="0" i="0">
                <a:solidFill>
                  <a:srgbClr val="3D2410"/>
                </a:solidFill>
                <a:latin typeface="Segoe UI"/>
                <a:cs typeface="Segoe UI"/>
              </a:rPr>
              <a:t>− Device rental &amp; platform fee</a:t>
            </a:r>
          </a:p>
        </p:txBody>
      </p:sp>
      <p:sp>
        <p:nvSpPr>
          <p:cNvPr id="27" name="TextBox 26"/>
          <p:cNvSpPr txBox="1"/>
          <p:nvPr/>
        </p:nvSpPr>
        <p:spPr>
          <a:xfrm>
            <a:off x="5486400" y="7516367"/>
            <a:ext cx="1371600" cy="411480"/>
          </a:xfrm>
          <a:prstGeom prst="rect">
            <a:avLst/>
          </a:prstGeom>
          <a:noFill/>
        </p:spPr>
        <p:txBody>
          <a:bodyPr wrap="square" lIns="0" tIns="0" rIns="0" bIns="0" anchor="ctr">
            <a:noAutofit/>
          </a:bodyPr>
          <a:lstStyle/>
          <a:p>
            <a:pPr algn="r">
              <a:lnSpc>
                <a:spcPct val="112000"/>
              </a:lnSpc>
              <a:spcAft>
                <a:spcPts val="0"/>
              </a:spcAft>
            </a:pPr>
            <a:r>
              <a:rPr sz="1500" b="0" i="0">
                <a:solidFill>
                  <a:srgbClr val="3D2410"/>
                </a:solidFill>
                <a:latin typeface="Segoe UI"/>
                <a:cs typeface="Segoe UI"/>
              </a:rPr>
              <a:t>142.56</a:t>
            </a:r>
          </a:p>
        </p:txBody>
      </p:sp>
      <p:cxnSp>
        <p:nvCxnSpPr>
          <p:cNvPr id="28" name="Connector 27"/>
          <p:cNvCxnSpPr/>
          <p:nvPr/>
        </p:nvCxnSpPr>
        <p:spPr>
          <a:xfrm>
            <a:off x="1463040" y="7991855"/>
            <a:ext cx="5394960" cy="0"/>
          </a:xfrm>
          <a:prstGeom prst="line">
            <a:avLst/>
          </a:prstGeom>
          <a:ln w="15240">
            <a:solidFill>
              <a:srgbClr val="1B3A6B"/>
            </a:solidFill>
          </a:ln>
        </p:spPr>
      </p:cxnSp>
      <p:sp>
        <p:nvSpPr>
          <p:cNvPr id="29" name="TextBox 28"/>
          <p:cNvSpPr txBox="1"/>
          <p:nvPr/>
        </p:nvSpPr>
        <p:spPr>
          <a:xfrm>
            <a:off x="1463040" y="8065007"/>
            <a:ext cx="3657600" cy="457200"/>
          </a:xfrm>
          <a:prstGeom prst="rect">
            <a:avLst/>
          </a:prstGeom>
          <a:noFill/>
        </p:spPr>
        <p:txBody>
          <a:bodyPr wrap="square" lIns="0" tIns="0" rIns="0" bIns="0" anchor="ctr">
            <a:noAutofit/>
          </a:bodyPr>
          <a:lstStyle/>
          <a:p>
            <a:pPr algn="l">
              <a:lnSpc>
                <a:spcPct val="112000"/>
              </a:lnSpc>
              <a:spcAft>
                <a:spcPts val="0"/>
              </a:spcAft>
            </a:pPr>
            <a:r>
              <a:rPr sz="1700" b="0" i="0">
                <a:solidFill>
                  <a:srgbClr val="1B3A6B"/>
                </a:solidFill>
                <a:latin typeface="Segoe UI Semibold"/>
                <a:cs typeface="Segoe UI Semibold"/>
              </a:rPr>
              <a:t>Received in bank</a:t>
            </a:r>
          </a:p>
        </p:txBody>
      </p:sp>
      <p:sp>
        <p:nvSpPr>
          <p:cNvPr id="30" name="TextBox 29"/>
          <p:cNvSpPr txBox="1"/>
          <p:nvPr/>
        </p:nvSpPr>
        <p:spPr>
          <a:xfrm>
            <a:off x="4754880" y="8065007"/>
            <a:ext cx="2103120" cy="457200"/>
          </a:xfrm>
          <a:prstGeom prst="rect">
            <a:avLst/>
          </a:prstGeom>
          <a:noFill/>
        </p:spPr>
        <p:txBody>
          <a:bodyPr wrap="square" lIns="0" tIns="0" rIns="0" bIns="0" anchor="ctr">
            <a:noAutofit/>
          </a:bodyPr>
          <a:lstStyle/>
          <a:p>
            <a:pPr algn="r">
              <a:lnSpc>
                <a:spcPct val="112000"/>
              </a:lnSpc>
              <a:spcAft>
                <a:spcPts val="0"/>
              </a:spcAft>
            </a:pPr>
            <a:r>
              <a:rPr sz="2200" b="0" i="0">
                <a:solidFill>
                  <a:srgbClr val="1B3A6B"/>
                </a:solidFill>
                <a:latin typeface="Segoe UI Semibold"/>
                <a:cs typeface="Segoe UI Semibold"/>
              </a:rPr>
              <a:t>₹11,730.00</a:t>
            </a:r>
          </a:p>
        </p:txBody>
      </p:sp>
      <p:sp>
        <p:nvSpPr>
          <p:cNvPr id="31" name="Rounded Rectangle 30"/>
          <p:cNvSpPr/>
          <p:nvPr/>
        </p:nvSpPr>
        <p:spPr>
          <a:xfrm>
            <a:off x="1463040" y="8531352"/>
            <a:ext cx="5394960" cy="658368"/>
          </a:xfrm>
          <a:prstGeom prst="roundRect">
            <a:avLst>
              <a:gd name="adj" fmla="val 12000"/>
            </a:avLst>
          </a:prstGeom>
          <a:solidFill>
            <a:srgbClr val="1B3A6B"/>
          </a:solidFill>
          <a:ln>
            <a:noFill/>
          </a:ln>
        </p:spPr>
        <p:txBody>
          <a:bodyPr wrap="square" lIns="164592" rIns="137160" rtlCol="0" anchor="ctr">
            <a:noAutofit/>
          </a:bodyPr>
          <a:lstStyle/>
          <a:p>
            <a:pPr algn="l">
              <a:lnSpc>
                <a:spcPct val="112000"/>
              </a:lnSpc>
              <a:spcAft>
                <a:spcPts val="0"/>
              </a:spcAft>
            </a:pPr>
            <a:r>
              <a:rPr sz="1300" b="0" i="0">
                <a:solidFill>
                  <a:srgbClr val="F4C542"/>
                </a:solidFill>
                <a:latin typeface="Segoe UI Semibold"/>
                <a:cs typeface="Segoe UI Semibold"/>
              </a:rPr>
              <a:t>₹31.86 was never owed: </a:t>
            </a:r>
            <a:r>
              <a:rPr sz="1300" b="0" i="0">
                <a:solidFill>
                  <a:srgbClr val="FFFFFF"/>
                </a:solidFill>
                <a:latin typeface="Segoe UI"/>
                <a:cs typeface="Segoe UI"/>
              </a:rPr>
              <a:t>RuPay debit carries no MDR by law. It is only 0.27% of sales, but about ₹9,500 a year.</a:t>
            </a:r>
          </a:p>
        </p:txBody>
      </p:sp>
      <p:sp>
        <p:nvSpPr>
          <p:cNvPr id="32" name="TextBox 31"/>
          <p:cNvSpPr txBox="1"/>
          <p:nvPr/>
        </p:nvSpPr>
        <p:spPr>
          <a:xfrm>
            <a:off x="8001000" y="2514600"/>
            <a:ext cx="4846320" cy="365760"/>
          </a:xfrm>
          <a:prstGeom prst="rect">
            <a:avLst/>
          </a:prstGeom>
          <a:noFill/>
        </p:spPr>
        <p:txBody>
          <a:bodyPr wrap="square" lIns="0" tIns="0" rIns="0" bIns="0" anchor="t">
            <a:noAutofit/>
          </a:bodyPr>
          <a:lstStyle/>
          <a:p>
            <a:pPr algn="l">
              <a:lnSpc>
                <a:spcPct val="112000"/>
              </a:lnSpc>
              <a:spcAft>
                <a:spcPts val="0"/>
              </a:spcAft>
            </a:pPr>
            <a:r>
              <a:rPr sz="1800" b="0" i="0">
                <a:solidFill>
                  <a:srgbClr val="1B3A6B"/>
                </a:solidFill>
                <a:latin typeface="Segoe UI Semibold"/>
                <a:cs typeface="Segoe UI Semibold"/>
              </a:rPr>
              <a:t>Why nobody complains</a:t>
            </a:r>
          </a:p>
        </p:txBody>
      </p:sp>
      <p:sp>
        <p:nvSpPr>
          <p:cNvPr id="33" name="Rounded Rectangle 32"/>
          <p:cNvSpPr/>
          <p:nvPr/>
        </p:nvSpPr>
        <p:spPr>
          <a:xfrm>
            <a:off x="8458200" y="3017520"/>
            <a:ext cx="4343400" cy="1207008"/>
          </a:xfrm>
          <a:prstGeom prst="roundRect">
            <a:avLst>
              <a:gd name="adj" fmla="val 10000"/>
            </a:avLst>
          </a:prstGeom>
          <a:solidFill>
            <a:srgbClr val="FFFFFF"/>
          </a:solidFill>
          <a:ln w="12700">
            <a:solidFill>
              <a:srgbClr val="E9DDC7"/>
            </a:solidFill>
          </a:ln>
        </p:spPr>
        <p:txBody>
          <a:bodyPr wrap="square" lIns="822960" rIns="137160" rtlCol="0" anchor="ctr">
            <a:noAutofit/>
          </a:bodyPr>
          <a:lstStyle/>
          <a:p>
            <a:pPr algn="l">
              <a:lnSpc>
                <a:spcPct val="112000"/>
              </a:lnSpc>
              <a:spcAft>
                <a:spcPts val="300"/>
              </a:spcAft>
            </a:pPr>
            <a:r>
              <a:rPr sz="1700" b="0" i="0">
                <a:solidFill>
                  <a:srgbClr val="3D2410"/>
                </a:solidFill>
                <a:latin typeface="Segoe UI Semibold"/>
                <a:cs typeface="Segoe UI Semibold"/>
              </a:rPr>
              <a:t>Too complex to check</a:t>
            </a:r>
          </a:p>
          <a:p>
            <a:pPr algn="l">
              <a:lnSpc>
                <a:spcPct val="112000"/>
              </a:lnSpc>
              <a:spcAft>
                <a:spcPts val="0"/>
              </a:spcAft>
            </a:pPr>
            <a:r>
              <a:rPr sz="1300" b="0" i="0">
                <a:solidFill>
                  <a:srgbClr val="8A6F55"/>
                </a:solidFill>
                <a:latin typeface="Segoe UI"/>
                <a:cs typeface="Segoe UI"/>
              </a:rPr>
              <a:t>UPI above/below ₹2,000, RuPay debit, card bands, GST base, rental dates</a:t>
            </a:r>
          </a:p>
        </p:txBody>
      </p:sp>
      <p:sp>
        <p:nvSpPr>
          <p:cNvPr id="34" name="Oval 33"/>
          <p:cNvSpPr/>
          <p:nvPr/>
        </p:nvSpPr>
        <p:spPr>
          <a:xfrm>
            <a:off x="8613648" y="3364991"/>
            <a:ext cx="512064" cy="512064"/>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1</a:t>
            </a:r>
          </a:p>
        </p:txBody>
      </p:sp>
      <p:cxnSp>
        <p:nvCxnSpPr>
          <p:cNvPr id="35" name="Connector 34"/>
          <p:cNvCxnSpPr/>
          <p:nvPr/>
        </p:nvCxnSpPr>
        <p:spPr>
          <a:xfrm>
            <a:off x="10625328" y="4242816"/>
            <a:ext cx="0" cy="292608"/>
          </a:xfrm>
          <a:prstGeom prst="line">
            <a:avLst/>
          </a:prstGeom>
          <a:ln w="22225">
            <a:solidFill>
              <a:srgbClr val="1B3A6B"/>
            </a:solidFill>
            <a:tailEnd type="triangle" w="med" len="med"/>
          </a:ln>
        </p:spPr>
      </p:cxnSp>
      <p:sp>
        <p:nvSpPr>
          <p:cNvPr id="36" name="Rounded Rectangle 35"/>
          <p:cNvSpPr/>
          <p:nvPr/>
        </p:nvSpPr>
        <p:spPr>
          <a:xfrm>
            <a:off x="8458200" y="4553712"/>
            <a:ext cx="4343400" cy="1207008"/>
          </a:xfrm>
          <a:prstGeom prst="roundRect">
            <a:avLst>
              <a:gd name="adj" fmla="val 10000"/>
            </a:avLst>
          </a:prstGeom>
          <a:solidFill>
            <a:srgbClr val="FFFFFF"/>
          </a:solidFill>
          <a:ln w="12700">
            <a:solidFill>
              <a:srgbClr val="E9DDC7"/>
            </a:solidFill>
          </a:ln>
        </p:spPr>
        <p:txBody>
          <a:bodyPr wrap="square" lIns="822960" rIns="137160" rtlCol="0" anchor="ctr">
            <a:noAutofit/>
          </a:bodyPr>
          <a:lstStyle/>
          <a:p>
            <a:pPr algn="l">
              <a:lnSpc>
                <a:spcPct val="112000"/>
              </a:lnSpc>
              <a:spcAft>
                <a:spcPts val="300"/>
              </a:spcAft>
            </a:pPr>
            <a:r>
              <a:rPr sz="1700" b="0" i="0">
                <a:solidFill>
                  <a:srgbClr val="3D2410"/>
                </a:solidFill>
                <a:latin typeface="Segoe UI Semibold"/>
                <a:cs typeface="Segoe UI Semibold"/>
              </a:rPr>
              <a:t>Too small to chase</a:t>
            </a:r>
          </a:p>
          <a:p>
            <a:pPr algn="l">
              <a:lnSpc>
                <a:spcPct val="112000"/>
              </a:lnSpc>
              <a:spcAft>
                <a:spcPts val="0"/>
              </a:spcAft>
            </a:pPr>
            <a:r>
              <a:rPr sz="1300" b="0" i="0">
                <a:solidFill>
                  <a:srgbClr val="8A6F55"/>
                </a:solidFill>
                <a:latin typeface="Segoe UI"/>
                <a:cs typeface="Segoe UI"/>
              </a:rPr>
              <a:t>₹30 a day never feels worth a ticket or a phone call</a:t>
            </a:r>
          </a:p>
        </p:txBody>
      </p:sp>
      <p:sp>
        <p:nvSpPr>
          <p:cNvPr id="37" name="Oval 36"/>
          <p:cNvSpPr/>
          <p:nvPr/>
        </p:nvSpPr>
        <p:spPr>
          <a:xfrm>
            <a:off x="8613648" y="4901183"/>
            <a:ext cx="512064" cy="512064"/>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2</a:t>
            </a:r>
          </a:p>
        </p:txBody>
      </p:sp>
      <p:cxnSp>
        <p:nvCxnSpPr>
          <p:cNvPr id="38" name="Connector 37"/>
          <p:cNvCxnSpPr/>
          <p:nvPr/>
        </p:nvCxnSpPr>
        <p:spPr>
          <a:xfrm>
            <a:off x="10625328" y="5779007"/>
            <a:ext cx="0" cy="292609"/>
          </a:xfrm>
          <a:prstGeom prst="line">
            <a:avLst/>
          </a:prstGeom>
          <a:ln w="22225">
            <a:solidFill>
              <a:srgbClr val="1B3A6B"/>
            </a:solidFill>
            <a:tailEnd type="triangle" w="med" len="med"/>
          </a:ln>
        </p:spPr>
      </p:cxnSp>
      <p:sp>
        <p:nvSpPr>
          <p:cNvPr id="39" name="Rounded Rectangle 38"/>
          <p:cNvSpPr/>
          <p:nvPr/>
        </p:nvSpPr>
        <p:spPr>
          <a:xfrm>
            <a:off x="8458200" y="6089903"/>
            <a:ext cx="4343400" cy="1207008"/>
          </a:xfrm>
          <a:prstGeom prst="roundRect">
            <a:avLst>
              <a:gd name="adj" fmla="val 10000"/>
            </a:avLst>
          </a:prstGeom>
          <a:solidFill>
            <a:srgbClr val="FFFFFF"/>
          </a:solidFill>
          <a:ln w="12700">
            <a:solidFill>
              <a:srgbClr val="E9DDC7"/>
            </a:solidFill>
          </a:ln>
        </p:spPr>
        <p:txBody>
          <a:bodyPr wrap="square" lIns="822960" rIns="137160" rtlCol="0" anchor="ctr">
            <a:noAutofit/>
          </a:bodyPr>
          <a:lstStyle/>
          <a:p>
            <a:pPr algn="l">
              <a:lnSpc>
                <a:spcPct val="112000"/>
              </a:lnSpc>
              <a:spcAft>
                <a:spcPts val="300"/>
              </a:spcAft>
            </a:pPr>
            <a:r>
              <a:rPr sz="1700" b="0" i="0">
                <a:solidFill>
                  <a:srgbClr val="3D2410"/>
                </a:solidFill>
                <a:latin typeface="Segoe UI Semibold"/>
                <a:cs typeface="Segoe UI Semibold"/>
              </a:rPr>
              <a:t>So nobody complains</a:t>
            </a:r>
          </a:p>
          <a:p>
            <a:pPr algn="l">
              <a:lnSpc>
                <a:spcPct val="112000"/>
              </a:lnSpc>
              <a:spcAft>
                <a:spcPts val="0"/>
              </a:spcAft>
            </a:pPr>
            <a:r>
              <a:rPr sz="1300" b="0" i="0">
                <a:solidFill>
                  <a:srgbClr val="8A6F55"/>
                </a:solidFill>
                <a:latin typeface="Segoe UI"/>
                <a:cs typeface="Segoe UI"/>
              </a:rPr>
              <a:t>the merchant shrugs: “Paytm ka charge hoga”</a:t>
            </a:r>
          </a:p>
        </p:txBody>
      </p:sp>
      <p:sp>
        <p:nvSpPr>
          <p:cNvPr id="40" name="Oval 39"/>
          <p:cNvSpPr/>
          <p:nvPr/>
        </p:nvSpPr>
        <p:spPr>
          <a:xfrm>
            <a:off x="8613648" y="6437375"/>
            <a:ext cx="512064" cy="512064"/>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3</a:t>
            </a:r>
          </a:p>
        </p:txBody>
      </p:sp>
      <p:cxnSp>
        <p:nvCxnSpPr>
          <p:cNvPr id="41" name="Connector 40"/>
          <p:cNvCxnSpPr/>
          <p:nvPr/>
        </p:nvCxnSpPr>
        <p:spPr>
          <a:xfrm>
            <a:off x="10625328" y="7315199"/>
            <a:ext cx="0" cy="292608"/>
          </a:xfrm>
          <a:prstGeom prst="line">
            <a:avLst/>
          </a:prstGeom>
          <a:ln w="22225">
            <a:solidFill>
              <a:srgbClr val="1B3A6B"/>
            </a:solidFill>
            <a:tailEnd type="triangle" w="med" len="med"/>
          </a:ln>
        </p:spPr>
      </p:cxnSp>
      <p:sp>
        <p:nvSpPr>
          <p:cNvPr id="42" name="Rounded Rectangle 41"/>
          <p:cNvSpPr/>
          <p:nvPr/>
        </p:nvSpPr>
        <p:spPr>
          <a:xfrm>
            <a:off x="8458200" y="7626096"/>
            <a:ext cx="4343400" cy="1207008"/>
          </a:xfrm>
          <a:prstGeom prst="roundRect">
            <a:avLst>
              <a:gd name="adj" fmla="val 10000"/>
            </a:avLst>
          </a:prstGeom>
          <a:solidFill>
            <a:srgbClr val="FDF3D2"/>
          </a:solidFill>
          <a:ln w="12700">
            <a:solidFill>
              <a:srgbClr val="E9DDC7"/>
            </a:solidFill>
          </a:ln>
        </p:spPr>
        <p:txBody>
          <a:bodyPr wrap="square" lIns="822960" rIns="137160" rtlCol="0" anchor="ctr">
            <a:noAutofit/>
          </a:bodyPr>
          <a:lstStyle/>
          <a:p>
            <a:pPr algn="l">
              <a:lnSpc>
                <a:spcPct val="112000"/>
              </a:lnSpc>
              <a:spcAft>
                <a:spcPts val="300"/>
              </a:spcAft>
            </a:pPr>
            <a:r>
              <a:rPr sz="1700" b="0" i="0">
                <a:solidFill>
                  <a:srgbClr val="3D2410"/>
                </a:solidFill>
                <a:latin typeface="Segoe UI Semibold"/>
                <a:cs typeface="Segoe UI Semibold"/>
              </a:rPr>
              <a:t>Silence is read as ‘no problem’</a:t>
            </a:r>
          </a:p>
          <a:p>
            <a:pPr algn="l">
              <a:lnSpc>
                <a:spcPct val="112000"/>
              </a:lnSpc>
              <a:spcAft>
                <a:spcPts val="0"/>
              </a:spcAft>
            </a:pPr>
            <a:r>
              <a:rPr sz="1300" b="0" i="0">
                <a:solidFill>
                  <a:srgbClr val="8A6F55"/>
                </a:solidFill>
                <a:latin typeface="Segoe UI"/>
                <a:cs typeface="Segoe UI"/>
              </a:rPr>
              <a:t>zero tickets → dashboards say merchants are happy</a:t>
            </a:r>
          </a:p>
        </p:txBody>
      </p:sp>
      <p:sp>
        <p:nvSpPr>
          <p:cNvPr id="43" name="Oval 42"/>
          <p:cNvSpPr/>
          <p:nvPr/>
        </p:nvSpPr>
        <p:spPr>
          <a:xfrm>
            <a:off x="8613648" y="7973568"/>
            <a:ext cx="512064" cy="512064"/>
          </a:xfrm>
          <a:prstGeom prst="ellipse">
            <a:avLst/>
          </a:prstGeom>
          <a:solidFill>
            <a:srgbClr val="E4873B"/>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4</a:t>
            </a:r>
          </a:p>
        </p:txBody>
      </p:sp>
      <p:cxnSp>
        <p:nvCxnSpPr>
          <p:cNvPr id="44" name="Connector 43"/>
          <p:cNvCxnSpPr/>
          <p:nvPr/>
        </p:nvCxnSpPr>
        <p:spPr>
          <a:xfrm flipH="1">
            <a:off x="7973568" y="8220456"/>
            <a:ext cx="484632" cy="0"/>
          </a:xfrm>
          <a:prstGeom prst="line">
            <a:avLst/>
          </a:prstGeom>
          <a:ln w="28575">
            <a:solidFill>
              <a:srgbClr val="E4873B"/>
            </a:solidFill>
          </a:ln>
        </p:spPr>
      </p:cxnSp>
      <p:cxnSp>
        <p:nvCxnSpPr>
          <p:cNvPr id="45" name="Connector 44"/>
          <p:cNvCxnSpPr/>
          <p:nvPr/>
        </p:nvCxnSpPr>
        <p:spPr>
          <a:xfrm flipV="1">
            <a:off x="7973568" y="3621024"/>
            <a:ext cx="0" cy="4599432"/>
          </a:xfrm>
          <a:prstGeom prst="line">
            <a:avLst/>
          </a:prstGeom>
          <a:ln w="28575">
            <a:solidFill>
              <a:srgbClr val="E4873B"/>
            </a:solidFill>
          </a:ln>
        </p:spPr>
      </p:cxnSp>
      <p:cxnSp>
        <p:nvCxnSpPr>
          <p:cNvPr id="46" name="Connector 45"/>
          <p:cNvCxnSpPr/>
          <p:nvPr/>
        </p:nvCxnSpPr>
        <p:spPr>
          <a:xfrm>
            <a:off x="7973568" y="3621024"/>
            <a:ext cx="457200" cy="0"/>
          </a:xfrm>
          <a:prstGeom prst="line">
            <a:avLst/>
          </a:prstGeom>
          <a:ln w="28575">
            <a:solidFill>
              <a:srgbClr val="E4873B"/>
            </a:solidFill>
            <a:tailEnd type="triangle" w="med" len="med"/>
          </a:ln>
        </p:spPr>
      </p:cxnSp>
      <p:sp>
        <p:nvSpPr>
          <p:cNvPr id="47" name="TextBox 46"/>
          <p:cNvSpPr txBox="1"/>
          <p:nvPr/>
        </p:nvSpPr>
        <p:spPr>
          <a:xfrm>
            <a:off x="7543800" y="8961120"/>
            <a:ext cx="5486400" cy="457200"/>
          </a:xfrm>
          <a:prstGeom prst="rect">
            <a:avLst/>
          </a:prstGeom>
          <a:noFill/>
        </p:spPr>
        <p:txBody>
          <a:bodyPr wrap="square" lIns="0" tIns="0" rIns="0" bIns="0" anchor="t">
            <a:noAutofit/>
          </a:bodyPr>
          <a:lstStyle/>
          <a:p>
            <a:pPr algn="l">
              <a:lnSpc>
                <a:spcPct val="112000"/>
              </a:lnSpc>
              <a:spcAft>
                <a:spcPts val="0"/>
              </a:spcAft>
            </a:pPr>
            <a:r>
              <a:rPr sz="1300" b="0" i="0" dirty="0">
                <a:solidFill>
                  <a:srgbClr val="8A6F55"/>
                </a:solidFill>
                <a:latin typeface="Segoe UI"/>
                <a:cs typeface="Segoe UI"/>
              </a:rPr>
              <a:t>…</a:t>
            </a:r>
            <a:r>
              <a:rPr sz="1300" b="0" i="0" dirty="0">
                <a:solidFill>
                  <a:srgbClr val="FF0000"/>
                </a:solidFill>
                <a:latin typeface="Segoe UI"/>
                <a:cs typeface="Segoe UI"/>
              </a:rPr>
              <a:t>and the loop repeats, every day, for every merchant.</a:t>
            </a:r>
          </a:p>
        </p:txBody>
      </p:sp>
      <p:sp>
        <p:nvSpPr>
          <p:cNvPr id="48" name="TextBox 47"/>
          <p:cNvSpPr txBox="1"/>
          <p:nvPr/>
        </p:nvSpPr>
        <p:spPr>
          <a:xfrm>
            <a:off x="13213080" y="2514600"/>
            <a:ext cx="3931920" cy="365760"/>
          </a:xfrm>
          <a:prstGeom prst="rect">
            <a:avLst/>
          </a:prstGeom>
          <a:noFill/>
        </p:spPr>
        <p:txBody>
          <a:bodyPr wrap="square" lIns="0" tIns="0" rIns="0" bIns="0" anchor="t">
            <a:noAutofit/>
          </a:bodyPr>
          <a:lstStyle/>
          <a:p>
            <a:pPr algn="l">
              <a:lnSpc>
                <a:spcPct val="112000"/>
              </a:lnSpc>
              <a:spcAft>
                <a:spcPts val="0"/>
              </a:spcAft>
            </a:pPr>
            <a:r>
              <a:rPr sz="1800" b="0" i="0">
                <a:solidFill>
                  <a:srgbClr val="1B3A6B"/>
                </a:solidFill>
                <a:latin typeface="Segoe UI Semibold"/>
                <a:cs typeface="Segoe UI Semibold"/>
              </a:rPr>
              <a:t>Every fix today waits</a:t>
            </a:r>
          </a:p>
        </p:txBody>
      </p:sp>
      <p:sp>
        <p:nvSpPr>
          <p:cNvPr id="49" name="Rounded Rectangle 48"/>
          <p:cNvSpPr/>
          <p:nvPr/>
        </p:nvSpPr>
        <p:spPr>
          <a:xfrm>
            <a:off x="13213080" y="3017520"/>
            <a:ext cx="3886200" cy="1207008"/>
          </a:xfrm>
          <a:prstGeom prst="roundRect">
            <a:avLst>
              <a:gd name="adj" fmla="val 10000"/>
            </a:avLst>
          </a:prstGeom>
          <a:solidFill>
            <a:schemeClr val="accent2">
              <a:lumMod val="20000"/>
              <a:lumOff val="80000"/>
            </a:schemeClr>
          </a:solidFill>
          <a:ln>
            <a:noFill/>
          </a:ln>
        </p:spPr>
        <p:txBody>
          <a:bodyPr wrap="square" lIns="182880" rIns="137160" rtlCol="0" anchor="ctr">
            <a:noAutofit/>
          </a:bodyPr>
          <a:lstStyle/>
          <a:p>
            <a:pPr algn="l">
              <a:lnSpc>
                <a:spcPct val="112000"/>
              </a:lnSpc>
              <a:spcAft>
                <a:spcPts val="300"/>
              </a:spcAft>
            </a:pPr>
            <a:r>
              <a:rPr sz="1700" b="0" i="0">
                <a:solidFill>
                  <a:srgbClr val="3D2410"/>
                </a:solidFill>
                <a:latin typeface="Segoe UI Semibold"/>
                <a:cs typeface="Segoe UI Semibold"/>
              </a:rPr>
              <a:t>Chatbots</a:t>
            </a:r>
            <a:r>
              <a:rPr sz="1300" b="0" i="0">
                <a:solidFill>
                  <a:srgbClr val="B83A2E"/>
                </a:solidFill>
                <a:latin typeface="Segoe UI Semibold"/>
                <a:cs typeface="Segoe UI Semibold"/>
              </a:rPr>
              <a:t>   ✗ reactive</a:t>
            </a:r>
          </a:p>
          <a:p>
            <a:pPr algn="l">
              <a:lnSpc>
                <a:spcPct val="112000"/>
              </a:lnSpc>
              <a:spcAft>
                <a:spcPts val="0"/>
              </a:spcAft>
            </a:pPr>
            <a:r>
              <a:rPr sz="1300" b="0" i="0">
                <a:solidFill>
                  <a:srgbClr val="8A6F55"/>
                </a:solidFill>
                <a:latin typeface="Segoe UI"/>
                <a:cs typeface="Segoe UI"/>
              </a:rPr>
              <a:t>answer only when the merchant asks</a:t>
            </a:r>
          </a:p>
        </p:txBody>
      </p:sp>
      <p:sp>
        <p:nvSpPr>
          <p:cNvPr id="50" name="Rounded Rectangle 49"/>
          <p:cNvSpPr/>
          <p:nvPr/>
        </p:nvSpPr>
        <p:spPr>
          <a:xfrm>
            <a:off x="13213080" y="4553712"/>
            <a:ext cx="3886200" cy="1207008"/>
          </a:xfrm>
          <a:prstGeom prst="roundRect">
            <a:avLst>
              <a:gd name="adj" fmla="val 10000"/>
            </a:avLst>
          </a:prstGeom>
          <a:solidFill>
            <a:schemeClr val="accent2">
              <a:lumMod val="20000"/>
              <a:lumOff val="80000"/>
            </a:schemeClr>
          </a:solidFill>
          <a:ln>
            <a:noFill/>
          </a:ln>
        </p:spPr>
        <p:txBody>
          <a:bodyPr wrap="square" lIns="182880" rIns="137160" rtlCol="0" anchor="ctr">
            <a:noAutofit/>
          </a:bodyPr>
          <a:lstStyle/>
          <a:p>
            <a:pPr algn="l">
              <a:lnSpc>
                <a:spcPct val="112000"/>
              </a:lnSpc>
              <a:spcAft>
                <a:spcPts val="300"/>
              </a:spcAft>
            </a:pPr>
            <a:r>
              <a:rPr sz="1700" b="0" i="0">
                <a:solidFill>
                  <a:srgbClr val="3D2410"/>
                </a:solidFill>
                <a:latin typeface="Segoe UI Semibold"/>
                <a:cs typeface="Segoe UI Semibold"/>
              </a:rPr>
              <a:t>Support desk</a:t>
            </a:r>
            <a:r>
              <a:rPr sz="1300" b="0" i="0">
                <a:solidFill>
                  <a:srgbClr val="B83A2E"/>
                </a:solidFill>
                <a:latin typeface="Segoe UI Semibold"/>
                <a:cs typeface="Segoe UI Semibold"/>
              </a:rPr>
              <a:t>   ✗ reactive</a:t>
            </a:r>
          </a:p>
          <a:p>
            <a:pPr algn="l">
              <a:lnSpc>
                <a:spcPct val="112000"/>
              </a:lnSpc>
              <a:spcAft>
                <a:spcPts val="0"/>
              </a:spcAft>
            </a:pPr>
            <a:r>
              <a:rPr sz="1300" b="0" i="0">
                <a:solidFill>
                  <a:srgbClr val="8A6F55"/>
                </a:solidFill>
                <a:latin typeface="Segoe UI"/>
                <a:cs typeface="Segoe UI"/>
              </a:rPr>
              <a:t>acts only after a ticket is raised</a:t>
            </a:r>
          </a:p>
        </p:txBody>
      </p:sp>
      <p:sp>
        <p:nvSpPr>
          <p:cNvPr id="51" name="Rounded Rectangle 50"/>
          <p:cNvSpPr/>
          <p:nvPr/>
        </p:nvSpPr>
        <p:spPr>
          <a:xfrm>
            <a:off x="13213080" y="6089903"/>
            <a:ext cx="3886200" cy="1207008"/>
          </a:xfrm>
          <a:prstGeom prst="roundRect">
            <a:avLst>
              <a:gd name="adj" fmla="val 10000"/>
            </a:avLst>
          </a:prstGeom>
          <a:solidFill>
            <a:schemeClr val="accent2">
              <a:lumMod val="20000"/>
              <a:lumOff val="80000"/>
            </a:schemeClr>
          </a:solidFill>
          <a:ln>
            <a:noFill/>
          </a:ln>
        </p:spPr>
        <p:txBody>
          <a:bodyPr wrap="square" lIns="182880" rIns="137160" rtlCol="0" anchor="ctr">
            <a:noAutofit/>
          </a:bodyPr>
          <a:lstStyle/>
          <a:p>
            <a:pPr algn="l">
              <a:lnSpc>
                <a:spcPct val="112000"/>
              </a:lnSpc>
              <a:spcAft>
                <a:spcPts val="300"/>
              </a:spcAft>
            </a:pPr>
            <a:r>
              <a:rPr sz="1700" b="0" i="0">
                <a:solidFill>
                  <a:srgbClr val="3D2410"/>
                </a:solidFill>
                <a:latin typeface="Segoe UI Semibold"/>
                <a:cs typeface="Segoe UI Semibold"/>
              </a:rPr>
              <a:t>Dispute forms</a:t>
            </a:r>
            <a:r>
              <a:rPr sz="1300" b="0" i="0">
                <a:solidFill>
                  <a:srgbClr val="B83A2E"/>
                </a:solidFill>
                <a:latin typeface="Segoe UI Semibold"/>
                <a:cs typeface="Segoe UI Semibold"/>
              </a:rPr>
              <a:t>   ✗ reactive</a:t>
            </a:r>
          </a:p>
          <a:p>
            <a:pPr algn="l">
              <a:lnSpc>
                <a:spcPct val="112000"/>
              </a:lnSpc>
              <a:spcAft>
                <a:spcPts val="0"/>
              </a:spcAft>
            </a:pPr>
            <a:r>
              <a:rPr sz="1300" b="0" i="0">
                <a:solidFill>
                  <a:srgbClr val="8A6F55"/>
                </a:solidFill>
                <a:latin typeface="Segoe UI"/>
                <a:cs typeface="Segoe UI"/>
              </a:rPr>
              <a:t>need the merchant to prove the error</a:t>
            </a:r>
          </a:p>
        </p:txBody>
      </p:sp>
      <p:sp>
        <p:nvSpPr>
          <p:cNvPr id="52" name="Rounded Rectangle 51"/>
          <p:cNvSpPr/>
          <p:nvPr/>
        </p:nvSpPr>
        <p:spPr>
          <a:xfrm>
            <a:off x="13213080" y="7626096"/>
            <a:ext cx="3886200" cy="1207008"/>
          </a:xfrm>
          <a:prstGeom prst="roundRect">
            <a:avLst>
              <a:gd name="adj" fmla="val 10000"/>
            </a:avLst>
          </a:prstGeom>
          <a:solidFill>
            <a:schemeClr val="accent3">
              <a:lumMod val="40000"/>
              <a:lumOff val="60000"/>
            </a:schemeClr>
          </a:solidFill>
          <a:ln>
            <a:noFill/>
          </a:ln>
        </p:spPr>
        <p:txBody>
          <a:bodyPr wrap="square" lIns="182880" rIns="137160" rtlCol="0" anchor="ctr">
            <a:noAutofit/>
          </a:bodyPr>
          <a:lstStyle/>
          <a:p>
            <a:pPr algn="l">
              <a:lnSpc>
                <a:spcPct val="112000"/>
              </a:lnSpc>
              <a:spcAft>
                <a:spcPts val="300"/>
              </a:spcAft>
            </a:pPr>
            <a:r>
              <a:rPr sz="1700" b="0" i="0">
                <a:solidFill>
                  <a:srgbClr val="3D2410"/>
                </a:solidFill>
                <a:latin typeface="Segoe UI Semibold"/>
                <a:cs typeface="Segoe UI Semibold"/>
              </a:rPr>
              <a:t>Munim</a:t>
            </a:r>
            <a:r>
              <a:rPr sz="1300" b="0" i="0">
                <a:solidFill>
                  <a:srgbClr val="2E7550"/>
                </a:solidFill>
                <a:latin typeface="Segoe UI Semibold"/>
                <a:cs typeface="Segoe UI Semibold"/>
              </a:rPr>
              <a:t>   ✓ proactive</a:t>
            </a:r>
          </a:p>
          <a:p>
            <a:pPr algn="l">
              <a:lnSpc>
                <a:spcPct val="112000"/>
              </a:lnSpc>
              <a:spcAft>
                <a:spcPts val="0"/>
              </a:spcAft>
            </a:pPr>
            <a:r>
              <a:rPr sz="1300" b="0" i="0">
                <a:solidFill>
                  <a:srgbClr val="3D2410"/>
                </a:solidFill>
                <a:latin typeface="Segoe UI"/>
                <a:cs typeface="Segoe UI"/>
              </a:rPr>
              <a:t>checks every settlement before anyone notices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flipH="1">
            <a:off x="16257701" y="-446605"/>
            <a:ext cx="2475974" cy="2481143"/>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V="1">
            <a:off x="17380895" y="9039441"/>
            <a:ext cx="1838238" cy="168505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5" name="Freeform 5"/>
          <p:cNvSpPr/>
          <p:nvPr/>
        </p:nvSpPr>
        <p:spPr>
          <a:xfrm flipH="1">
            <a:off x="-1143994" y="-324222"/>
            <a:ext cx="1838238" cy="1685052"/>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7" name="TextBox 6"/>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dirty="0">
                <a:solidFill>
                  <a:schemeClr val="tx2">
                    <a:lumMod val="75000"/>
                  </a:schemeClr>
                </a:solidFill>
                <a:latin typeface="Segoe UI"/>
                <a:cs typeface="Segoe UI"/>
              </a:rPr>
              <a:t>Munim keeps the </a:t>
            </a:r>
            <a:r>
              <a:rPr sz="2300" b="0" i="0" dirty="0" err="1">
                <a:solidFill>
                  <a:schemeClr val="tx2">
                    <a:lumMod val="75000"/>
                  </a:schemeClr>
                </a:solidFill>
                <a:latin typeface="Segoe UI"/>
                <a:cs typeface="Segoe UI"/>
              </a:rPr>
              <a:t>hisaab</a:t>
            </a:r>
            <a:r>
              <a:rPr sz="2300" b="0" i="0" dirty="0">
                <a:solidFill>
                  <a:schemeClr val="tx2">
                    <a:lumMod val="75000"/>
                  </a:schemeClr>
                </a:solidFill>
                <a:latin typeface="Segoe UI"/>
                <a:cs typeface="Segoe UI"/>
              </a:rPr>
              <a:t>. The merchant doesn’t lift a finger</a:t>
            </a:r>
            <a:r>
              <a:rPr sz="2300" b="0" i="0" dirty="0">
                <a:solidFill>
                  <a:srgbClr val="3D2410"/>
                </a:solidFill>
                <a:latin typeface="Segoe UI"/>
                <a:cs typeface="Segoe UI"/>
              </a:rPr>
              <a:t>.</a:t>
            </a:r>
          </a:p>
        </p:txBody>
      </p:sp>
      <p:sp>
        <p:nvSpPr>
          <p:cNvPr id="8" name="TextBox 7"/>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03</a:t>
            </a:r>
            <a:r>
              <a:rPr sz="1200" b="0" i="0">
                <a:solidFill>
                  <a:srgbClr val="8A6F55"/>
                </a:solidFill>
                <a:latin typeface="Segoe UI"/>
                <a:cs typeface="Segoe UI"/>
              </a:rPr>
              <a:t>   Munim   Paytm Build for India, Track 3</a:t>
            </a:r>
          </a:p>
        </p:txBody>
      </p:sp>
      <p:sp>
        <p:nvSpPr>
          <p:cNvPr id="9" name="TextBox 8"/>
          <p:cNvSpPr txBox="1"/>
          <p:nvPr/>
        </p:nvSpPr>
        <p:spPr>
          <a:xfrm>
            <a:off x="1188720" y="2395728"/>
            <a:ext cx="9692640" cy="1463040"/>
          </a:xfrm>
          <a:prstGeom prst="rect">
            <a:avLst/>
          </a:prstGeom>
          <a:noFill/>
        </p:spPr>
        <p:txBody>
          <a:bodyPr wrap="square" lIns="0" tIns="0" rIns="0" bIns="0" anchor="t">
            <a:noAutofit/>
          </a:bodyPr>
          <a:lstStyle/>
          <a:p>
            <a:pPr algn="l">
              <a:lnSpc>
                <a:spcPct val="120000"/>
              </a:lnSpc>
              <a:spcAft>
                <a:spcPts val="0"/>
              </a:spcAft>
            </a:pPr>
            <a:r>
              <a:rPr i="0" dirty="0">
                <a:solidFill>
                  <a:srgbClr val="B96A1E"/>
                </a:solidFill>
                <a:latin typeface="Segoe UI Semibold"/>
                <a:cs typeface="Segoe UI Semibold"/>
              </a:rPr>
              <a:t>Solution overview: </a:t>
            </a:r>
            <a:r>
              <a:rPr lang="en-IN" dirty="0">
                <a:solidFill>
                  <a:srgbClr val="000000"/>
                </a:solidFill>
                <a:latin typeface="Segoe UI"/>
                <a:cs typeface="Segoe UI"/>
              </a:rPr>
              <a:t>W</a:t>
            </a:r>
            <a:r>
              <a:rPr i="0" dirty="0">
                <a:solidFill>
                  <a:srgbClr val="000000"/>
                </a:solidFill>
                <a:latin typeface="Segoe UI"/>
                <a:cs typeface="Segoe UI"/>
              </a:rPr>
              <a:t>e built Munim to work on Paytm’s side of the ledger. It re-checks every settlement against the published rules and the merchant’s own agreement. When a charge is wrong, it proves it, files the correction with settlement ops, follows it up, and closes the case only once the money is back in the merchant’s bank. Anything it cannot prove goes to a person.</a:t>
            </a:r>
          </a:p>
        </p:txBody>
      </p:sp>
      <p:sp>
        <p:nvSpPr>
          <p:cNvPr id="10" name="Rounded Rectangle 9"/>
          <p:cNvSpPr/>
          <p:nvPr/>
        </p:nvSpPr>
        <p:spPr>
          <a:xfrm>
            <a:off x="11338560" y="2487168"/>
            <a:ext cx="5760720" cy="1325880"/>
          </a:xfrm>
          <a:prstGeom prst="roundRect">
            <a:avLst>
              <a:gd name="adj" fmla="val 8000"/>
            </a:avLst>
          </a:prstGeom>
          <a:solidFill>
            <a:schemeClr val="accent1">
              <a:lumMod val="60000"/>
              <a:lumOff val="40000"/>
            </a:schemeClr>
          </a:solidFill>
          <a:ln>
            <a:noFill/>
          </a:ln>
        </p:spPr>
        <p:txBody>
          <a:bodyPr rtlCol="0" anchor="ctr"/>
          <a:lstStyle/>
          <a:p>
            <a:endParaRPr/>
          </a:p>
        </p:txBody>
      </p:sp>
      <p:sp>
        <p:nvSpPr>
          <p:cNvPr id="11" name="TextBox 10"/>
          <p:cNvSpPr txBox="1"/>
          <p:nvPr/>
        </p:nvSpPr>
        <p:spPr>
          <a:xfrm>
            <a:off x="11539728" y="2560320"/>
            <a:ext cx="5486400" cy="320040"/>
          </a:xfrm>
          <a:prstGeom prst="rect">
            <a:avLst/>
          </a:prstGeom>
          <a:noFill/>
        </p:spPr>
        <p:txBody>
          <a:bodyPr wrap="square" lIns="0" tIns="0" rIns="0" bIns="0" anchor="t">
            <a:noAutofit/>
          </a:bodyPr>
          <a:lstStyle/>
          <a:p>
            <a:pPr algn="l">
              <a:lnSpc>
                <a:spcPct val="112000"/>
              </a:lnSpc>
              <a:spcAft>
                <a:spcPts val="0"/>
              </a:spcAft>
            </a:pPr>
            <a:r>
              <a:rPr b="1" i="0" dirty="0">
                <a:solidFill>
                  <a:srgbClr val="F4C542"/>
                </a:solidFill>
                <a:latin typeface="Segoe UI Semibold"/>
                <a:cs typeface="Segoe UI Semibold"/>
              </a:rPr>
              <a:t>What the merchant has to do</a:t>
            </a:r>
          </a:p>
        </p:txBody>
      </p:sp>
      <p:sp>
        <p:nvSpPr>
          <p:cNvPr id="12" name="TextBox 11"/>
          <p:cNvSpPr txBox="1"/>
          <p:nvPr/>
        </p:nvSpPr>
        <p:spPr>
          <a:xfrm>
            <a:off x="11539728" y="2852928"/>
            <a:ext cx="731520" cy="868680"/>
          </a:xfrm>
          <a:prstGeom prst="rect">
            <a:avLst/>
          </a:prstGeom>
          <a:noFill/>
        </p:spPr>
        <p:txBody>
          <a:bodyPr wrap="square" lIns="0" tIns="0" rIns="0" bIns="0" anchor="ctr">
            <a:noAutofit/>
          </a:bodyPr>
          <a:lstStyle/>
          <a:p>
            <a:pPr algn="l">
              <a:lnSpc>
                <a:spcPct val="112000"/>
              </a:lnSpc>
              <a:spcAft>
                <a:spcPts val="0"/>
              </a:spcAft>
            </a:pPr>
            <a:r>
              <a:rPr sz="4600" b="0" i="0">
                <a:solidFill>
                  <a:srgbClr val="FFFFFF"/>
                </a:solidFill>
                <a:latin typeface="League Spartan"/>
                <a:cs typeface="League Spartan"/>
              </a:rPr>
              <a:t>0</a:t>
            </a:r>
          </a:p>
        </p:txBody>
      </p:sp>
      <p:sp>
        <p:nvSpPr>
          <p:cNvPr id="13" name="TextBox 12"/>
          <p:cNvSpPr txBox="1"/>
          <p:nvPr/>
        </p:nvSpPr>
        <p:spPr>
          <a:xfrm>
            <a:off x="12115800" y="2852928"/>
            <a:ext cx="1234440" cy="868680"/>
          </a:xfrm>
          <a:prstGeom prst="rect">
            <a:avLst/>
          </a:prstGeom>
          <a:noFill/>
        </p:spPr>
        <p:txBody>
          <a:bodyPr wrap="square" lIns="0" tIns="0" rIns="0" bIns="0" anchor="ctr">
            <a:noAutofit/>
          </a:bodyPr>
          <a:lstStyle/>
          <a:p>
            <a:pPr algn="l">
              <a:lnSpc>
                <a:spcPct val="112000"/>
              </a:lnSpc>
              <a:spcAft>
                <a:spcPts val="0"/>
              </a:spcAft>
            </a:pPr>
            <a:r>
              <a:rPr sz="1400" b="0" i="0">
                <a:solidFill>
                  <a:srgbClr val="FFFFFF"/>
                </a:solidFill>
                <a:latin typeface="Segoe UI"/>
                <a:cs typeface="Segoe UI"/>
              </a:rPr>
              <a:t>tickets</a:t>
            </a:r>
          </a:p>
        </p:txBody>
      </p:sp>
      <p:sp>
        <p:nvSpPr>
          <p:cNvPr id="14" name="TextBox 13"/>
          <p:cNvSpPr txBox="1"/>
          <p:nvPr/>
        </p:nvSpPr>
        <p:spPr>
          <a:xfrm>
            <a:off x="13368528" y="2852928"/>
            <a:ext cx="731520" cy="868680"/>
          </a:xfrm>
          <a:prstGeom prst="rect">
            <a:avLst/>
          </a:prstGeom>
          <a:noFill/>
        </p:spPr>
        <p:txBody>
          <a:bodyPr wrap="square" lIns="0" tIns="0" rIns="0" bIns="0" anchor="ctr">
            <a:noAutofit/>
          </a:bodyPr>
          <a:lstStyle/>
          <a:p>
            <a:pPr algn="l">
              <a:lnSpc>
                <a:spcPct val="112000"/>
              </a:lnSpc>
              <a:spcAft>
                <a:spcPts val="0"/>
              </a:spcAft>
            </a:pPr>
            <a:r>
              <a:rPr sz="4600" b="0" i="0">
                <a:solidFill>
                  <a:srgbClr val="FFFFFF"/>
                </a:solidFill>
                <a:latin typeface="League Spartan"/>
                <a:cs typeface="League Spartan"/>
              </a:rPr>
              <a:t>0</a:t>
            </a:r>
          </a:p>
        </p:txBody>
      </p:sp>
      <p:sp>
        <p:nvSpPr>
          <p:cNvPr id="15" name="TextBox 14"/>
          <p:cNvSpPr txBox="1"/>
          <p:nvPr/>
        </p:nvSpPr>
        <p:spPr>
          <a:xfrm>
            <a:off x="13944600" y="2852928"/>
            <a:ext cx="1234440" cy="868680"/>
          </a:xfrm>
          <a:prstGeom prst="rect">
            <a:avLst/>
          </a:prstGeom>
          <a:noFill/>
        </p:spPr>
        <p:txBody>
          <a:bodyPr wrap="square" lIns="0" tIns="0" rIns="0" bIns="0" anchor="ctr">
            <a:noAutofit/>
          </a:bodyPr>
          <a:lstStyle/>
          <a:p>
            <a:pPr algn="l">
              <a:lnSpc>
                <a:spcPct val="112000"/>
              </a:lnSpc>
              <a:spcAft>
                <a:spcPts val="0"/>
              </a:spcAft>
            </a:pPr>
            <a:r>
              <a:rPr sz="1400" b="0" i="0">
                <a:solidFill>
                  <a:srgbClr val="FFFFFF"/>
                </a:solidFill>
                <a:latin typeface="Segoe UI"/>
                <a:cs typeface="Segoe UI"/>
              </a:rPr>
              <a:t>calls</a:t>
            </a:r>
          </a:p>
        </p:txBody>
      </p:sp>
      <p:sp>
        <p:nvSpPr>
          <p:cNvPr id="16" name="TextBox 15"/>
          <p:cNvSpPr txBox="1"/>
          <p:nvPr/>
        </p:nvSpPr>
        <p:spPr>
          <a:xfrm>
            <a:off x="15197327" y="2852928"/>
            <a:ext cx="731520" cy="868680"/>
          </a:xfrm>
          <a:prstGeom prst="rect">
            <a:avLst/>
          </a:prstGeom>
          <a:noFill/>
        </p:spPr>
        <p:txBody>
          <a:bodyPr wrap="square" lIns="0" tIns="0" rIns="0" bIns="0" anchor="ctr">
            <a:noAutofit/>
          </a:bodyPr>
          <a:lstStyle/>
          <a:p>
            <a:pPr algn="l">
              <a:lnSpc>
                <a:spcPct val="112000"/>
              </a:lnSpc>
              <a:spcAft>
                <a:spcPts val="0"/>
              </a:spcAft>
            </a:pPr>
            <a:r>
              <a:rPr sz="4600" b="0" i="0">
                <a:solidFill>
                  <a:srgbClr val="FFFFFF"/>
                </a:solidFill>
                <a:latin typeface="League Spartan"/>
                <a:cs typeface="League Spartan"/>
              </a:rPr>
              <a:t>0</a:t>
            </a:r>
          </a:p>
        </p:txBody>
      </p:sp>
      <p:sp>
        <p:nvSpPr>
          <p:cNvPr id="17" name="TextBox 16"/>
          <p:cNvSpPr txBox="1"/>
          <p:nvPr/>
        </p:nvSpPr>
        <p:spPr>
          <a:xfrm>
            <a:off x="15773400" y="2852928"/>
            <a:ext cx="1234440" cy="868680"/>
          </a:xfrm>
          <a:prstGeom prst="rect">
            <a:avLst/>
          </a:prstGeom>
          <a:noFill/>
        </p:spPr>
        <p:txBody>
          <a:bodyPr wrap="square" lIns="0" tIns="0" rIns="0" bIns="0" anchor="ctr">
            <a:noAutofit/>
          </a:bodyPr>
          <a:lstStyle/>
          <a:p>
            <a:pPr algn="l">
              <a:lnSpc>
                <a:spcPct val="112000"/>
              </a:lnSpc>
              <a:spcAft>
                <a:spcPts val="0"/>
              </a:spcAft>
            </a:pPr>
            <a:r>
              <a:rPr sz="1400" b="0" i="0">
                <a:solidFill>
                  <a:srgbClr val="FFFFFF"/>
                </a:solidFill>
                <a:latin typeface="Segoe UI"/>
                <a:cs typeface="Segoe UI"/>
              </a:rPr>
              <a:t>spreadsheets</a:t>
            </a:r>
          </a:p>
        </p:txBody>
      </p:sp>
      <p:sp>
        <p:nvSpPr>
          <p:cNvPr id="18" name="Rounded Rectangle 17"/>
          <p:cNvSpPr/>
          <p:nvPr/>
        </p:nvSpPr>
        <p:spPr>
          <a:xfrm>
            <a:off x="1188720" y="4160520"/>
            <a:ext cx="15910559" cy="3063240"/>
          </a:xfrm>
          <a:prstGeom prst="roundRect">
            <a:avLst>
              <a:gd name="adj" fmla="val 4000"/>
            </a:avLst>
          </a:prstGeom>
          <a:solidFill>
            <a:srgbClr val="FDF3D2"/>
          </a:solidFill>
          <a:ln>
            <a:noFill/>
          </a:ln>
        </p:spPr>
        <p:txBody>
          <a:bodyPr rtlCol="0" anchor="ctr"/>
          <a:lstStyle/>
          <a:p>
            <a:endParaRPr/>
          </a:p>
        </p:txBody>
      </p:sp>
      <p:sp>
        <p:nvSpPr>
          <p:cNvPr id="19" name="Rounded Rectangle 18"/>
          <p:cNvSpPr/>
          <p:nvPr/>
        </p:nvSpPr>
        <p:spPr>
          <a:xfrm>
            <a:off x="1188720" y="7406640"/>
            <a:ext cx="15910559" cy="1920240"/>
          </a:xfrm>
          <a:prstGeom prst="roundRect">
            <a:avLst>
              <a:gd name="adj" fmla="val 5000"/>
            </a:avLst>
          </a:prstGeom>
          <a:solidFill>
            <a:schemeClr val="accent1">
              <a:lumMod val="20000"/>
              <a:lumOff val="80000"/>
            </a:schemeClr>
          </a:solidFill>
          <a:ln w="12700">
            <a:solidFill>
              <a:srgbClr val="E9DDC7"/>
            </a:solidFill>
          </a:ln>
        </p:spPr>
        <p:txBody>
          <a:bodyPr rtlCol="0" anchor="ctr"/>
          <a:lstStyle/>
          <a:p>
            <a:endParaRPr dirty="0"/>
          </a:p>
        </p:txBody>
      </p:sp>
      <p:sp>
        <p:nvSpPr>
          <p:cNvPr id="20" name="TextBox 19"/>
          <p:cNvSpPr txBox="1"/>
          <p:nvPr/>
        </p:nvSpPr>
        <p:spPr>
          <a:xfrm>
            <a:off x="1371600" y="4297680"/>
            <a:ext cx="1920240" cy="2743200"/>
          </a:xfrm>
          <a:prstGeom prst="rect">
            <a:avLst/>
          </a:prstGeom>
          <a:noFill/>
        </p:spPr>
        <p:txBody>
          <a:bodyPr wrap="square" lIns="0" tIns="0" rIns="0" bIns="0" anchor="ctr">
            <a:noAutofit/>
          </a:bodyPr>
          <a:lstStyle/>
          <a:p>
            <a:pPr algn="l">
              <a:lnSpc>
                <a:spcPct val="112000"/>
              </a:lnSpc>
              <a:spcAft>
                <a:spcPts val="0"/>
              </a:spcAft>
            </a:pPr>
            <a:r>
              <a:rPr sz="2200" b="0" i="0" dirty="0">
                <a:solidFill>
                  <a:srgbClr val="B96A1E"/>
                </a:solidFill>
                <a:latin typeface="Segoe UI Semibold"/>
                <a:cs typeface="Segoe UI Semibold"/>
              </a:rPr>
              <a:t>MUNIM</a:t>
            </a:r>
          </a:p>
          <a:p>
            <a:pPr algn="l">
              <a:lnSpc>
                <a:spcPct val="112000"/>
              </a:lnSpc>
              <a:spcAft>
                <a:spcPts val="0"/>
              </a:spcAft>
            </a:pPr>
            <a:r>
              <a:rPr lang="en-IN" sz="1300" dirty="0">
                <a:solidFill>
                  <a:srgbClr val="8A6F55"/>
                </a:solidFill>
                <a:latin typeface="Segoe UI"/>
                <a:cs typeface="Segoe UI"/>
              </a:rPr>
              <a:t>O</a:t>
            </a:r>
            <a:r>
              <a:rPr sz="1300" b="0" i="0" dirty="0">
                <a:solidFill>
                  <a:srgbClr val="8A6F55"/>
                </a:solidFill>
                <a:latin typeface="Segoe UI"/>
                <a:cs typeface="Segoe UI"/>
              </a:rPr>
              <a:t>n Paytm’s side, every day, on its own</a:t>
            </a:r>
          </a:p>
        </p:txBody>
      </p:sp>
      <p:sp>
        <p:nvSpPr>
          <p:cNvPr id="21" name="TextBox 20"/>
          <p:cNvSpPr txBox="1"/>
          <p:nvPr/>
        </p:nvSpPr>
        <p:spPr>
          <a:xfrm>
            <a:off x="1371600" y="7498079"/>
            <a:ext cx="1920240" cy="1737360"/>
          </a:xfrm>
          <a:prstGeom prst="rect">
            <a:avLst/>
          </a:prstGeom>
          <a:noFill/>
        </p:spPr>
        <p:txBody>
          <a:bodyPr wrap="square" lIns="0" tIns="0" rIns="0" bIns="0" anchor="ctr">
            <a:noAutofit/>
          </a:bodyPr>
          <a:lstStyle/>
          <a:p>
            <a:pPr algn="l">
              <a:lnSpc>
                <a:spcPct val="112000"/>
              </a:lnSpc>
              <a:spcAft>
                <a:spcPts val="0"/>
              </a:spcAft>
            </a:pPr>
            <a:r>
              <a:rPr sz="2200" b="0" i="0" dirty="0">
                <a:solidFill>
                  <a:srgbClr val="B96A1E"/>
                </a:solidFill>
                <a:latin typeface="Segoe UI Semibold"/>
                <a:cs typeface="Segoe UI Semibold"/>
              </a:rPr>
              <a:t>MERCHANT</a:t>
            </a:r>
          </a:p>
          <a:p>
            <a:pPr algn="l">
              <a:lnSpc>
                <a:spcPct val="112000"/>
              </a:lnSpc>
              <a:spcAft>
                <a:spcPts val="0"/>
              </a:spcAft>
            </a:pPr>
            <a:r>
              <a:rPr lang="en-IN" sz="1300" dirty="0">
                <a:solidFill>
                  <a:srgbClr val="FF0000"/>
                </a:solidFill>
                <a:latin typeface="Segoe UI"/>
                <a:cs typeface="Segoe UI"/>
              </a:rPr>
              <a:t>I</a:t>
            </a:r>
            <a:r>
              <a:rPr sz="1300" b="0" i="0" dirty="0">
                <a:solidFill>
                  <a:srgbClr val="FF0000"/>
                </a:solidFill>
                <a:latin typeface="Segoe UI"/>
                <a:cs typeface="Segoe UI"/>
              </a:rPr>
              <a:t>n the Paytm Business app</a:t>
            </a:r>
          </a:p>
        </p:txBody>
      </p:sp>
      <p:sp>
        <p:nvSpPr>
          <p:cNvPr id="22" name="Rounded Rectangle 21"/>
          <p:cNvSpPr/>
          <p:nvPr/>
        </p:nvSpPr>
        <p:spPr>
          <a:xfrm>
            <a:off x="3520440" y="4389120"/>
            <a:ext cx="2404872" cy="2606040"/>
          </a:xfrm>
          <a:prstGeom prst="roundRect">
            <a:avLst>
              <a:gd name="adj" fmla="val 7000"/>
            </a:avLst>
          </a:prstGeom>
          <a:solidFill>
            <a:srgbClr val="FFFFFF"/>
          </a:solidFill>
          <a:ln w="12700">
            <a:solidFill>
              <a:srgbClr val="E9DDC7"/>
            </a:solidFill>
          </a:ln>
        </p:spPr>
        <p:txBody>
          <a:bodyPr rtlCol="0" anchor="ctr"/>
          <a:lstStyle/>
          <a:p>
            <a:endParaRPr/>
          </a:p>
        </p:txBody>
      </p:sp>
      <p:sp>
        <p:nvSpPr>
          <p:cNvPr id="23" name="Oval 22"/>
          <p:cNvSpPr/>
          <p:nvPr/>
        </p:nvSpPr>
        <p:spPr>
          <a:xfrm>
            <a:off x="3703320" y="4572000"/>
            <a:ext cx="502920" cy="502920"/>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700" b="0" i="0">
                <a:solidFill>
                  <a:srgbClr val="3D2410"/>
                </a:solidFill>
                <a:latin typeface="Segoe UI Semibold"/>
                <a:cs typeface="Segoe UI Semibold"/>
              </a:rPr>
              <a:t>1</a:t>
            </a:r>
          </a:p>
        </p:txBody>
      </p:sp>
      <p:sp>
        <p:nvSpPr>
          <p:cNvPr id="24" name="TextBox 23"/>
          <p:cNvSpPr txBox="1"/>
          <p:nvPr/>
        </p:nvSpPr>
        <p:spPr>
          <a:xfrm>
            <a:off x="4325112" y="4572000"/>
            <a:ext cx="1536192" cy="502920"/>
          </a:xfrm>
          <a:prstGeom prst="rect">
            <a:avLst/>
          </a:prstGeom>
          <a:noFill/>
        </p:spPr>
        <p:txBody>
          <a:bodyPr wrap="square" lIns="0" tIns="0" rIns="0" bIns="0" anchor="ctr">
            <a:noAutofit/>
          </a:bodyPr>
          <a:lstStyle/>
          <a:p>
            <a:pPr algn="l">
              <a:lnSpc>
                <a:spcPct val="112000"/>
              </a:lnSpc>
              <a:spcAft>
                <a:spcPts val="0"/>
              </a:spcAft>
            </a:pPr>
            <a:r>
              <a:rPr sz="2200" b="0" i="0">
                <a:solidFill>
                  <a:srgbClr val="B96A1E"/>
                </a:solidFill>
                <a:latin typeface="Segoe UI Semibold"/>
                <a:cs typeface="Segoe UI Semibold"/>
              </a:rPr>
              <a:t>Audits</a:t>
            </a:r>
          </a:p>
        </p:txBody>
      </p:sp>
      <p:sp>
        <p:nvSpPr>
          <p:cNvPr id="25" name="TextBox 24"/>
          <p:cNvSpPr txBox="1"/>
          <p:nvPr/>
        </p:nvSpPr>
        <p:spPr>
          <a:xfrm>
            <a:off x="3703320" y="5230368"/>
            <a:ext cx="2057400" cy="1691640"/>
          </a:xfrm>
          <a:prstGeom prst="rect">
            <a:avLst/>
          </a:prstGeom>
          <a:noFill/>
        </p:spPr>
        <p:txBody>
          <a:bodyPr wrap="square" lIns="0" tIns="0" rIns="0" bIns="0" anchor="t">
            <a:noAutofit/>
          </a:bodyPr>
          <a:lstStyle/>
          <a:p>
            <a:pPr algn="l">
              <a:lnSpc>
                <a:spcPct val="115000"/>
              </a:lnSpc>
              <a:spcAft>
                <a:spcPts val="0"/>
              </a:spcAft>
            </a:pPr>
            <a:r>
              <a:rPr lang="en-IN" sz="1350" dirty="0">
                <a:solidFill>
                  <a:schemeClr val="bg2">
                    <a:lumMod val="10000"/>
                  </a:schemeClr>
                </a:solidFill>
                <a:latin typeface="Segoe UI"/>
                <a:cs typeface="Segoe UI"/>
              </a:rPr>
              <a:t>E</a:t>
            </a:r>
            <a:r>
              <a:rPr sz="1350" b="0" i="0" dirty="0">
                <a:solidFill>
                  <a:schemeClr val="bg2">
                    <a:lumMod val="10000"/>
                  </a:schemeClr>
                </a:solidFill>
                <a:latin typeface="Segoe UI"/>
                <a:cs typeface="Segoe UI"/>
              </a:rPr>
              <a:t>very settlement line against 12 months of history. Nobody asks it to start</a:t>
            </a:r>
            <a:r>
              <a:rPr sz="1350" b="0" i="0" dirty="0">
                <a:solidFill>
                  <a:srgbClr val="3D2410"/>
                </a:solidFill>
                <a:latin typeface="Segoe UI"/>
                <a:cs typeface="Segoe UI"/>
              </a:rPr>
              <a:t>.</a:t>
            </a:r>
          </a:p>
        </p:txBody>
      </p:sp>
      <p:cxnSp>
        <p:nvCxnSpPr>
          <p:cNvPr id="26" name="Connector 25"/>
          <p:cNvCxnSpPr/>
          <p:nvPr/>
        </p:nvCxnSpPr>
        <p:spPr>
          <a:xfrm>
            <a:off x="5943600" y="5687568"/>
            <a:ext cx="265176" cy="0"/>
          </a:xfrm>
          <a:prstGeom prst="line">
            <a:avLst/>
          </a:prstGeom>
          <a:ln w="25400">
            <a:solidFill>
              <a:srgbClr val="B96A1E"/>
            </a:solidFill>
            <a:tailEnd type="triangle" w="med" len="med"/>
          </a:ln>
        </p:spPr>
      </p:cxnSp>
      <p:sp>
        <p:nvSpPr>
          <p:cNvPr id="27" name="Rounded Rectangle 26"/>
          <p:cNvSpPr/>
          <p:nvPr/>
        </p:nvSpPr>
        <p:spPr>
          <a:xfrm>
            <a:off x="6227064" y="4389120"/>
            <a:ext cx="2404872" cy="2606040"/>
          </a:xfrm>
          <a:prstGeom prst="roundRect">
            <a:avLst>
              <a:gd name="adj" fmla="val 7000"/>
            </a:avLst>
          </a:prstGeom>
          <a:solidFill>
            <a:srgbClr val="FFFFFF"/>
          </a:solidFill>
          <a:ln w="12700">
            <a:solidFill>
              <a:srgbClr val="E9DDC7"/>
            </a:solidFill>
          </a:ln>
        </p:spPr>
        <p:txBody>
          <a:bodyPr rtlCol="0" anchor="ctr"/>
          <a:lstStyle/>
          <a:p>
            <a:endParaRPr/>
          </a:p>
        </p:txBody>
      </p:sp>
      <p:sp>
        <p:nvSpPr>
          <p:cNvPr id="28" name="Oval 27"/>
          <p:cNvSpPr/>
          <p:nvPr/>
        </p:nvSpPr>
        <p:spPr>
          <a:xfrm>
            <a:off x="6409944" y="4572000"/>
            <a:ext cx="502920" cy="502920"/>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700" b="0" i="0">
                <a:solidFill>
                  <a:srgbClr val="3D2410"/>
                </a:solidFill>
                <a:latin typeface="Segoe UI Semibold"/>
                <a:cs typeface="Segoe UI Semibold"/>
              </a:rPr>
              <a:t>2</a:t>
            </a:r>
          </a:p>
        </p:txBody>
      </p:sp>
      <p:sp>
        <p:nvSpPr>
          <p:cNvPr id="29" name="TextBox 28"/>
          <p:cNvSpPr txBox="1"/>
          <p:nvPr/>
        </p:nvSpPr>
        <p:spPr>
          <a:xfrm>
            <a:off x="7031736" y="4572000"/>
            <a:ext cx="1536192" cy="502920"/>
          </a:xfrm>
          <a:prstGeom prst="rect">
            <a:avLst/>
          </a:prstGeom>
          <a:noFill/>
        </p:spPr>
        <p:txBody>
          <a:bodyPr wrap="square" lIns="0" tIns="0" rIns="0" bIns="0" anchor="ctr">
            <a:noAutofit/>
          </a:bodyPr>
          <a:lstStyle/>
          <a:p>
            <a:pPr algn="l">
              <a:lnSpc>
                <a:spcPct val="112000"/>
              </a:lnSpc>
              <a:spcAft>
                <a:spcPts val="0"/>
              </a:spcAft>
            </a:pPr>
            <a:r>
              <a:rPr sz="2200" b="0" i="0">
                <a:solidFill>
                  <a:srgbClr val="B96A1E"/>
                </a:solidFill>
                <a:latin typeface="Segoe UI Semibold"/>
                <a:cs typeface="Segoe UI Semibold"/>
              </a:rPr>
              <a:t>Proves</a:t>
            </a:r>
          </a:p>
        </p:txBody>
      </p:sp>
      <p:sp>
        <p:nvSpPr>
          <p:cNvPr id="30" name="TextBox 29"/>
          <p:cNvSpPr txBox="1"/>
          <p:nvPr/>
        </p:nvSpPr>
        <p:spPr>
          <a:xfrm>
            <a:off x="6409944" y="5230368"/>
            <a:ext cx="2057400" cy="1691640"/>
          </a:xfrm>
          <a:prstGeom prst="rect">
            <a:avLst/>
          </a:prstGeom>
          <a:noFill/>
        </p:spPr>
        <p:txBody>
          <a:bodyPr wrap="square" lIns="0" tIns="0" rIns="0" bIns="0" anchor="t">
            <a:noAutofit/>
          </a:bodyPr>
          <a:lstStyle/>
          <a:p>
            <a:pPr algn="l">
              <a:lnSpc>
                <a:spcPct val="115000"/>
              </a:lnSpc>
              <a:spcAft>
                <a:spcPts val="0"/>
              </a:spcAft>
            </a:pPr>
            <a:r>
              <a:rPr lang="en-IN" sz="1350" dirty="0">
                <a:solidFill>
                  <a:schemeClr val="bg2">
                    <a:lumMod val="10000"/>
                  </a:schemeClr>
                </a:solidFill>
                <a:latin typeface="Segoe UI"/>
                <a:cs typeface="Segoe UI"/>
              </a:rPr>
              <a:t>R</a:t>
            </a:r>
            <a:r>
              <a:rPr sz="1350" b="0" i="0" dirty="0" err="1">
                <a:solidFill>
                  <a:schemeClr val="bg2">
                    <a:lumMod val="10000"/>
                  </a:schemeClr>
                </a:solidFill>
                <a:latin typeface="Segoe UI"/>
                <a:cs typeface="Segoe UI"/>
              </a:rPr>
              <a:t>ecomputes</a:t>
            </a:r>
            <a:r>
              <a:rPr sz="1350" b="0" i="0" dirty="0">
                <a:solidFill>
                  <a:schemeClr val="bg2">
                    <a:lumMod val="10000"/>
                  </a:schemeClr>
                </a:solidFill>
                <a:latin typeface="Segoe UI"/>
                <a:cs typeface="Segoe UI"/>
              </a:rPr>
              <a:t> each charge from the dated rule and the signed agreement, to the paise.</a:t>
            </a:r>
          </a:p>
        </p:txBody>
      </p:sp>
      <p:cxnSp>
        <p:nvCxnSpPr>
          <p:cNvPr id="31" name="Connector 30"/>
          <p:cNvCxnSpPr/>
          <p:nvPr/>
        </p:nvCxnSpPr>
        <p:spPr>
          <a:xfrm>
            <a:off x="8650224" y="5687568"/>
            <a:ext cx="265176" cy="0"/>
          </a:xfrm>
          <a:prstGeom prst="line">
            <a:avLst/>
          </a:prstGeom>
          <a:ln w="25400">
            <a:solidFill>
              <a:srgbClr val="B96A1E"/>
            </a:solidFill>
            <a:tailEnd type="triangle" w="med" len="med"/>
          </a:ln>
        </p:spPr>
      </p:cxnSp>
      <p:sp>
        <p:nvSpPr>
          <p:cNvPr id="32" name="Rounded Rectangle 31"/>
          <p:cNvSpPr/>
          <p:nvPr/>
        </p:nvSpPr>
        <p:spPr>
          <a:xfrm>
            <a:off x="8933688" y="4389120"/>
            <a:ext cx="2404872" cy="2606040"/>
          </a:xfrm>
          <a:prstGeom prst="roundRect">
            <a:avLst>
              <a:gd name="adj" fmla="val 7000"/>
            </a:avLst>
          </a:prstGeom>
          <a:solidFill>
            <a:srgbClr val="FFFFFF"/>
          </a:solidFill>
          <a:ln w="12700">
            <a:solidFill>
              <a:srgbClr val="E9DDC7"/>
            </a:solidFill>
          </a:ln>
        </p:spPr>
        <p:txBody>
          <a:bodyPr rtlCol="0" anchor="ctr"/>
          <a:lstStyle/>
          <a:p>
            <a:endParaRPr/>
          </a:p>
        </p:txBody>
      </p:sp>
      <p:sp>
        <p:nvSpPr>
          <p:cNvPr id="33" name="Oval 32"/>
          <p:cNvSpPr/>
          <p:nvPr/>
        </p:nvSpPr>
        <p:spPr>
          <a:xfrm>
            <a:off x="9116567" y="4572000"/>
            <a:ext cx="502920" cy="502920"/>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700" b="0" i="0">
                <a:solidFill>
                  <a:srgbClr val="3D2410"/>
                </a:solidFill>
                <a:latin typeface="Segoe UI Semibold"/>
                <a:cs typeface="Segoe UI Semibold"/>
              </a:rPr>
              <a:t>3</a:t>
            </a:r>
          </a:p>
        </p:txBody>
      </p:sp>
      <p:sp>
        <p:nvSpPr>
          <p:cNvPr id="34" name="TextBox 33"/>
          <p:cNvSpPr txBox="1"/>
          <p:nvPr/>
        </p:nvSpPr>
        <p:spPr>
          <a:xfrm>
            <a:off x="9738360" y="4572000"/>
            <a:ext cx="1536192" cy="502920"/>
          </a:xfrm>
          <a:prstGeom prst="rect">
            <a:avLst/>
          </a:prstGeom>
          <a:noFill/>
        </p:spPr>
        <p:txBody>
          <a:bodyPr wrap="square" lIns="0" tIns="0" rIns="0" bIns="0" anchor="ctr">
            <a:noAutofit/>
          </a:bodyPr>
          <a:lstStyle/>
          <a:p>
            <a:pPr algn="l">
              <a:lnSpc>
                <a:spcPct val="112000"/>
              </a:lnSpc>
              <a:spcAft>
                <a:spcPts val="0"/>
              </a:spcAft>
            </a:pPr>
            <a:r>
              <a:rPr sz="2200" b="0" i="0">
                <a:solidFill>
                  <a:srgbClr val="B96A1E"/>
                </a:solidFill>
                <a:latin typeface="Segoe UI Semibold"/>
                <a:cs typeface="Segoe UI Semibold"/>
              </a:rPr>
              <a:t>Files</a:t>
            </a:r>
          </a:p>
        </p:txBody>
      </p:sp>
      <p:sp>
        <p:nvSpPr>
          <p:cNvPr id="35" name="TextBox 34"/>
          <p:cNvSpPr txBox="1"/>
          <p:nvPr/>
        </p:nvSpPr>
        <p:spPr>
          <a:xfrm>
            <a:off x="9116567" y="5230368"/>
            <a:ext cx="2057400" cy="1691640"/>
          </a:xfrm>
          <a:prstGeom prst="rect">
            <a:avLst/>
          </a:prstGeom>
          <a:noFill/>
        </p:spPr>
        <p:txBody>
          <a:bodyPr wrap="square" lIns="0" tIns="0" rIns="0" bIns="0" anchor="t">
            <a:noAutofit/>
          </a:bodyPr>
          <a:lstStyle/>
          <a:p>
            <a:pPr algn="l">
              <a:lnSpc>
                <a:spcPct val="115000"/>
              </a:lnSpc>
              <a:spcAft>
                <a:spcPts val="0"/>
              </a:spcAft>
            </a:pPr>
            <a:r>
              <a:rPr lang="en-IN" sz="1350" dirty="0">
                <a:solidFill>
                  <a:schemeClr val="bg2">
                    <a:lumMod val="10000"/>
                  </a:schemeClr>
                </a:solidFill>
                <a:latin typeface="Segoe UI"/>
                <a:cs typeface="Segoe UI"/>
              </a:rPr>
              <a:t>R</a:t>
            </a:r>
            <a:r>
              <a:rPr sz="1350" b="0" i="0" dirty="0" err="1">
                <a:solidFill>
                  <a:schemeClr val="bg2">
                    <a:lumMod val="10000"/>
                  </a:schemeClr>
                </a:solidFill>
                <a:latin typeface="Segoe UI"/>
                <a:cs typeface="Segoe UI"/>
              </a:rPr>
              <a:t>aises</a:t>
            </a:r>
            <a:r>
              <a:rPr sz="1350" b="0" i="0" dirty="0">
                <a:solidFill>
                  <a:schemeClr val="bg2">
                    <a:lumMod val="10000"/>
                  </a:schemeClr>
                </a:solidFill>
                <a:latin typeface="Segoe UI"/>
                <a:cs typeface="Segoe UI"/>
              </a:rPr>
              <a:t> the correction with Paytm settlement ops, proof attached.</a:t>
            </a:r>
          </a:p>
        </p:txBody>
      </p:sp>
      <p:cxnSp>
        <p:nvCxnSpPr>
          <p:cNvPr id="36" name="Connector 35"/>
          <p:cNvCxnSpPr/>
          <p:nvPr/>
        </p:nvCxnSpPr>
        <p:spPr>
          <a:xfrm>
            <a:off x="11356847" y="5687568"/>
            <a:ext cx="265177" cy="0"/>
          </a:xfrm>
          <a:prstGeom prst="line">
            <a:avLst/>
          </a:prstGeom>
          <a:ln w="25400">
            <a:solidFill>
              <a:srgbClr val="B96A1E"/>
            </a:solidFill>
            <a:tailEnd type="triangle" w="med" len="med"/>
          </a:ln>
        </p:spPr>
      </p:cxnSp>
      <p:sp>
        <p:nvSpPr>
          <p:cNvPr id="37" name="Rounded Rectangle 36"/>
          <p:cNvSpPr/>
          <p:nvPr/>
        </p:nvSpPr>
        <p:spPr>
          <a:xfrm>
            <a:off x="11640311" y="4389120"/>
            <a:ext cx="2404872" cy="2606040"/>
          </a:xfrm>
          <a:prstGeom prst="roundRect">
            <a:avLst>
              <a:gd name="adj" fmla="val 7000"/>
            </a:avLst>
          </a:prstGeom>
          <a:solidFill>
            <a:srgbClr val="FFFFFF"/>
          </a:solidFill>
          <a:ln w="12700">
            <a:solidFill>
              <a:srgbClr val="E9DDC7"/>
            </a:solidFill>
          </a:ln>
        </p:spPr>
        <p:txBody>
          <a:bodyPr rtlCol="0" anchor="ctr"/>
          <a:lstStyle/>
          <a:p>
            <a:endParaRPr/>
          </a:p>
        </p:txBody>
      </p:sp>
      <p:sp>
        <p:nvSpPr>
          <p:cNvPr id="38" name="Oval 37"/>
          <p:cNvSpPr/>
          <p:nvPr/>
        </p:nvSpPr>
        <p:spPr>
          <a:xfrm>
            <a:off x="11823191" y="4572000"/>
            <a:ext cx="502920" cy="502920"/>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700" b="0" i="0">
                <a:solidFill>
                  <a:srgbClr val="3D2410"/>
                </a:solidFill>
                <a:latin typeface="Segoe UI Semibold"/>
                <a:cs typeface="Segoe UI Semibold"/>
              </a:rPr>
              <a:t>4</a:t>
            </a:r>
          </a:p>
        </p:txBody>
      </p:sp>
      <p:sp>
        <p:nvSpPr>
          <p:cNvPr id="39" name="TextBox 38"/>
          <p:cNvSpPr txBox="1"/>
          <p:nvPr/>
        </p:nvSpPr>
        <p:spPr>
          <a:xfrm>
            <a:off x="12444984" y="4572000"/>
            <a:ext cx="1536192" cy="502920"/>
          </a:xfrm>
          <a:prstGeom prst="rect">
            <a:avLst/>
          </a:prstGeom>
          <a:noFill/>
        </p:spPr>
        <p:txBody>
          <a:bodyPr wrap="square" lIns="0" tIns="0" rIns="0" bIns="0" anchor="ctr">
            <a:noAutofit/>
          </a:bodyPr>
          <a:lstStyle/>
          <a:p>
            <a:pPr algn="l">
              <a:lnSpc>
                <a:spcPct val="112000"/>
              </a:lnSpc>
              <a:spcAft>
                <a:spcPts val="0"/>
              </a:spcAft>
            </a:pPr>
            <a:r>
              <a:rPr sz="2200" b="0" i="0">
                <a:solidFill>
                  <a:srgbClr val="B96A1E"/>
                </a:solidFill>
                <a:latin typeface="Segoe UI Semibold"/>
                <a:cs typeface="Segoe UI Semibold"/>
              </a:rPr>
              <a:t>Chases</a:t>
            </a:r>
          </a:p>
        </p:txBody>
      </p:sp>
      <p:sp>
        <p:nvSpPr>
          <p:cNvPr id="40" name="TextBox 39"/>
          <p:cNvSpPr txBox="1"/>
          <p:nvPr/>
        </p:nvSpPr>
        <p:spPr>
          <a:xfrm>
            <a:off x="11823191" y="5230368"/>
            <a:ext cx="2057400" cy="1691640"/>
          </a:xfrm>
          <a:prstGeom prst="rect">
            <a:avLst/>
          </a:prstGeom>
          <a:noFill/>
        </p:spPr>
        <p:txBody>
          <a:bodyPr wrap="square" lIns="0" tIns="0" rIns="0" bIns="0" anchor="t">
            <a:noAutofit/>
          </a:bodyPr>
          <a:lstStyle/>
          <a:p>
            <a:pPr algn="l">
              <a:lnSpc>
                <a:spcPct val="115000"/>
              </a:lnSpc>
              <a:spcAft>
                <a:spcPts val="0"/>
              </a:spcAft>
            </a:pPr>
            <a:r>
              <a:rPr lang="en-IN" sz="1350" dirty="0">
                <a:solidFill>
                  <a:schemeClr val="bg2">
                    <a:lumMod val="10000"/>
                  </a:schemeClr>
                </a:solidFill>
                <a:latin typeface="Segoe UI"/>
                <a:cs typeface="Segoe UI"/>
              </a:rPr>
              <a:t>F</a:t>
            </a:r>
            <a:r>
              <a:rPr sz="1350" b="0" i="0" dirty="0" err="1">
                <a:solidFill>
                  <a:schemeClr val="bg2">
                    <a:lumMod val="10000"/>
                  </a:schemeClr>
                </a:solidFill>
                <a:latin typeface="Segoe UI"/>
                <a:cs typeface="Segoe UI"/>
              </a:rPr>
              <a:t>ollows</a:t>
            </a:r>
            <a:r>
              <a:rPr sz="1350" b="0" i="0" dirty="0">
                <a:solidFill>
                  <a:schemeClr val="bg2">
                    <a:lumMod val="10000"/>
                  </a:schemeClr>
                </a:solidFill>
                <a:latin typeface="Segoe UI"/>
                <a:cs typeface="Segoe UI"/>
              </a:rPr>
              <a:t> up on silence, answers rejections with evidence and escalates what it can’t win.</a:t>
            </a:r>
          </a:p>
        </p:txBody>
      </p:sp>
      <p:cxnSp>
        <p:nvCxnSpPr>
          <p:cNvPr id="41" name="Connector 40"/>
          <p:cNvCxnSpPr/>
          <p:nvPr/>
        </p:nvCxnSpPr>
        <p:spPr>
          <a:xfrm>
            <a:off x="14063472" y="5687568"/>
            <a:ext cx="265176" cy="0"/>
          </a:xfrm>
          <a:prstGeom prst="line">
            <a:avLst/>
          </a:prstGeom>
          <a:ln w="25400">
            <a:solidFill>
              <a:srgbClr val="B96A1E"/>
            </a:solidFill>
            <a:tailEnd type="triangle" w="med" len="med"/>
          </a:ln>
        </p:spPr>
      </p:cxnSp>
      <p:sp>
        <p:nvSpPr>
          <p:cNvPr id="42" name="Rounded Rectangle 41"/>
          <p:cNvSpPr/>
          <p:nvPr/>
        </p:nvSpPr>
        <p:spPr>
          <a:xfrm>
            <a:off x="14346936" y="4389120"/>
            <a:ext cx="2404872" cy="2606040"/>
          </a:xfrm>
          <a:prstGeom prst="roundRect">
            <a:avLst>
              <a:gd name="adj" fmla="val 7000"/>
            </a:avLst>
          </a:prstGeom>
          <a:solidFill>
            <a:srgbClr val="FFFFFF"/>
          </a:solidFill>
          <a:ln w="12700">
            <a:solidFill>
              <a:srgbClr val="E9DDC7"/>
            </a:solidFill>
          </a:ln>
        </p:spPr>
        <p:txBody>
          <a:bodyPr rtlCol="0" anchor="ctr"/>
          <a:lstStyle/>
          <a:p>
            <a:endParaRPr/>
          </a:p>
        </p:txBody>
      </p:sp>
      <p:sp>
        <p:nvSpPr>
          <p:cNvPr id="43" name="Oval 42"/>
          <p:cNvSpPr/>
          <p:nvPr/>
        </p:nvSpPr>
        <p:spPr>
          <a:xfrm>
            <a:off x="14529815" y="4572000"/>
            <a:ext cx="502920" cy="502920"/>
          </a:xfrm>
          <a:prstGeom prst="ellipse">
            <a:avLst/>
          </a:prstGeom>
          <a:solidFill>
            <a:srgbClr val="E4873B"/>
          </a:solidFill>
          <a:ln>
            <a:noFill/>
          </a:ln>
        </p:spPr>
        <p:txBody>
          <a:bodyPr wrap="square" lIns="0" tIns="18288" rIns="0" bIns="0" rtlCol="0" anchor="ctr">
            <a:noAutofit/>
          </a:bodyPr>
          <a:lstStyle/>
          <a:p>
            <a:pPr algn="ctr">
              <a:lnSpc>
                <a:spcPct val="112000"/>
              </a:lnSpc>
              <a:spcAft>
                <a:spcPts val="0"/>
              </a:spcAft>
            </a:pPr>
            <a:r>
              <a:rPr sz="1700" b="0" i="0">
                <a:solidFill>
                  <a:srgbClr val="3D2410"/>
                </a:solidFill>
                <a:latin typeface="Segoe UI Semibold"/>
                <a:cs typeface="Segoe UI Semibold"/>
              </a:rPr>
              <a:t>5</a:t>
            </a:r>
          </a:p>
        </p:txBody>
      </p:sp>
      <p:sp>
        <p:nvSpPr>
          <p:cNvPr id="44" name="TextBox 43"/>
          <p:cNvSpPr txBox="1"/>
          <p:nvPr/>
        </p:nvSpPr>
        <p:spPr>
          <a:xfrm>
            <a:off x="15151608" y="4572000"/>
            <a:ext cx="1536192" cy="502920"/>
          </a:xfrm>
          <a:prstGeom prst="rect">
            <a:avLst/>
          </a:prstGeom>
          <a:noFill/>
        </p:spPr>
        <p:txBody>
          <a:bodyPr wrap="square" lIns="0" tIns="0" rIns="0" bIns="0" anchor="ctr">
            <a:noAutofit/>
          </a:bodyPr>
          <a:lstStyle/>
          <a:p>
            <a:pPr algn="l">
              <a:lnSpc>
                <a:spcPct val="112000"/>
              </a:lnSpc>
              <a:spcAft>
                <a:spcPts val="0"/>
              </a:spcAft>
            </a:pPr>
            <a:r>
              <a:rPr sz="2200" b="0" i="0">
                <a:solidFill>
                  <a:srgbClr val="B96A1E"/>
                </a:solidFill>
                <a:latin typeface="Segoe UI Semibold"/>
                <a:cs typeface="Segoe UI Semibold"/>
              </a:rPr>
              <a:t>Confirms</a:t>
            </a:r>
          </a:p>
        </p:txBody>
      </p:sp>
      <p:sp>
        <p:nvSpPr>
          <p:cNvPr id="45" name="TextBox 44"/>
          <p:cNvSpPr txBox="1"/>
          <p:nvPr/>
        </p:nvSpPr>
        <p:spPr>
          <a:xfrm>
            <a:off x="14529815" y="5230368"/>
            <a:ext cx="2057400" cy="1691640"/>
          </a:xfrm>
          <a:prstGeom prst="rect">
            <a:avLst/>
          </a:prstGeom>
          <a:noFill/>
        </p:spPr>
        <p:txBody>
          <a:bodyPr wrap="square" lIns="0" tIns="0" rIns="0" bIns="0" anchor="t">
            <a:noAutofit/>
          </a:bodyPr>
          <a:lstStyle/>
          <a:p>
            <a:pPr algn="l">
              <a:lnSpc>
                <a:spcPct val="115000"/>
              </a:lnSpc>
              <a:spcAft>
                <a:spcPts val="0"/>
              </a:spcAft>
            </a:pPr>
            <a:r>
              <a:rPr lang="en-IN" sz="1350" dirty="0">
                <a:solidFill>
                  <a:schemeClr val="bg2">
                    <a:lumMod val="10000"/>
                  </a:schemeClr>
                </a:solidFill>
                <a:latin typeface="Segoe UI"/>
                <a:cs typeface="Segoe UI"/>
              </a:rPr>
              <a:t>C</a:t>
            </a:r>
            <a:r>
              <a:rPr sz="1350" b="0" i="0" dirty="0">
                <a:solidFill>
                  <a:schemeClr val="bg2">
                    <a:lumMod val="10000"/>
                  </a:schemeClr>
                </a:solidFill>
                <a:latin typeface="Segoe UI"/>
                <a:cs typeface="Segoe UI"/>
              </a:rPr>
              <a:t>loses only when the credit lands in the bank (UTR), then fixes the cause.</a:t>
            </a:r>
          </a:p>
        </p:txBody>
      </p:sp>
      <p:sp>
        <p:nvSpPr>
          <p:cNvPr id="46" name="Rounded Rectangle 45"/>
          <p:cNvSpPr/>
          <p:nvPr/>
        </p:nvSpPr>
        <p:spPr>
          <a:xfrm>
            <a:off x="3657600" y="7635240"/>
            <a:ext cx="7543799" cy="1463040"/>
          </a:xfrm>
          <a:prstGeom prst="roundRect">
            <a:avLst>
              <a:gd name="adj" fmla="val 10000"/>
            </a:avLst>
          </a:prstGeom>
          <a:noFill/>
          <a:ln w="12700">
            <a:solidFill>
              <a:srgbClr val="CDBFA8"/>
            </a:solidFill>
            <a:prstDash val="dash"/>
          </a:ln>
        </p:spPr>
        <p:txBody>
          <a:bodyPr wrap="square" lIns="109728" tIns="73152" rIns="109728" bIns="73152" rtlCol="0" anchor="ctr">
            <a:noAutofit/>
          </a:bodyPr>
          <a:lstStyle/>
          <a:p>
            <a:pPr algn="ctr">
              <a:lnSpc>
                <a:spcPct val="112000"/>
              </a:lnSpc>
              <a:spcAft>
                <a:spcPts val="300"/>
              </a:spcAft>
            </a:pPr>
            <a:r>
              <a:rPr sz="1800" b="0" i="0" dirty="0">
                <a:solidFill>
                  <a:srgbClr val="FF0000"/>
                </a:solidFill>
                <a:latin typeface="Segoe UI"/>
                <a:cs typeface="Segoe UI"/>
              </a:rPr>
              <a:t>Nothing to do</a:t>
            </a:r>
          </a:p>
          <a:p>
            <a:pPr algn="ctr">
              <a:lnSpc>
                <a:spcPct val="112000"/>
              </a:lnSpc>
              <a:spcAft>
                <a:spcPts val="0"/>
              </a:spcAft>
            </a:pPr>
            <a:r>
              <a:rPr sz="1300" b="0" i="0" dirty="0">
                <a:solidFill>
                  <a:srgbClr val="FF0000"/>
                </a:solidFill>
                <a:latin typeface="Segoe UI"/>
                <a:cs typeface="Segoe UI"/>
              </a:rPr>
              <a:t>no ticket, no call, no spreadsheet, no proof to collect</a:t>
            </a:r>
          </a:p>
        </p:txBody>
      </p:sp>
      <p:sp>
        <p:nvSpPr>
          <p:cNvPr id="47" name="Rounded Rectangle 46"/>
          <p:cNvSpPr/>
          <p:nvPr/>
        </p:nvSpPr>
        <p:spPr>
          <a:xfrm>
            <a:off x="11594591" y="7635240"/>
            <a:ext cx="2496312" cy="1463040"/>
          </a:xfrm>
          <a:prstGeom prst="roundRect">
            <a:avLst>
              <a:gd name="adj" fmla="val 8000"/>
            </a:avLst>
          </a:prstGeom>
          <a:solidFill>
            <a:srgbClr val="FDF3D2"/>
          </a:solidFill>
          <a:ln w="15875">
            <a:solidFill>
              <a:srgbClr val="F4C542"/>
            </a:solidFill>
          </a:ln>
        </p:spPr>
        <p:txBody>
          <a:bodyPr wrap="square" lIns="109728" tIns="36576" bIns="36576" rtlCol="0" anchor="ctr">
            <a:noAutofit/>
          </a:bodyPr>
          <a:lstStyle/>
          <a:p>
            <a:pPr algn="l">
              <a:lnSpc>
                <a:spcPct val="112000"/>
              </a:lnSpc>
              <a:spcAft>
                <a:spcPts val="200"/>
              </a:spcAft>
            </a:pPr>
            <a:r>
              <a:rPr sz="1250" b="0" i="0">
                <a:solidFill>
                  <a:srgbClr val="B96A1E"/>
                </a:solidFill>
                <a:latin typeface="Segoe UI Semibold"/>
                <a:cs typeface="Segoe UI Semibold"/>
              </a:rPr>
              <a:t>…but can, in chat:</a:t>
            </a:r>
          </a:p>
          <a:p>
            <a:pPr algn="l">
              <a:lnSpc>
                <a:spcPct val="108000"/>
              </a:lnSpc>
              <a:spcAft>
                <a:spcPts val="0"/>
              </a:spcAft>
            </a:pPr>
            <a:r>
              <a:rPr sz="1050" b="0" i="0">
                <a:solidFill>
                  <a:srgbClr val="3D2410"/>
                </a:solidFill>
                <a:latin typeface="Segoe UI"/>
                <a:cs typeface="Segoe UI"/>
              </a:rPr>
              <a:t>ask anything, any language, by voice, see the proof, find a payment, decide review cases, appeal, talk to a person</a:t>
            </a:r>
          </a:p>
        </p:txBody>
      </p:sp>
      <p:cxnSp>
        <p:nvCxnSpPr>
          <p:cNvPr id="48" name="Connector 47"/>
          <p:cNvCxnSpPr/>
          <p:nvPr/>
        </p:nvCxnSpPr>
        <p:spPr>
          <a:xfrm>
            <a:off x="15549372" y="7004304"/>
            <a:ext cx="0" cy="612648"/>
          </a:xfrm>
          <a:prstGeom prst="line">
            <a:avLst/>
          </a:prstGeom>
          <a:ln w="31750">
            <a:solidFill>
              <a:srgbClr val="2E7550"/>
            </a:solidFill>
            <a:tailEnd type="triangle" w="med" len="med"/>
          </a:ln>
        </p:spPr>
      </p:cxnSp>
      <p:sp>
        <p:nvSpPr>
          <p:cNvPr id="49" name="Rounded Rectangle 48"/>
          <p:cNvSpPr/>
          <p:nvPr/>
        </p:nvSpPr>
        <p:spPr>
          <a:xfrm>
            <a:off x="14301215" y="7635240"/>
            <a:ext cx="2496312" cy="1463040"/>
          </a:xfrm>
          <a:prstGeom prst="roundRect">
            <a:avLst>
              <a:gd name="adj" fmla="val 10000"/>
            </a:avLst>
          </a:prstGeom>
          <a:solidFill>
            <a:srgbClr val="E4F0E8"/>
          </a:solidFill>
          <a:ln w="15875">
            <a:solidFill>
              <a:srgbClr val="2E7550"/>
            </a:solidFill>
          </a:ln>
        </p:spPr>
        <p:txBody>
          <a:bodyPr wrap="square" lIns="137160" rIns="109728" rtlCol="0" anchor="ctr">
            <a:noAutofit/>
          </a:bodyPr>
          <a:lstStyle/>
          <a:p>
            <a:pPr algn="l">
              <a:lnSpc>
                <a:spcPct val="112000"/>
              </a:lnSpc>
              <a:spcAft>
                <a:spcPts val="200"/>
              </a:spcAft>
            </a:pPr>
            <a:r>
              <a:rPr sz="1500" b="0" i="0">
                <a:solidFill>
                  <a:srgbClr val="2E7550"/>
                </a:solidFill>
                <a:latin typeface="Segoe UI Semibold"/>
                <a:cs typeface="Segoe UI Semibold"/>
              </a:rPr>
              <a:t>✓ Gets one message</a:t>
            </a:r>
          </a:p>
          <a:p>
            <a:pPr algn="l">
              <a:lnSpc>
                <a:spcPct val="112000"/>
              </a:lnSpc>
              <a:spcAft>
                <a:spcPts val="0"/>
              </a:spcAft>
            </a:pPr>
            <a:r>
              <a:rPr sz="1300" b="0" i="0">
                <a:solidFill>
                  <a:srgbClr val="3D2410"/>
                </a:solidFill>
                <a:latin typeface="Segoe UI"/>
                <a:cs typeface="Segoe UI"/>
              </a:rPr>
              <a:t>“₹ wapas aa gaya, aapko kuch nahi karna.”</a:t>
            </a:r>
          </a:p>
        </p:txBody>
      </p:sp>
      <p:sp>
        <p:nvSpPr>
          <p:cNvPr id="54" name="TextBox 53">
            <a:extLst>
              <a:ext uri="{FF2B5EF4-FFF2-40B4-BE49-F238E27FC236}">
                <a16:creationId xmlns:a16="http://schemas.microsoft.com/office/drawing/2014/main" id="{C9D03A59-4A2A-AC43-A7D2-C259CA8BE744}"/>
              </a:ext>
            </a:extLst>
          </p:cNvPr>
          <p:cNvSpPr txBox="1"/>
          <p:nvPr/>
        </p:nvSpPr>
        <p:spPr>
          <a:xfrm>
            <a:off x="1188720" y="557783"/>
            <a:ext cx="12801600" cy="822960"/>
          </a:xfrm>
          <a:prstGeom prst="rect">
            <a:avLst/>
          </a:prstGeom>
          <a:noFill/>
        </p:spPr>
        <p:txBody>
          <a:bodyPr wrap="square" lIns="0" tIns="0" rIns="0" bIns="0" anchor="t">
            <a:noAutofit/>
          </a:bodyPr>
          <a:lstStyle/>
          <a:p>
            <a:pPr>
              <a:lnSpc>
                <a:spcPct val="90000"/>
              </a:lnSpc>
            </a:pPr>
            <a:r>
              <a:rPr lang="en-IN" sz="5000" dirty="0">
                <a:solidFill>
                  <a:schemeClr val="accent6">
                    <a:lumMod val="75000"/>
                  </a:schemeClr>
                </a:solidFill>
                <a:latin typeface="League Spartan"/>
                <a:cs typeface="League Spartan"/>
              </a:rPr>
              <a:t>Munim</a:t>
            </a:r>
            <a:r>
              <a:rPr lang="en-IN" sz="5000" dirty="0">
                <a:solidFill>
                  <a:srgbClr val="1B3A6B"/>
                </a:solidFill>
                <a:latin typeface="League Spartan"/>
                <a:cs typeface="League Spartan"/>
              </a:rPr>
              <a:t> </a:t>
            </a:r>
            <a:r>
              <a:rPr lang="hi-IN" sz="3200" dirty="0">
                <a:solidFill>
                  <a:srgbClr val="E4873B"/>
                </a:solidFill>
                <a:latin typeface="Nirmala UI"/>
                <a:cs typeface="Nirmala UI"/>
              </a:rPr>
              <a:t>मुनीम</a:t>
            </a:r>
            <a:endParaRPr lang="en-IN" sz="3200" dirty="0"/>
          </a:p>
          <a:p>
            <a:pPr algn="l">
              <a:lnSpc>
                <a:spcPct val="90000"/>
              </a:lnSpc>
              <a:spcAft>
                <a:spcPts val="0"/>
              </a:spcAft>
            </a:pPr>
            <a:endParaRPr sz="5000" b="0" i="0" dirty="0">
              <a:solidFill>
                <a:srgbClr val="B96A1E"/>
              </a:solidFill>
              <a:latin typeface="League Spartan"/>
              <a:cs typeface="League Spart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flipH="1">
            <a:off x="16257701" y="-446605"/>
            <a:ext cx="2475974" cy="2481143"/>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V="1">
            <a:off x="17380895" y="9039441"/>
            <a:ext cx="1838238" cy="168505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5" name="Freeform 5"/>
          <p:cNvSpPr/>
          <p:nvPr/>
        </p:nvSpPr>
        <p:spPr>
          <a:xfrm flipH="1">
            <a:off x="-1143994" y="-324222"/>
            <a:ext cx="1838238" cy="1685052"/>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21" name="TextBox 4"/>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PROTOTYPE</a:t>
            </a:r>
          </a:p>
        </p:txBody>
      </p:sp>
      <p:sp>
        <p:nvSpPr>
          <p:cNvPr id="6" name="TextBox 5"/>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dirty="0">
                <a:solidFill>
                  <a:schemeClr val="tx2">
                    <a:lumMod val="75000"/>
                  </a:schemeClr>
                </a:solidFill>
                <a:latin typeface="Segoe UI"/>
                <a:cs typeface="Segoe UI"/>
              </a:rPr>
              <a:t>Paytm’s team works in the console; the merchant only ever sees the chat</a:t>
            </a:r>
          </a:p>
        </p:txBody>
      </p:sp>
      <p:sp>
        <p:nvSpPr>
          <p:cNvPr id="7" name="TextBox 6"/>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1" i="0" dirty="0">
                <a:solidFill>
                  <a:srgbClr val="000000"/>
                </a:solidFill>
                <a:latin typeface="Segoe UI"/>
                <a:cs typeface="Segoe UI"/>
              </a:rPr>
              <a:t>Screenshots from the working build: three views of the ops console for Paytm’s settlement team, and the chat in the merchant’s Paytm Business app.</a:t>
            </a:r>
          </a:p>
        </p:txBody>
      </p:sp>
      <p:sp>
        <p:nvSpPr>
          <p:cNvPr id="8" name="TextBox 7"/>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05</a:t>
            </a:r>
            <a:r>
              <a:rPr sz="1200" b="0" i="0">
                <a:solidFill>
                  <a:srgbClr val="8A6F55"/>
                </a:solidFill>
                <a:latin typeface="Segoe UI"/>
                <a:cs typeface="Segoe UI"/>
              </a:rPr>
              <a:t>   Munim   Paytm Build for India, Track 3</a:t>
            </a:r>
          </a:p>
        </p:txBody>
      </p:sp>
      <p:sp>
        <p:nvSpPr>
          <p:cNvPr id="9" name="Rectangle 8"/>
          <p:cNvSpPr/>
          <p:nvPr/>
        </p:nvSpPr>
        <p:spPr>
          <a:xfrm>
            <a:off x="1133856" y="2459736"/>
            <a:ext cx="6830568" cy="2924150"/>
          </a:xfrm>
          <a:prstGeom prst="rect">
            <a:avLst/>
          </a:prstGeom>
          <a:solidFill>
            <a:srgbClr val="1B3A6B"/>
          </a:solidFill>
          <a:ln>
            <a:noFill/>
          </a:ln>
        </p:spPr>
        <p:txBody>
          <a:bodyPr rtlCol="0" anchor="ctr"/>
          <a:lstStyle/>
          <a:p>
            <a:pPr algn="ctr"/>
            <a:endParaRPr/>
          </a:p>
        </p:txBody>
      </p:sp>
      <p:pic>
        <p:nvPicPr>
          <p:cNvPr id="24" name="Picture 23" descr="Munim ops console, live overview: the portfolio strip, Shree Ganesh Supermart with Rs 25,712 deducted wrongly and Rs 23,252 returned in the bahi ledger, and the ledger row of figures: cases proven, leakage stopped, false claims"/>
          <p:cNvPicPr>
            <a:picLocks noChangeAspect="1"/>
          </p:cNvPicPr>
          <p:nvPr/>
        </p:nvPicPr>
        <p:blipFill>
          <a:blip r:embed="rId5"/>
          <a:stretch>
            <a:fillRect/>
          </a:stretch>
        </p:blipFill>
        <p:spPr>
          <a:xfrm>
            <a:off x="1188720" y="2514600"/>
            <a:ext cx="6720840" cy="2814422"/>
          </a:xfrm>
          <a:prstGeom prst="rect">
            <a:avLst/>
          </a:prstGeom>
        </p:spPr>
      </p:pic>
      <p:sp>
        <p:nvSpPr>
          <p:cNvPr id="11" name="Rounded Rectangle 10"/>
          <p:cNvSpPr/>
          <p:nvPr/>
        </p:nvSpPr>
        <p:spPr>
          <a:xfrm>
            <a:off x="1188720" y="5457038"/>
            <a:ext cx="6720840" cy="384048"/>
          </a:xfrm>
          <a:prstGeom prst="roundRect">
            <a:avLst>
              <a:gd name="adj" fmla="val 50000"/>
            </a:avLst>
          </a:prstGeom>
          <a:solidFill>
            <a:srgbClr val="1B3A6B"/>
          </a:solidFill>
          <a:ln>
            <a:noFill/>
          </a:ln>
        </p:spPr>
        <p:txBody>
          <a:bodyPr wrap="none" lIns="164592" tIns="0" rIns="109728" bIns="0" rtlCol="0" anchor="ctr"/>
          <a:lstStyle/>
          <a:p>
            <a:pPr algn="l"/>
            <a:r>
              <a:rPr sz="1200">
                <a:solidFill>
                  <a:srgbClr val="F4C542"/>
                </a:solidFill>
                <a:latin typeface="Segoe UI Semibold"/>
              </a:rPr>
              <a:t>1   </a:t>
            </a:r>
            <a:r>
              <a:rPr sz="1200">
                <a:solidFill>
                  <a:srgbClr val="FFFFFF"/>
                </a:solidFill>
                <a:latin typeface="Segoe UI Semibold"/>
              </a:rPr>
              <a:t>Live overview: every merchant, money found and returned, agents at work</a:t>
            </a:r>
          </a:p>
        </p:txBody>
      </p:sp>
      <p:sp>
        <p:nvSpPr>
          <p:cNvPr id="12" name="Rectangle 11"/>
          <p:cNvSpPr/>
          <p:nvPr/>
        </p:nvSpPr>
        <p:spPr>
          <a:xfrm>
            <a:off x="1133856" y="5998464"/>
            <a:ext cx="6830568" cy="2943134"/>
          </a:xfrm>
          <a:prstGeom prst="rect">
            <a:avLst/>
          </a:prstGeom>
          <a:solidFill>
            <a:srgbClr val="1B3A6B"/>
          </a:solidFill>
          <a:ln>
            <a:noFill/>
          </a:ln>
        </p:spPr>
        <p:txBody>
          <a:bodyPr rtlCol="0" anchor="ctr"/>
          <a:lstStyle/>
          <a:p>
            <a:pPr algn="ctr"/>
            <a:endParaRPr/>
          </a:p>
        </p:txBody>
      </p:sp>
      <p:pic>
        <p:nvPicPr>
          <p:cNvPr id="25" name="Picture 24" descr="Munim ops console, Needs decision tab: a wallet interchange charge Munim could not prove from published rules, waiting for a person with File on my authority and Dismiss buttons"/>
          <p:cNvPicPr>
            <a:picLocks noChangeAspect="1"/>
          </p:cNvPicPr>
          <p:nvPr/>
        </p:nvPicPr>
        <p:blipFill>
          <a:blip r:embed="rId6"/>
          <a:stretch>
            <a:fillRect/>
          </a:stretch>
        </p:blipFill>
        <p:spPr>
          <a:xfrm>
            <a:off x="1188720" y="6053328"/>
            <a:ext cx="6720840" cy="2833406"/>
          </a:xfrm>
          <a:prstGeom prst="rect">
            <a:avLst/>
          </a:prstGeom>
        </p:spPr>
      </p:pic>
      <p:sp>
        <p:nvSpPr>
          <p:cNvPr id="14" name="Rounded Rectangle 13"/>
          <p:cNvSpPr/>
          <p:nvPr/>
        </p:nvSpPr>
        <p:spPr>
          <a:xfrm>
            <a:off x="1188720" y="9014750"/>
            <a:ext cx="6720840" cy="384048"/>
          </a:xfrm>
          <a:prstGeom prst="roundRect">
            <a:avLst>
              <a:gd name="adj" fmla="val 50000"/>
            </a:avLst>
          </a:prstGeom>
          <a:solidFill>
            <a:srgbClr val="1B3A6B"/>
          </a:solidFill>
          <a:ln>
            <a:noFill/>
          </a:ln>
        </p:spPr>
        <p:txBody>
          <a:bodyPr wrap="none" lIns="164592" tIns="0" rIns="109728" bIns="0" rtlCol="0" anchor="ctr"/>
          <a:lstStyle/>
          <a:p>
            <a:pPr algn="l"/>
            <a:r>
              <a:rPr sz="1200">
                <a:solidFill>
                  <a:srgbClr val="F4C542"/>
                </a:solidFill>
                <a:latin typeface="Segoe UI Semibold"/>
              </a:rPr>
              <a:t>2   </a:t>
            </a:r>
            <a:r>
              <a:rPr sz="1200">
                <a:solidFill>
                  <a:srgbClr val="FFFFFF"/>
                </a:solidFill>
                <a:latin typeface="Segoe UI Semibold"/>
              </a:rPr>
              <a:t>Human review: what Munim could not prove waits for a person</a:t>
            </a:r>
          </a:p>
        </p:txBody>
      </p:sp>
      <p:sp>
        <p:nvSpPr>
          <p:cNvPr id="15" name="Rectangle 14"/>
          <p:cNvSpPr/>
          <p:nvPr/>
        </p:nvSpPr>
        <p:spPr>
          <a:xfrm>
            <a:off x="8220456" y="2459736"/>
            <a:ext cx="4323146" cy="6464808"/>
          </a:xfrm>
          <a:prstGeom prst="rect">
            <a:avLst/>
          </a:prstGeom>
          <a:solidFill>
            <a:srgbClr val="1B3A6B"/>
          </a:solidFill>
          <a:ln>
            <a:noFill/>
          </a:ln>
        </p:spPr>
        <p:txBody>
          <a:bodyPr rtlCol="0" anchor="ctr"/>
          <a:lstStyle/>
          <a:p>
            <a:pPr algn="ctr"/>
            <a:endParaRPr/>
          </a:p>
        </p:txBody>
      </p:sp>
      <p:pic>
        <p:nvPicPr>
          <p:cNvPr id="26" name="Picture 25" descr="Munim case detail for CASE-00042, MDR on a nil-MDR UPI payment: the payments, the settlement lines with MDR and GST, the matching bank credit and the detection reasoning"/>
          <p:cNvPicPr>
            <a:picLocks noChangeAspect="1"/>
          </p:cNvPicPr>
          <p:nvPr/>
        </p:nvPicPr>
        <p:blipFill>
          <a:blip r:embed="rId7"/>
          <a:stretch>
            <a:fillRect/>
          </a:stretch>
        </p:blipFill>
        <p:spPr>
          <a:xfrm>
            <a:off x="8275320" y="2514600"/>
            <a:ext cx="4213418" cy="6355080"/>
          </a:xfrm>
          <a:prstGeom prst="rect">
            <a:avLst/>
          </a:prstGeom>
        </p:spPr>
      </p:pic>
      <p:sp>
        <p:nvSpPr>
          <p:cNvPr id="17" name="Rounded Rectangle 16"/>
          <p:cNvSpPr/>
          <p:nvPr/>
        </p:nvSpPr>
        <p:spPr>
          <a:xfrm>
            <a:off x="8275320" y="8997696"/>
            <a:ext cx="4213418" cy="384048"/>
          </a:xfrm>
          <a:prstGeom prst="roundRect">
            <a:avLst>
              <a:gd name="adj" fmla="val 50000"/>
            </a:avLst>
          </a:prstGeom>
          <a:solidFill>
            <a:srgbClr val="1B3A6B"/>
          </a:solidFill>
          <a:ln>
            <a:noFill/>
          </a:ln>
        </p:spPr>
        <p:txBody>
          <a:bodyPr wrap="none" lIns="164592" tIns="0" rIns="109728" bIns="0" rtlCol="0" anchor="ctr"/>
          <a:lstStyle/>
          <a:p>
            <a:pPr algn="l"/>
            <a:r>
              <a:rPr sz="1200">
                <a:solidFill>
                  <a:srgbClr val="F4C542"/>
                </a:solidFill>
                <a:latin typeface="Segoe UI Semibold"/>
              </a:rPr>
              <a:t>3   </a:t>
            </a:r>
            <a:r>
              <a:rPr sz="1200">
                <a:solidFill>
                  <a:srgbClr val="FFFFFF"/>
                </a:solidFill>
                <a:latin typeface="Segoe UI Semibold"/>
              </a:rPr>
              <a:t>Case proof: payments, rule, bank credit</a:t>
            </a:r>
          </a:p>
        </p:txBody>
      </p:sp>
      <p:sp>
        <p:nvSpPr>
          <p:cNvPr id="18" name="Rounded Rectangle 17"/>
          <p:cNvSpPr/>
          <p:nvPr/>
        </p:nvSpPr>
        <p:spPr>
          <a:xfrm>
            <a:off x="13350240" y="2651760"/>
            <a:ext cx="3154680" cy="6217920"/>
          </a:xfrm>
          <a:prstGeom prst="roundRect">
            <a:avLst>
              <a:gd name="adj" fmla="val 8000"/>
            </a:avLst>
          </a:prstGeom>
          <a:solidFill>
            <a:srgbClr val="1B1B1F"/>
          </a:solidFill>
          <a:ln>
            <a:noFill/>
          </a:ln>
        </p:spPr>
        <p:txBody>
          <a:bodyPr rtlCol="0" anchor="ctr"/>
          <a:lstStyle/>
          <a:p>
            <a:pPr algn="ctr"/>
            <a:endParaRPr/>
          </a:p>
        </p:txBody>
      </p:sp>
      <p:pic>
        <p:nvPicPr>
          <p:cNvPr id="19" name="Picture 18" descr="Munim merchant chat in the Paytm Business app: Paytm's first message, in Hinglish, telling the merchant Rs 23,252.93 has been returned, with cards for cases that need the merchant's decision"/>
          <p:cNvPicPr>
            <a:picLocks noChangeAspect="1"/>
          </p:cNvPicPr>
          <p:nvPr/>
        </p:nvPicPr>
        <p:blipFill>
          <a:blip r:embed="rId8"/>
          <a:stretch>
            <a:fillRect/>
          </a:stretch>
        </p:blipFill>
        <p:spPr>
          <a:xfrm>
            <a:off x="13441680" y="2788920"/>
            <a:ext cx="2971800" cy="5943600"/>
          </a:xfrm>
          <a:prstGeom prst="rect">
            <a:avLst/>
          </a:prstGeom>
        </p:spPr>
      </p:pic>
      <p:sp>
        <p:nvSpPr>
          <p:cNvPr id="20" name="Rounded Rectangle 19"/>
          <p:cNvSpPr/>
          <p:nvPr/>
        </p:nvSpPr>
        <p:spPr>
          <a:xfrm>
            <a:off x="13121640" y="8997696"/>
            <a:ext cx="3611880" cy="384048"/>
          </a:xfrm>
          <a:prstGeom prst="roundRect">
            <a:avLst>
              <a:gd name="adj" fmla="val 50000"/>
            </a:avLst>
          </a:prstGeom>
          <a:solidFill>
            <a:srgbClr val="1B3A6B"/>
          </a:solidFill>
          <a:ln>
            <a:noFill/>
          </a:ln>
        </p:spPr>
        <p:txBody>
          <a:bodyPr wrap="none" lIns="164592" tIns="0" rIns="109728" bIns="0" rtlCol="0" anchor="ctr"/>
          <a:lstStyle/>
          <a:p>
            <a:pPr algn="l"/>
            <a:r>
              <a:rPr sz="1200">
                <a:solidFill>
                  <a:srgbClr val="F4C542"/>
                </a:solidFill>
                <a:latin typeface="Segoe UI Semibold"/>
              </a:rPr>
              <a:t>4   </a:t>
            </a:r>
            <a:r>
              <a:rPr sz="1200">
                <a:solidFill>
                  <a:srgbClr val="FFFFFF"/>
                </a:solidFill>
                <a:latin typeface="Segoe UI Semibold"/>
              </a:rPr>
              <a:t>Merchant chat: Paytm speaks first</a:t>
            </a:r>
          </a:p>
        </p:txBody>
      </p:sp>
      <p:sp>
        <p:nvSpPr>
          <p:cNvPr id="23" name="GitHub link">
            <a:hlinkClick r:id="rId9"/>
            <a:extLst>
              <a:ext uri="{FF2B5EF4-FFF2-40B4-BE49-F238E27FC236}">
                <a16:creationId xmlns:a16="http://schemas.microsoft.com/office/drawing/2014/main" id="{27488896-0ED2-AF73-D102-8755EF076F6B}"/>
              </a:ext>
            </a:extLst>
          </p:cNvPr>
          <p:cNvSpPr/>
          <p:nvPr/>
        </p:nvSpPr>
        <p:spPr>
          <a:xfrm>
            <a:off x="12279615" y="65904"/>
            <a:ext cx="4315968" cy="284045"/>
          </a:xfrm>
          <a:prstGeom prst="roundRect">
            <a:avLst>
              <a:gd name="adj" fmla="val 50000"/>
            </a:avLst>
          </a:prstGeom>
          <a:solidFill>
            <a:schemeClr val="tx2">
              <a:lumMod val="20000"/>
              <a:lumOff val="80000"/>
            </a:schemeClr>
          </a:solidFill>
          <a:ln>
            <a:noFill/>
          </a:ln>
        </p:spPr>
        <p:txBody>
          <a:bodyPr wrap="none" lIns="566928" tIns="0" rIns="137160" bIns="0" rtlCol="0" anchor="ctr"/>
          <a:lstStyle/>
          <a:p>
            <a:pPr algn="l"/>
            <a:r>
              <a:rPr sz="1500" dirty="0">
                <a:latin typeface="Segoe UI Semibold"/>
              </a:rPr>
              <a:t>GitHub   </a:t>
            </a:r>
            <a:r>
              <a:rPr sz="1500" dirty="0">
                <a:latin typeface="Segoe UI"/>
              </a:rPr>
              <a:t>github.com/Ajbit07/</a:t>
            </a:r>
            <a:r>
              <a:rPr sz="1500" dirty="0" err="1">
                <a:latin typeface="Segoe UI"/>
              </a:rPr>
              <a:t>munim</a:t>
            </a:r>
            <a:endParaRPr sz="1500" dirty="0">
              <a:latin typeface="Segoe UI"/>
            </a:endParaRPr>
          </a:p>
        </p:txBody>
      </p:sp>
      <p:sp>
        <p:nvSpPr>
          <p:cNvPr id="13" name="GitHub link">
            <a:hlinkClick r:id="rId10"/>
            <a:extLst>
              <a:ext uri="{FF2B5EF4-FFF2-40B4-BE49-F238E27FC236}">
                <a16:creationId xmlns:a16="http://schemas.microsoft.com/office/drawing/2014/main" id="{55CA792A-8F28-CE0A-F18A-98476059387A}"/>
              </a:ext>
            </a:extLst>
          </p:cNvPr>
          <p:cNvSpPr/>
          <p:nvPr/>
        </p:nvSpPr>
        <p:spPr>
          <a:xfrm>
            <a:off x="4191000" y="9705966"/>
            <a:ext cx="5887517" cy="271018"/>
          </a:xfrm>
          <a:prstGeom prst="roundRect">
            <a:avLst>
              <a:gd name="adj" fmla="val 50000"/>
            </a:avLst>
          </a:prstGeom>
          <a:solidFill>
            <a:schemeClr val="accent2">
              <a:lumMod val="60000"/>
              <a:lumOff val="40000"/>
            </a:schemeClr>
          </a:solidFill>
          <a:ln>
            <a:noFill/>
          </a:ln>
        </p:spPr>
        <p:txBody>
          <a:bodyPr wrap="none" lIns="566928" tIns="0" rIns="137160" bIns="0" rtlCol="0" anchor="ctr"/>
          <a:lstStyle/>
          <a:p>
            <a:pPr algn="l"/>
            <a:r>
              <a:rPr lang="en-IN" sz="1500" dirty="0">
                <a:solidFill>
                  <a:srgbClr val="F4C542"/>
                </a:solidFill>
                <a:latin typeface="Segoe UI Semibold"/>
              </a:rPr>
              <a:t>Click here for</a:t>
            </a:r>
            <a:r>
              <a:rPr sz="1500" dirty="0">
                <a:solidFill>
                  <a:srgbClr val="F4C542"/>
                </a:solidFill>
                <a:latin typeface="Segoe UI Semibold"/>
              </a:rPr>
              <a:t>   </a:t>
            </a:r>
            <a:r>
              <a:rPr lang="en-IN" sz="1500" b="1" dirty="0">
                <a:latin typeface="Segoe UI"/>
              </a:rPr>
              <a:t>Demo Video Showing Working of Munim </a:t>
            </a:r>
            <a:endParaRPr sz="1500" b="1" dirty="0">
              <a:latin typeface="Segoe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rot="-5400000" flipV="1">
            <a:off x="17692731" y="-932307"/>
            <a:ext cx="1654414" cy="1516546"/>
          </a:xfrm>
          <a:custGeom>
            <a:avLst/>
            <a:gdLst/>
            <a:ahLst/>
            <a:cxnLst/>
            <a:rect l="l" t="t" r="r" b="b"/>
            <a:pathLst>
              <a:path w="3676477" h="3370104">
                <a:moveTo>
                  <a:pt x="0" y="3370104"/>
                </a:moveTo>
                <a:lnTo>
                  <a:pt x="3676476" y="3370104"/>
                </a:lnTo>
                <a:lnTo>
                  <a:pt x="3676476" y="0"/>
                </a:lnTo>
                <a:lnTo>
                  <a:pt x="0" y="0"/>
                </a:lnTo>
                <a:lnTo>
                  <a:pt x="0" y="337010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H="1">
            <a:off x="-846388" y="8793780"/>
            <a:ext cx="2367676" cy="2170370"/>
          </a:xfrm>
          <a:custGeom>
            <a:avLst/>
            <a:gdLst/>
            <a:ahLst/>
            <a:cxnLst/>
            <a:rect l="l" t="t" r="r" b="b"/>
            <a:pathLst>
              <a:path w="5261504" h="4823045">
                <a:moveTo>
                  <a:pt x="5261504" y="0"/>
                </a:moveTo>
                <a:lnTo>
                  <a:pt x="0" y="0"/>
                </a:lnTo>
                <a:lnTo>
                  <a:pt x="0" y="4823045"/>
                </a:lnTo>
                <a:lnTo>
                  <a:pt x="5261504" y="4823045"/>
                </a:lnTo>
                <a:lnTo>
                  <a:pt x="526150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5" name="TextBox 4"/>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TECHNICAL APPROACH</a:t>
            </a:r>
          </a:p>
        </p:txBody>
      </p:sp>
      <p:sp>
        <p:nvSpPr>
          <p:cNvPr id="6" name="TextBox 5"/>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dirty="0">
                <a:solidFill>
                  <a:schemeClr val="tx2">
                    <a:lumMod val="75000"/>
                  </a:schemeClr>
                </a:solidFill>
                <a:latin typeface="Segoe UI"/>
                <a:cs typeface="Segoe UI"/>
              </a:rPr>
              <a:t>Seven steps, three agents, and one gate nothing can skip</a:t>
            </a:r>
          </a:p>
        </p:txBody>
      </p:sp>
      <p:sp>
        <p:nvSpPr>
          <p:cNvPr id="7" name="TextBox 6"/>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1" i="0" dirty="0">
                <a:solidFill>
                  <a:srgbClr val="000000"/>
                </a:solidFill>
                <a:latin typeface="Segoe UI"/>
                <a:cs typeface="Segoe UI"/>
              </a:rPr>
              <a:t>The agents choose what to look at and what to do next, but plain code decides whether money is owed, and every step goes into a log we can replay.</a:t>
            </a:r>
          </a:p>
        </p:txBody>
      </p:sp>
      <p:sp>
        <p:nvSpPr>
          <p:cNvPr id="8" name="TextBox 7"/>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06</a:t>
            </a:r>
            <a:r>
              <a:rPr sz="1200" b="0" i="0">
                <a:solidFill>
                  <a:srgbClr val="8A6F55"/>
                </a:solidFill>
                <a:latin typeface="Segoe UI"/>
                <a:cs typeface="Segoe UI"/>
              </a:rPr>
              <a:t>   Munim   Paytm Build for India, Track 3</a:t>
            </a:r>
          </a:p>
        </p:txBody>
      </p:sp>
      <p:sp>
        <p:nvSpPr>
          <p:cNvPr id="9" name="Rounded Rectangle 8"/>
          <p:cNvSpPr/>
          <p:nvPr/>
        </p:nvSpPr>
        <p:spPr>
          <a:xfrm>
            <a:off x="1188720" y="2468880"/>
            <a:ext cx="2286000" cy="1115568"/>
          </a:xfrm>
          <a:prstGeom prst="roundRect">
            <a:avLst>
              <a:gd name="adj" fmla="val 10000"/>
            </a:avLst>
          </a:prstGeom>
          <a:solidFill>
            <a:srgbClr val="FFFFFF"/>
          </a:solidFill>
          <a:ln w="25400">
            <a:solidFill>
              <a:srgbClr val="F4C542"/>
            </a:solidFill>
          </a:ln>
        </p:spPr>
        <p:txBody>
          <a:bodyPr wrap="square" lIns="137160" tIns="36576" bIns="36576" rtlCol="0" anchor="ctr">
            <a:noAutofit/>
          </a:bodyPr>
          <a:lstStyle/>
          <a:p>
            <a:pPr algn="l">
              <a:lnSpc>
                <a:spcPct val="112000"/>
              </a:lnSpc>
              <a:spcAft>
                <a:spcPts val="200"/>
              </a:spcAft>
            </a:pPr>
            <a:r>
              <a:rPr sz="1600" b="0" i="0">
                <a:solidFill>
                  <a:srgbClr val="3D2410"/>
                </a:solidFill>
                <a:latin typeface="Segoe UI Semibold"/>
                <a:cs typeface="Segoe UI Semibold"/>
              </a:rPr>
              <a:t>Monitor Agent</a:t>
            </a:r>
          </a:p>
          <a:p>
            <a:pPr algn="l">
              <a:lnSpc>
                <a:spcPct val="112000"/>
              </a:lnSpc>
              <a:spcAft>
                <a:spcPts val="0"/>
              </a:spcAft>
            </a:pPr>
            <a:r>
              <a:rPr sz="1250" b="0" i="0">
                <a:solidFill>
                  <a:srgbClr val="8A6F55"/>
                </a:solidFill>
                <a:latin typeface="Segoe UI"/>
                <a:cs typeface="Segoe UI"/>
              </a:rPr>
              <a:t>What needs attention?</a:t>
            </a:r>
          </a:p>
        </p:txBody>
      </p:sp>
      <p:sp>
        <p:nvSpPr>
          <p:cNvPr id="10" name="Rounded Rectangle 9"/>
          <p:cNvSpPr/>
          <p:nvPr/>
        </p:nvSpPr>
        <p:spPr>
          <a:xfrm>
            <a:off x="3520440" y="2468880"/>
            <a:ext cx="4471416" cy="1115568"/>
          </a:xfrm>
          <a:prstGeom prst="roundRect">
            <a:avLst>
              <a:gd name="adj" fmla="val 10000"/>
            </a:avLst>
          </a:prstGeom>
          <a:solidFill>
            <a:srgbClr val="FFFFFF"/>
          </a:solidFill>
          <a:ln w="25400">
            <a:solidFill>
              <a:srgbClr val="E4873B"/>
            </a:solidFill>
          </a:ln>
        </p:spPr>
        <p:txBody>
          <a:bodyPr wrap="square" lIns="137160" tIns="36576" bIns="36576" rtlCol="0" anchor="ctr">
            <a:noAutofit/>
          </a:bodyPr>
          <a:lstStyle/>
          <a:p>
            <a:pPr algn="l">
              <a:lnSpc>
                <a:spcPct val="112000"/>
              </a:lnSpc>
              <a:spcAft>
                <a:spcPts val="200"/>
              </a:spcAft>
            </a:pPr>
            <a:r>
              <a:rPr sz="1600" b="0" i="0">
                <a:solidFill>
                  <a:srgbClr val="3D2410"/>
                </a:solidFill>
                <a:latin typeface="Segoe UI Semibold"/>
                <a:cs typeface="Segoe UI Semibold"/>
              </a:rPr>
              <a:t>Investigation Agent</a:t>
            </a:r>
          </a:p>
          <a:p>
            <a:pPr algn="l">
              <a:lnSpc>
                <a:spcPct val="112000"/>
              </a:lnSpc>
              <a:spcAft>
                <a:spcPts val="0"/>
              </a:spcAft>
            </a:pPr>
            <a:r>
              <a:rPr sz="1250" b="0" i="0">
                <a:solidFill>
                  <a:srgbClr val="8A6F55"/>
                </a:solidFill>
                <a:latin typeface="Segoe UI"/>
                <a:cs typeface="Segoe UI"/>
              </a:rPr>
              <a:t>What happened, and can we prove it?</a:t>
            </a:r>
          </a:p>
        </p:txBody>
      </p:sp>
      <p:sp>
        <p:nvSpPr>
          <p:cNvPr id="11" name="Rounded Rectangle 10"/>
          <p:cNvSpPr/>
          <p:nvPr/>
        </p:nvSpPr>
        <p:spPr>
          <a:xfrm>
            <a:off x="8037576" y="2468880"/>
            <a:ext cx="8988552" cy="1115568"/>
          </a:xfrm>
          <a:prstGeom prst="roundRect">
            <a:avLst>
              <a:gd name="adj" fmla="val 10000"/>
            </a:avLst>
          </a:prstGeom>
          <a:solidFill>
            <a:schemeClr val="accent1">
              <a:lumMod val="20000"/>
              <a:lumOff val="80000"/>
            </a:schemeClr>
          </a:solidFill>
          <a:ln w="25400">
            <a:solidFill>
              <a:schemeClr val="tx2"/>
            </a:solidFill>
          </a:ln>
        </p:spPr>
        <p:txBody>
          <a:bodyPr wrap="square" lIns="137160" tIns="36576" bIns="36576" rtlCol="0" anchor="ctr">
            <a:noAutofit/>
          </a:bodyPr>
          <a:lstStyle/>
          <a:p>
            <a:pPr algn="l">
              <a:lnSpc>
                <a:spcPct val="112000"/>
              </a:lnSpc>
              <a:spcAft>
                <a:spcPts val="200"/>
              </a:spcAft>
            </a:pPr>
            <a:r>
              <a:rPr sz="1600" b="0" i="0">
                <a:solidFill>
                  <a:srgbClr val="B96A1E"/>
                </a:solidFill>
                <a:latin typeface="Segoe UI Semibold"/>
                <a:cs typeface="Segoe UI Semibold"/>
              </a:rPr>
              <a:t>Follow-up Agent</a:t>
            </a:r>
          </a:p>
          <a:p>
            <a:pPr algn="l">
              <a:lnSpc>
                <a:spcPct val="112000"/>
              </a:lnSpc>
              <a:spcAft>
                <a:spcPts val="0"/>
              </a:spcAft>
            </a:pPr>
            <a:r>
              <a:rPr sz="1250" b="0" i="0">
                <a:solidFill>
                  <a:srgbClr val="8A6F55"/>
                </a:solidFill>
                <a:latin typeface="Segoe UI"/>
                <a:cs typeface="Segoe UI"/>
              </a:rPr>
              <a:t>What’s next, and can I finish it alone?</a:t>
            </a:r>
          </a:p>
        </p:txBody>
      </p:sp>
      <p:sp>
        <p:nvSpPr>
          <p:cNvPr id="12" name="Pentagon 11"/>
          <p:cNvSpPr/>
          <p:nvPr/>
        </p:nvSpPr>
        <p:spPr>
          <a:xfrm>
            <a:off x="1188720" y="3840480"/>
            <a:ext cx="2395728" cy="1005840"/>
          </a:xfrm>
          <a:prstGeom prst="homePlate">
            <a:avLst>
              <a:gd name="adj" fmla="val 32000"/>
            </a:avLst>
          </a:prstGeom>
          <a:solidFill>
            <a:srgbClr val="F4C542"/>
          </a:solidFill>
          <a:ln>
            <a:noFill/>
          </a:ln>
        </p:spPr>
        <p:txBody>
          <a:bodyPr wrap="square" tIns="0" rIns="228600" bIns="0" rtlCol="0" anchor="ctr">
            <a:noAutofit/>
          </a:bodyPr>
          <a:lstStyle/>
          <a:p>
            <a:pPr algn="ctr">
              <a:lnSpc>
                <a:spcPct val="112000"/>
              </a:lnSpc>
              <a:spcAft>
                <a:spcPts val="0"/>
              </a:spcAft>
            </a:pPr>
            <a:r>
              <a:rPr sz="1800" b="0" i="0">
                <a:solidFill>
                  <a:srgbClr val="3D2410"/>
                </a:solidFill>
                <a:latin typeface="Segoe UI Semibold"/>
                <a:cs typeface="Segoe UI Semibold"/>
              </a:rPr>
              <a:t>Discover</a:t>
            </a:r>
          </a:p>
        </p:txBody>
      </p:sp>
      <p:sp>
        <p:nvSpPr>
          <p:cNvPr id="13" name="Chevron 12"/>
          <p:cNvSpPr/>
          <p:nvPr/>
        </p:nvSpPr>
        <p:spPr>
          <a:xfrm>
            <a:off x="3447288" y="3840480"/>
            <a:ext cx="2478024" cy="1005840"/>
          </a:xfrm>
          <a:prstGeom prst="chevron">
            <a:avLst>
              <a:gd name="adj" fmla="val 32000"/>
            </a:avLst>
          </a:prstGeom>
          <a:solidFill>
            <a:srgbClr val="E4873B"/>
          </a:solidFill>
          <a:ln>
            <a:noFill/>
          </a:ln>
        </p:spPr>
        <p:txBody>
          <a:bodyPr wrap="square" lIns="274320" tIns="0" rIns="228600" bIns="0" rtlCol="0" anchor="ctr">
            <a:noAutofit/>
          </a:bodyPr>
          <a:lstStyle/>
          <a:p>
            <a:pPr algn="ctr">
              <a:lnSpc>
                <a:spcPct val="112000"/>
              </a:lnSpc>
              <a:spcAft>
                <a:spcPts val="0"/>
              </a:spcAft>
            </a:pPr>
            <a:r>
              <a:rPr sz="1800" b="0" i="0">
                <a:solidFill>
                  <a:srgbClr val="3D2410"/>
                </a:solidFill>
                <a:latin typeface="Segoe UI Semibold"/>
                <a:cs typeface="Segoe UI Semibold"/>
              </a:rPr>
              <a:t>Investigate</a:t>
            </a:r>
          </a:p>
        </p:txBody>
      </p:sp>
      <p:sp>
        <p:nvSpPr>
          <p:cNvPr id="14" name="Chevron 13"/>
          <p:cNvSpPr/>
          <p:nvPr/>
        </p:nvSpPr>
        <p:spPr>
          <a:xfrm>
            <a:off x="5705856" y="3840480"/>
            <a:ext cx="2395728" cy="1005840"/>
          </a:xfrm>
          <a:prstGeom prst="chevron">
            <a:avLst>
              <a:gd name="adj" fmla="val 32000"/>
            </a:avLst>
          </a:prstGeom>
          <a:solidFill>
            <a:schemeClr val="accent3">
              <a:lumMod val="50000"/>
            </a:schemeClr>
          </a:solidFill>
          <a:ln>
            <a:noFill/>
          </a:ln>
        </p:spPr>
        <p:txBody>
          <a:bodyPr wrap="square" lIns="274320" tIns="0" rIns="228600" bIns="0" rtlCol="0" anchor="ctr">
            <a:noAutofit/>
          </a:bodyPr>
          <a:lstStyle/>
          <a:p>
            <a:pPr algn="ctr">
              <a:lnSpc>
                <a:spcPct val="112000"/>
              </a:lnSpc>
              <a:spcAft>
                <a:spcPts val="0"/>
              </a:spcAft>
            </a:pPr>
            <a:r>
              <a:rPr sz="1800" b="0" i="0" dirty="0">
                <a:solidFill>
                  <a:srgbClr val="F4C542"/>
                </a:solidFill>
                <a:latin typeface="Segoe UI Semibold"/>
                <a:cs typeface="Segoe UI Semibold"/>
              </a:rPr>
              <a:t>Prove</a:t>
            </a:r>
          </a:p>
        </p:txBody>
      </p:sp>
      <p:sp>
        <p:nvSpPr>
          <p:cNvPr id="15" name="Chevron 14"/>
          <p:cNvSpPr/>
          <p:nvPr/>
        </p:nvSpPr>
        <p:spPr>
          <a:xfrm>
            <a:off x="7964424" y="3840480"/>
            <a:ext cx="2395728" cy="1005840"/>
          </a:xfrm>
          <a:prstGeom prst="chevron">
            <a:avLst>
              <a:gd name="adj" fmla="val 32000"/>
            </a:avLst>
          </a:prstGeom>
          <a:solidFill>
            <a:schemeClr val="accent1"/>
          </a:solidFill>
          <a:ln>
            <a:noFill/>
          </a:ln>
        </p:spPr>
        <p:txBody>
          <a:bodyPr wrap="square" lIns="274320" tIns="0" rIns="228600" bIns="0" rtlCol="0" anchor="ctr">
            <a:noAutofit/>
          </a:bodyPr>
          <a:lstStyle/>
          <a:p>
            <a:pPr algn="ctr">
              <a:lnSpc>
                <a:spcPct val="112000"/>
              </a:lnSpc>
              <a:spcAft>
                <a:spcPts val="0"/>
              </a:spcAft>
            </a:pPr>
            <a:r>
              <a:rPr sz="1800" b="0" i="0">
                <a:solidFill>
                  <a:srgbClr val="FFFFFF"/>
                </a:solidFill>
                <a:latin typeface="Segoe UI Semibold"/>
                <a:cs typeface="Segoe UI Semibold"/>
              </a:rPr>
              <a:t>Act</a:t>
            </a:r>
          </a:p>
        </p:txBody>
      </p:sp>
      <p:sp>
        <p:nvSpPr>
          <p:cNvPr id="16" name="Chevron 15"/>
          <p:cNvSpPr/>
          <p:nvPr/>
        </p:nvSpPr>
        <p:spPr>
          <a:xfrm>
            <a:off x="10222992" y="3840480"/>
            <a:ext cx="2395728" cy="1005840"/>
          </a:xfrm>
          <a:prstGeom prst="chevron">
            <a:avLst>
              <a:gd name="adj" fmla="val 32000"/>
            </a:avLst>
          </a:prstGeom>
          <a:solidFill>
            <a:srgbClr val="B96A1E"/>
          </a:solidFill>
          <a:ln>
            <a:noFill/>
          </a:ln>
        </p:spPr>
        <p:txBody>
          <a:bodyPr wrap="square" lIns="274320" tIns="0" rIns="228600" bIns="0" rtlCol="0" anchor="ctr">
            <a:noAutofit/>
          </a:bodyPr>
          <a:lstStyle/>
          <a:p>
            <a:pPr algn="ctr">
              <a:lnSpc>
                <a:spcPct val="112000"/>
              </a:lnSpc>
              <a:spcAft>
                <a:spcPts val="0"/>
              </a:spcAft>
            </a:pPr>
            <a:r>
              <a:rPr sz="1800" b="0" i="0">
                <a:solidFill>
                  <a:srgbClr val="FFFFFF"/>
                </a:solidFill>
                <a:latin typeface="Segoe UI Semibold"/>
                <a:cs typeface="Segoe UI Semibold"/>
              </a:rPr>
              <a:t>Follow up</a:t>
            </a:r>
          </a:p>
        </p:txBody>
      </p:sp>
      <p:sp>
        <p:nvSpPr>
          <p:cNvPr id="17" name="Chevron 16"/>
          <p:cNvSpPr/>
          <p:nvPr/>
        </p:nvSpPr>
        <p:spPr>
          <a:xfrm>
            <a:off x="12481560" y="3840480"/>
            <a:ext cx="2395728" cy="1005840"/>
          </a:xfrm>
          <a:prstGeom prst="chevron">
            <a:avLst>
              <a:gd name="adj" fmla="val 32000"/>
            </a:avLst>
          </a:prstGeom>
          <a:solidFill>
            <a:schemeClr val="accent1"/>
          </a:solidFill>
          <a:ln>
            <a:noFill/>
          </a:ln>
        </p:spPr>
        <p:txBody>
          <a:bodyPr wrap="square" lIns="274320" tIns="0" rIns="228600" bIns="0" rtlCol="0" anchor="ctr">
            <a:noAutofit/>
          </a:bodyPr>
          <a:lstStyle/>
          <a:p>
            <a:pPr algn="ctr">
              <a:lnSpc>
                <a:spcPct val="112000"/>
              </a:lnSpc>
              <a:spcAft>
                <a:spcPts val="0"/>
              </a:spcAft>
            </a:pPr>
            <a:r>
              <a:rPr sz="1800" b="0" i="0">
                <a:solidFill>
                  <a:srgbClr val="FFFFFF"/>
                </a:solidFill>
                <a:latin typeface="Segoe UI Semibold"/>
                <a:cs typeface="Segoe UI Semibold"/>
              </a:rPr>
              <a:t>Recover</a:t>
            </a:r>
          </a:p>
        </p:txBody>
      </p:sp>
      <p:sp>
        <p:nvSpPr>
          <p:cNvPr id="18" name="Chevron 17"/>
          <p:cNvSpPr/>
          <p:nvPr/>
        </p:nvSpPr>
        <p:spPr>
          <a:xfrm>
            <a:off x="14740128" y="3840480"/>
            <a:ext cx="2395728" cy="1005840"/>
          </a:xfrm>
          <a:prstGeom prst="chevron">
            <a:avLst>
              <a:gd name="adj" fmla="val 32000"/>
            </a:avLst>
          </a:prstGeom>
          <a:solidFill>
            <a:srgbClr val="B96A1E"/>
          </a:solidFill>
          <a:ln>
            <a:noFill/>
          </a:ln>
        </p:spPr>
        <p:txBody>
          <a:bodyPr wrap="square" lIns="274320" tIns="0" rIns="228600" bIns="0" rtlCol="0" anchor="ctr">
            <a:noAutofit/>
          </a:bodyPr>
          <a:lstStyle/>
          <a:p>
            <a:pPr algn="ctr">
              <a:lnSpc>
                <a:spcPct val="112000"/>
              </a:lnSpc>
              <a:spcAft>
                <a:spcPts val="0"/>
              </a:spcAft>
            </a:pPr>
            <a:r>
              <a:rPr sz="1800" b="0" i="0">
                <a:solidFill>
                  <a:srgbClr val="FFFFFF"/>
                </a:solidFill>
                <a:latin typeface="Segoe UI Semibold"/>
                <a:cs typeface="Segoe UI Semibold"/>
              </a:rPr>
              <a:t>Prevent</a:t>
            </a:r>
          </a:p>
        </p:txBody>
      </p:sp>
      <p:sp>
        <p:nvSpPr>
          <p:cNvPr id="19" name="TextBox 18"/>
          <p:cNvSpPr txBox="1"/>
          <p:nvPr/>
        </p:nvSpPr>
        <p:spPr>
          <a:xfrm>
            <a:off x="1280160" y="5212080"/>
            <a:ext cx="2075688" cy="2743200"/>
          </a:xfrm>
          <a:prstGeom prst="rect">
            <a:avLst/>
          </a:prstGeom>
          <a:noFill/>
        </p:spPr>
        <p:txBody>
          <a:bodyPr wrap="square" lIns="0" tIns="0" rIns="0" bIns="0" anchor="t">
            <a:noAutofit/>
          </a:bodyPr>
          <a:lstStyle/>
          <a:p>
            <a:pPr algn="l">
              <a:lnSpc>
                <a:spcPct val="120000"/>
              </a:lnSpc>
              <a:spcAft>
                <a:spcPts val="0"/>
              </a:spcAft>
            </a:pPr>
            <a:r>
              <a:rPr sz="1400" b="0" i="0">
                <a:solidFill>
                  <a:srgbClr val="3D2410"/>
                </a:solidFill>
                <a:latin typeface="Segoe UI"/>
                <a:cs typeface="Segoe UI"/>
              </a:rPr>
              <a:t>Opens a 12-month audit the moment a merchant connects, then opens a case for every new gap.</a:t>
            </a:r>
          </a:p>
        </p:txBody>
      </p:sp>
      <p:sp>
        <p:nvSpPr>
          <p:cNvPr id="20" name="TextBox 19"/>
          <p:cNvSpPr txBox="1"/>
          <p:nvPr/>
        </p:nvSpPr>
        <p:spPr>
          <a:xfrm>
            <a:off x="3538728" y="5212080"/>
            <a:ext cx="2075688" cy="2743200"/>
          </a:xfrm>
          <a:prstGeom prst="rect">
            <a:avLst/>
          </a:prstGeom>
          <a:noFill/>
        </p:spPr>
        <p:txBody>
          <a:bodyPr wrap="square" lIns="0" tIns="0" rIns="0" bIns="0" anchor="t">
            <a:noAutofit/>
          </a:bodyPr>
          <a:lstStyle/>
          <a:p>
            <a:pPr algn="l">
              <a:lnSpc>
                <a:spcPct val="120000"/>
              </a:lnSpc>
              <a:spcAft>
                <a:spcPts val="0"/>
              </a:spcAft>
            </a:pPr>
            <a:r>
              <a:rPr sz="1400" b="0" i="0">
                <a:solidFill>
                  <a:srgbClr val="3D2410"/>
                </a:solidFill>
                <a:latin typeface="Segoe UI"/>
                <a:cs typeface="Segoe UI"/>
              </a:rPr>
              <a:t>Pulls the records, dated rules, rate-card history and precedents. The LLM explains what the gap most likely is.</a:t>
            </a:r>
          </a:p>
        </p:txBody>
      </p:sp>
      <p:sp>
        <p:nvSpPr>
          <p:cNvPr id="21" name="Rounded Rectangle 20"/>
          <p:cNvSpPr/>
          <p:nvPr/>
        </p:nvSpPr>
        <p:spPr>
          <a:xfrm>
            <a:off x="5779008" y="5074920"/>
            <a:ext cx="2121408" cy="2240280"/>
          </a:xfrm>
          <a:prstGeom prst="roundRect">
            <a:avLst>
              <a:gd name="adj" fmla="val 6000"/>
            </a:avLst>
          </a:prstGeom>
          <a:solidFill>
            <a:schemeClr val="accent3">
              <a:lumMod val="50000"/>
            </a:schemeClr>
          </a:solidFill>
          <a:ln>
            <a:noFill/>
          </a:ln>
        </p:spPr>
        <p:txBody>
          <a:bodyPr rtlCol="0" anchor="ctr"/>
          <a:lstStyle/>
          <a:p>
            <a:endParaRPr/>
          </a:p>
        </p:txBody>
      </p:sp>
      <p:sp>
        <p:nvSpPr>
          <p:cNvPr id="22" name="TextBox 21"/>
          <p:cNvSpPr txBox="1"/>
          <p:nvPr/>
        </p:nvSpPr>
        <p:spPr>
          <a:xfrm>
            <a:off x="5925312" y="5212080"/>
            <a:ext cx="1847088" cy="365760"/>
          </a:xfrm>
          <a:prstGeom prst="rect">
            <a:avLst/>
          </a:prstGeom>
          <a:noFill/>
        </p:spPr>
        <p:txBody>
          <a:bodyPr wrap="square" lIns="0" tIns="0" rIns="0" bIns="0" anchor="t">
            <a:noAutofit/>
          </a:bodyPr>
          <a:lstStyle/>
          <a:p>
            <a:pPr algn="l">
              <a:lnSpc>
                <a:spcPct val="112000"/>
              </a:lnSpc>
              <a:spcAft>
                <a:spcPts val="0"/>
              </a:spcAft>
            </a:pPr>
            <a:r>
              <a:rPr sz="1500" b="0" i="0">
                <a:solidFill>
                  <a:srgbClr val="F4C542"/>
                </a:solidFill>
                <a:latin typeface="Segoe UI Semibold"/>
                <a:cs typeface="Segoe UI Semibold"/>
              </a:rPr>
              <a:t>The proof gate</a:t>
            </a:r>
          </a:p>
        </p:txBody>
      </p:sp>
      <p:sp>
        <p:nvSpPr>
          <p:cNvPr id="23" name="TextBox 22"/>
          <p:cNvSpPr txBox="1"/>
          <p:nvPr/>
        </p:nvSpPr>
        <p:spPr>
          <a:xfrm>
            <a:off x="5925312" y="5596128"/>
            <a:ext cx="1847088" cy="2286000"/>
          </a:xfrm>
          <a:prstGeom prst="rect">
            <a:avLst/>
          </a:prstGeom>
          <a:noFill/>
        </p:spPr>
        <p:txBody>
          <a:bodyPr wrap="square" lIns="0" tIns="0" rIns="0" bIns="0" anchor="t">
            <a:noAutofit/>
          </a:bodyPr>
          <a:lstStyle/>
          <a:p>
            <a:pPr algn="l">
              <a:lnSpc>
                <a:spcPct val="118000"/>
              </a:lnSpc>
              <a:spcAft>
                <a:spcPts val="0"/>
              </a:spcAft>
            </a:pPr>
            <a:r>
              <a:rPr sz="1400" b="0" i="0" dirty="0">
                <a:solidFill>
                  <a:srgbClr val="FFFFFF"/>
                </a:solidFill>
                <a:latin typeface="Segoe UI"/>
                <a:cs typeface="Segoe UI"/>
              </a:rPr>
              <a:t>Recomputes the charge in plain code. Verdict: PROVEN, UNPROVEN or NOT A DISCREPANCY.</a:t>
            </a:r>
          </a:p>
        </p:txBody>
      </p:sp>
      <p:sp>
        <p:nvSpPr>
          <p:cNvPr id="24" name="TextBox 23"/>
          <p:cNvSpPr txBox="1"/>
          <p:nvPr/>
        </p:nvSpPr>
        <p:spPr>
          <a:xfrm>
            <a:off x="8055864" y="5212080"/>
            <a:ext cx="2075688" cy="2743200"/>
          </a:xfrm>
          <a:prstGeom prst="rect">
            <a:avLst/>
          </a:prstGeom>
          <a:noFill/>
        </p:spPr>
        <p:txBody>
          <a:bodyPr wrap="square" lIns="0" tIns="0" rIns="0" bIns="0" anchor="t">
            <a:noAutofit/>
          </a:bodyPr>
          <a:lstStyle/>
          <a:p>
            <a:pPr algn="l">
              <a:lnSpc>
                <a:spcPct val="120000"/>
              </a:lnSpc>
              <a:spcAft>
                <a:spcPts val="0"/>
              </a:spcAft>
            </a:pPr>
            <a:r>
              <a:rPr sz="1400" b="0" i="0">
                <a:solidFill>
                  <a:srgbClr val="3D2410"/>
                </a:solidFill>
                <a:latin typeface="Segoe UI"/>
                <a:cs typeface="Segoe UI"/>
              </a:rPr>
              <a:t>Files a claim only through the gate. Pilots one claim per new pattern before filing the rest.</a:t>
            </a:r>
          </a:p>
        </p:txBody>
      </p:sp>
      <p:sp>
        <p:nvSpPr>
          <p:cNvPr id="25" name="TextBox 24"/>
          <p:cNvSpPr txBox="1"/>
          <p:nvPr/>
        </p:nvSpPr>
        <p:spPr>
          <a:xfrm>
            <a:off x="10314432" y="5212080"/>
            <a:ext cx="2075688" cy="2743200"/>
          </a:xfrm>
          <a:prstGeom prst="rect">
            <a:avLst/>
          </a:prstGeom>
          <a:noFill/>
        </p:spPr>
        <p:txBody>
          <a:bodyPr wrap="square" lIns="0" tIns="0" rIns="0" bIns="0" anchor="t">
            <a:noAutofit/>
          </a:bodyPr>
          <a:lstStyle/>
          <a:p>
            <a:pPr algn="l">
              <a:lnSpc>
                <a:spcPct val="120000"/>
              </a:lnSpc>
              <a:spcAft>
                <a:spcPts val="0"/>
              </a:spcAft>
            </a:pPr>
            <a:r>
              <a:rPr sz="1400" b="0" i="0">
                <a:solidFill>
                  <a:srgbClr val="3D2410"/>
                </a:solidFill>
                <a:latin typeface="Segoe UI"/>
                <a:cs typeface="Segoe UI"/>
              </a:rPr>
              <a:t>Chases unanswered claims and re-presents rejections with evidence that worked before, using n8n.</a:t>
            </a:r>
          </a:p>
        </p:txBody>
      </p:sp>
      <p:sp>
        <p:nvSpPr>
          <p:cNvPr id="26" name="TextBox 25"/>
          <p:cNvSpPr txBox="1"/>
          <p:nvPr/>
        </p:nvSpPr>
        <p:spPr>
          <a:xfrm>
            <a:off x="12573000" y="5212080"/>
            <a:ext cx="2075688" cy="2743200"/>
          </a:xfrm>
          <a:prstGeom prst="rect">
            <a:avLst/>
          </a:prstGeom>
          <a:noFill/>
        </p:spPr>
        <p:txBody>
          <a:bodyPr wrap="square" lIns="0" tIns="0" rIns="0" bIns="0" anchor="t">
            <a:noAutofit/>
          </a:bodyPr>
          <a:lstStyle/>
          <a:p>
            <a:pPr algn="l">
              <a:lnSpc>
                <a:spcPct val="120000"/>
              </a:lnSpc>
              <a:spcAft>
                <a:spcPts val="0"/>
              </a:spcAft>
            </a:pPr>
            <a:r>
              <a:rPr sz="1400" b="0" i="0">
                <a:solidFill>
                  <a:srgbClr val="3D2410"/>
                </a:solidFill>
                <a:latin typeface="Segoe UI"/>
                <a:cs typeface="Segoe UI"/>
              </a:rPr>
              <a:t>Counts money only when the credit lands in the merchant’s bank, matched by UTR.</a:t>
            </a:r>
          </a:p>
        </p:txBody>
      </p:sp>
      <p:sp>
        <p:nvSpPr>
          <p:cNvPr id="27" name="TextBox 26"/>
          <p:cNvSpPr txBox="1"/>
          <p:nvPr/>
        </p:nvSpPr>
        <p:spPr>
          <a:xfrm>
            <a:off x="14831568" y="5212080"/>
            <a:ext cx="2075688" cy="2743200"/>
          </a:xfrm>
          <a:prstGeom prst="rect">
            <a:avLst/>
          </a:prstGeom>
          <a:noFill/>
        </p:spPr>
        <p:txBody>
          <a:bodyPr wrap="square" lIns="0" tIns="0" rIns="0" bIns="0" anchor="t">
            <a:noAutofit/>
          </a:bodyPr>
          <a:lstStyle/>
          <a:p>
            <a:pPr algn="l">
              <a:lnSpc>
                <a:spcPct val="120000"/>
              </a:lnSpc>
              <a:spcAft>
                <a:spcPts val="0"/>
              </a:spcAft>
            </a:pPr>
            <a:r>
              <a:rPr sz="1400" b="0" i="0">
                <a:solidFill>
                  <a:srgbClr val="3D2410"/>
                </a:solidFill>
                <a:latin typeface="Segoe UI"/>
                <a:cs typeface="Segoe UI"/>
              </a:rPr>
              <a:t>Finds the root cause, projects 26 weeks of future leakage, and asks for the config fix so it stops.</a:t>
            </a:r>
          </a:p>
        </p:txBody>
      </p:sp>
      <p:sp>
        <p:nvSpPr>
          <p:cNvPr id="28" name="Rounded Rectangle 27"/>
          <p:cNvSpPr/>
          <p:nvPr/>
        </p:nvSpPr>
        <p:spPr>
          <a:xfrm>
            <a:off x="3017520" y="8321040"/>
            <a:ext cx="6492240" cy="1005840"/>
          </a:xfrm>
          <a:prstGeom prst="roundRect">
            <a:avLst>
              <a:gd name="adj" fmla="val 12000"/>
            </a:avLst>
          </a:prstGeom>
          <a:solidFill>
            <a:schemeClr val="accent2">
              <a:lumMod val="40000"/>
              <a:lumOff val="60000"/>
            </a:schemeClr>
          </a:solidFill>
          <a:ln w="12700">
            <a:solidFill>
              <a:srgbClr val="FF0000"/>
            </a:solidFill>
          </a:ln>
        </p:spPr>
        <p:txBody>
          <a:bodyPr wrap="square" lIns="182880" tIns="36576" rIns="137160" bIns="36576" rtlCol="0" anchor="ctr">
            <a:noAutofit/>
          </a:bodyPr>
          <a:lstStyle/>
          <a:p>
            <a:pPr algn="l">
              <a:lnSpc>
                <a:spcPct val="112000"/>
              </a:lnSpc>
              <a:spcAft>
                <a:spcPts val="0"/>
              </a:spcAft>
            </a:pPr>
            <a:r>
              <a:rPr sz="1500" b="0" i="0" dirty="0">
                <a:solidFill>
                  <a:srgbClr val="B96A1E"/>
                </a:solidFill>
                <a:latin typeface="Segoe UI Semibold"/>
                <a:cs typeface="Segoe UI Semibold"/>
              </a:rPr>
              <a:t>IN   </a:t>
            </a:r>
            <a:r>
              <a:rPr sz="1300" b="0" i="0" dirty="0">
                <a:solidFill>
                  <a:srgbClr val="3D2410"/>
                </a:solidFill>
                <a:latin typeface="Segoe UI"/>
                <a:cs typeface="Segoe UI"/>
              </a:rPr>
              <a:t>settlement file, transactions, merchant master (agreement, devices), rule book with sources</a:t>
            </a:r>
          </a:p>
        </p:txBody>
      </p:sp>
      <p:cxnSp>
        <p:nvCxnSpPr>
          <p:cNvPr id="29" name="Connector 28"/>
          <p:cNvCxnSpPr/>
          <p:nvPr/>
        </p:nvCxnSpPr>
        <p:spPr>
          <a:xfrm>
            <a:off x="9601200" y="8823960"/>
            <a:ext cx="594360" cy="0"/>
          </a:xfrm>
          <a:prstGeom prst="line">
            <a:avLst/>
          </a:prstGeom>
          <a:ln w="31750">
            <a:solidFill>
              <a:srgbClr val="B96A1E"/>
            </a:solidFill>
            <a:tailEnd type="triangle" w="med" len="med"/>
          </a:ln>
        </p:spPr>
      </p:cxnSp>
      <p:sp>
        <p:nvSpPr>
          <p:cNvPr id="30" name="Rounded Rectangle 29"/>
          <p:cNvSpPr/>
          <p:nvPr/>
        </p:nvSpPr>
        <p:spPr>
          <a:xfrm>
            <a:off x="10287000" y="8321040"/>
            <a:ext cx="6812280" cy="1005840"/>
          </a:xfrm>
          <a:prstGeom prst="roundRect">
            <a:avLst>
              <a:gd name="adj" fmla="val 12000"/>
            </a:avLst>
          </a:prstGeom>
          <a:solidFill>
            <a:schemeClr val="accent3">
              <a:lumMod val="40000"/>
              <a:lumOff val="60000"/>
            </a:schemeClr>
          </a:solidFill>
          <a:ln>
            <a:solidFill>
              <a:srgbClr val="00B050"/>
            </a:solidFill>
          </a:ln>
        </p:spPr>
        <p:txBody>
          <a:bodyPr wrap="square" lIns="182880" tIns="36576" rIns="137160" bIns="36576" rtlCol="0" anchor="ctr">
            <a:noAutofit/>
          </a:bodyPr>
          <a:lstStyle/>
          <a:p>
            <a:pPr algn="l">
              <a:lnSpc>
                <a:spcPct val="112000"/>
              </a:lnSpc>
              <a:spcAft>
                <a:spcPts val="0"/>
              </a:spcAft>
            </a:pPr>
            <a:r>
              <a:rPr sz="1500" b="0" i="0">
                <a:solidFill>
                  <a:srgbClr val="B96A1E"/>
                </a:solidFill>
                <a:latin typeface="Segoe UI Semibold"/>
                <a:cs typeface="Segoe UI Semibold"/>
              </a:rPr>
              <a:t>OUT   </a:t>
            </a:r>
            <a:r>
              <a:rPr sz="1300" b="0" i="0">
                <a:solidFill>
                  <a:srgbClr val="3D2410"/>
                </a:solidFill>
                <a:latin typeface="Segoe UI"/>
                <a:cs typeface="Segoe UI"/>
              </a:rPr>
              <a:t>correction claim, bank-confirmed refund, config fix, one message to the merchant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rot="-5400000" flipV="1">
            <a:off x="17692731" y="-932307"/>
            <a:ext cx="1654414" cy="1516546"/>
          </a:xfrm>
          <a:custGeom>
            <a:avLst/>
            <a:gdLst/>
            <a:ahLst/>
            <a:cxnLst/>
            <a:rect l="l" t="t" r="r" b="b"/>
            <a:pathLst>
              <a:path w="3676477" h="3370104">
                <a:moveTo>
                  <a:pt x="0" y="3370104"/>
                </a:moveTo>
                <a:lnTo>
                  <a:pt x="3676476" y="3370104"/>
                </a:lnTo>
                <a:lnTo>
                  <a:pt x="3676476" y="0"/>
                </a:lnTo>
                <a:lnTo>
                  <a:pt x="0" y="0"/>
                </a:lnTo>
                <a:lnTo>
                  <a:pt x="0" y="337010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H="1">
            <a:off x="-846388" y="8793780"/>
            <a:ext cx="2367676" cy="2170370"/>
          </a:xfrm>
          <a:custGeom>
            <a:avLst/>
            <a:gdLst/>
            <a:ahLst/>
            <a:cxnLst/>
            <a:rect l="l" t="t" r="r" b="b"/>
            <a:pathLst>
              <a:path w="5261504" h="4823045">
                <a:moveTo>
                  <a:pt x="5261504" y="0"/>
                </a:moveTo>
                <a:lnTo>
                  <a:pt x="0" y="0"/>
                </a:lnTo>
                <a:lnTo>
                  <a:pt x="0" y="4823045"/>
                </a:lnTo>
                <a:lnTo>
                  <a:pt x="5261504" y="4823045"/>
                </a:lnTo>
                <a:lnTo>
                  <a:pt x="526150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5" name="TextBox 4"/>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TECHNICAL APPROACH</a:t>
            </a:r>
          </a:p>
        </p:txBody>
      </p:sp>
      <p:sp>
        <p:nvSpPr>
          <p:cNvPr id="6" name="TextBox 5"/>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dirty="0">
                <a:solidFill>
                  <a:schemeClr val="tx2">
                    <a:lumMod val="75000"/>
                  </a:schemeClr>
                </a:solidFill>
                <a:latin typeface="Segoe UI"/>
                <a:cs typeface="Segoe UI"/>
              </a:rPr>
              <a:t>Seven ways a settlement goes wrong, each tied to a written rule</a:t>
            </a:r>
          </a:p>
        </p:txBody>
      </p:sp>
      <p:sp>
        <p:nvSpPr>
          <p:cNvPr id="7" name="TextBox 6"/>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1" i="0" dirty="0">
                <a:solidFill>
                  <a:srgbClr val="000000"/>
                </a:solidFill>
                <a:latin typeface="Segoe UI"/>
                <a:cs typeface="Segoe UI"/>
              </a:rPr>
              <a:t>Each class maps to a published rule or to the merchant’s own agreement. If no rule settles a case, a person decides instead</a:t>
            </a:r>
            <a:r>
              <a:rPr sz="1400" b="0" i="0" dirty="0">
                <a:solidFill>
                  <a:srgbClr val="000000"/>
                </a:solidFill>
                <a:latin typeface="Segoe UI"/>
                <a:cs typeface="Segoe UI"/>
              </a:rPr>
              <a:t>.</a:t>
            </a:r>
          </a:p>
        </p:txBody>
      </p:sp>
      <p:sp>
        <p:nvSpPr>
          <p:cNvPr id="8" name="TextBox 7"/>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dirty="0">
                <a:solidFill>
                  <a:srgbClr val="B96A1E"/>
                </a:solidFill>
                <a:latin typeface="Segoe UI Semibold"/>
                <a:cs typeface="Segoe UI Semibold"/>
              </a:rPr>
              <a:t>0</a:t>
            </a:r>
            <a:r>
              <a:rPr lang="en-IN" sz="1400" b="0" i="0" dirty="0">
                <a:solidFill>
                  <a:srgbClr val="B96A1E"/>
                </a:solidFill>
                <a:latin typeface="Segoe UI Semibold"/>
                <a:cs typeface="Segoe UI Semibold"/>
              </a:rPr>
              <a:t>7</a:t>
            </a:r>
            <a:r>
              <a:rPr sz="1200" b="0" i="0" dirty="0">
                <a:solidFill>
                  <a:srgbClr val="8A6F55"/>
                </a:solidFill>
                <a:latin typeface="Segoe UI"/>
                <a:cs typeface="Segoe UI"/>
              </a:rPr>
              <a:t>  Munim   Paytm Build for India, Track 3</a:t>
            </a:r>
          </a:p>
        </p:txBody>
      </p:sp>
      <p:sp>
        <p:nvSpPr>
          <p:cNvPr id="9" name="Rounded Rectangle 8"/>
          <p:cNvSpPr/>
          <p:nvPr/>
        </p:nvSpPr>
        <p:spPr>
          <a:xfrm>
            <a:off x="1188720" y="2468880"/>
            <a:ext cx="3749039" cy="3017520"/>
          </a:xfrm>
          <a:prstGeom prst="roundRect">
            <a:avLst>
              <a:gd name="adj" fmla="val 6000"/>
            </a:avLst>
          </a:prstGeom>
          <a:solidFill>
            <a:schemeClr val="tx2">
              <a:lumMod val="20000"/>
              <a:lumOff val="80000"/>
            </a:schemeClr>
          </a:solidFill>
          <a:ln w="12700">
            <a:solidFill>
              <a:schemeClr val="tx1"/>
            </a:solidFill>
          </a:ln>
        </p:spPr>
        <p:txBody>
          <a:bodyPr rtlCol="0" anchor="ctr"/>
          <a:lstStyle/>
          <a:p>
            <a:endParaRPr/>
          </a:p>
        </p:txBody>
      </p:sp>
      <p:sp>
        <p:nvSpPr>
          <p:cNvPr id="10" name="Oval 9"/>
          <p:cNvSpPr/>
          <p:nvPr/>
        </p:nvSpPr>
        <p:spPr>
          <a:xfrm>
            <a:off x="1389888" y="2688336"/>
            <a:ext cx="658368" cy="658368"/>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L1</a:t>
            </a:r>
          </a:p>
        </p:txBody>
      </p:sp>
      <p:sp>
        <p:nvSpPr>
          <p:cNvPr id="11" name="TextBox 10"/>
          <p:cNvSpPr txBox="1"/>
          <p:nvPr/>
        </p:nvSpPr>
        <p:spPr>
          <a:xfrm>
            <a:off x="2176272" y="2670048"/>
            <a:ext cx="2651759" cy="694944"/>
          </a:xfrm>
          <a:prstGeom prst="rect">
            <a:avLst/>
          </a:prstGeom>
          <a:noFill/>
        </p:spPr>
        <p:txBody>
          <a:bodyPr wrap="square" lIns="0" tIns="0" rIns="0" bIns="0" anchor="ctr">
            <a:noAutofit/>
          </a:bodyPr>
          <a:lstStyle/>
          <a:p>
            <a:pPr algn="l">
              <a:lnSpc>
                <a:spcPct val="100000"/>
              </a:lnSpc>
              <a:spcAft>
                <a:spcPts val="0"/>
              </a:spcAft>
            </a:pPr>
            <a:r>
              <a:rPr sz="1700" b="0" i="0">
                <a:solidFill>
                  <a:srgbClr val="3D2410"/>
                </a:solidFill>
                <a:latin typeface="Segoe UI Semibold"/>
                <a:cs typeface="Segoe UI Semibold"/>
              </a:rPr>
              <a:t>Card rate above agreement</a:t>
            </a:r>
          </a:p>
        </p:txBody>
      </p:sp>
      <p:sp>
        <p:nvSpPr>
          <p:cNvPr id="12" name="TextBox 11"/>
          <p:cNvSpPr txBox="1"/>
          <p:nvPr/>
        </p:nvSpPr>
        <p:spPr>
          <a:xfrm>
            <a:off x="1417320" y="3493008"/>
            <a:ext cx="3337559" cy="1463040"/>
          </a:xfrm>
          <a:prstGeom prst="rect">
            <a:avLst/>
          </a:prstGeom>
          <a:noFill/>
        </p:spPr>
        <p:txBody>
          <a:bodyPr wrap="square" lIns="0" tIns="0" rIns="0" bIns="0" anchor="t">
            <a:noAutofit/>
          </a:bodyPr>
          <a:lstStyle/>
          <a:p>
            <a:pPr algn="l">
              <a:lnSpc>
                <a:spcPct val="115000"/>
              </a:lnSpc>
              <a:spcAft>
                <a:spcPts val="0"/>
              </a:spcAft>
            </a:pPr>
            <a:r>
              <a:rPr sz="1450" b="0" i="0">
                <a:solidFill>
                  <a:srgbClr val="3D2410"/>
                </a:solidFill>
                <a:latin typeface="Segoe UI"/>
                <a:cs typeface="Segoe UI"/>
              </a:rPr>
              <a:t>MDR above the merchant’s signed rate, or above RBI’s debit-card ceiling (0.40% for turnover up to ₹20 lakh).</a:t>
            </a:r>
          </a:p>
        </p:txBody>
      </p:sp>
      <p:sp>
        <p:nvSpPr>
          <p:cNvPr id="13" name="TextBox 12"/>
          <p:cNvSpPr txBox="1"/>
          <p:nvPr/>
        </p:nvSpPr>
        <p:spPr>
          <a:xfrm>
            <a:off x="1417320" y="4983480"/>
            <a:ext cx="3337559" cy="365760"/>
          </a:xfrm>
          <a:prstGeom prst="rect">
            <a:avLst/>
          </a:prstGeom>
          <a:noFill/>
        </p:spPr>
        <p:txBody>
          <a:bodyPr wrap="square" lIns="0" tIns="0" rIns="0" bIns="0" anchor="ctr">
            <a:noAutofit/>
          </a:bodyPr>
          <a:lstStyle/>
          <a:p>
            <a:pPr algn="l">
              <a:lnSpc>
                <a:spcPct val="112000"/>
              </a:lnSpc>
              <a:spcAft>
                <a:spcPts val="0"/>
              </a:spcAft>
            </a:pPr>
            <a:r>
              <a:rPr sz="1150" b="0" i="0" dirty="0">
                <a:solidFill>
                  <a:srgbClr val="B96A1E"/>
                </a:solidFill>
                <a:latin typeface="Segoe UI Semibold"/>
                <a:cs typeface="Segoe UI Semibold"/>
              </a:rPr>
              <a:t>RULE  </a:t>
            </a:r>
            <a:r>
              <a:rPr sz="1150" b="1" i="0" dirty="0">
                <a:solidFill>
                  <a:srgbClr val="8A6F55"/>
                </a:solidFill>
                <a:latin typeface="Segoe UI"/>
                <a:cs typeface="Segoe UI"/>
              </a:rPr>
              <a:t>Agreement, RBI/2017-18/105</a:t>
            </a:r>
          </a:p>
        </p:txBody>
      </p:sp>
      <p:sp>
        <p:nvSpPr>
          <p:cNvPr id="14" name="Rounded Rectangle 13"/>
          <p:cNvSpPr/>
          <p:nvPr/>
        </p:nvSpPr>
        <p:spPr>
          <a:xfrm>
            <a:off x="5239512" y="2468880"/>
            <a:ext cx="3749039" cy="3017520"/>
          </a:xfrm>
          <a:prstGeom prst="roundRect">
            <a:avLst>
              <a:gd name="adj" fmla="val 6000"/>
            </a:avLst>
          </a:prstGeom>
          <a:solidFill>
            <a:schemeClr val="tx2">
              <a:lumMod val="20000"/>
              <a:lumOff val="80000"/>
            </a:schemeClr>
          </a:solidFill>
          <a:ln w="12700">
            <a:solidFill>
              <a:schemeClr val="tx1"/>
            </a:solidFill>
          </a:ln>
        </p:spPr>
        <p:txBody>
          <a:bodyPr rtlCol="0" anchor="ctr"/>
          <a:lstStyle/>
          <a:p>
            <a:endParaRPr/>
          </a:p>
        </p:txBody>
      </p:sp>
      <p:sp>
        <p:nvSpPr>
          <p:cNvPr id="15" name="Oval 14"/>
          <p:cNvSpPr/>
          <p:nvPr/>
        </p:nvSpPr>
        <p:spPr>
          <a:xfrm>
            <a:off x="5440679" y="2688336"/>
            <a:ext cx="658368" cy="658368"/>
          </a:xfrm>
          <a:prstGeom prst="ellipse">
            <a:avLst/>
          </a:prstGeom>
          <a:solidFill>
            <a:srgbClr val="E4873B"/>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L2</a:t>
            </a:r>
          </a:p>
        </p:txBody>
      </p:sp>
      <p:sp>
        <p:nvSpPr>
          <p:cNvPr id="16" name="TextBox 15"/>
          <p:cNvSpPr txBox="1"/>
          <p:nvPr/>
        </p:nvSpPr>
        <p:spPr>
          <a:xfrm>
            <a:off x="6227064" y="2670048"/>
            <a:ext cx="2651759" cy="694944"/>
          </a:xfrm>
          <a:prstGeom prst="rect">
            <a:avLst/>
          </a:prstGeom>
          <a:noFill/>
        </p:spPr>
        <p:txBody>
          <a:bodyPr wrap="square" lIns="0" tIns="0" rIns="0" bIns="0" anchor="ctr">
            <a:noAutofit/>
          </a:bodyPr>
          <a:lstStyle/>
          <a:p>
            <a:pPr algn="l">
              <a:lnSpc>
                <a:spcPct val="100000"/>
              </a:lnSpc>
              <a:spcAft>
                <a:spcPts val="0"/>
              </a:spcAft>
            </a:pPr>
            <a:r>
              <a:rPr sz="1700" b="0" i="0">
                <a:solidFill>
                  <a:srgbClr val="3D2410"/>
                </a:solidFill>
                <a:latin typeface="Segoe UI Semibold"/>
                <a:cs typeface="Segoe UI Semibold"/>
              </a:rPr>
              <a:t>Charge on a free payment</a:t>
            </a:r>
          </a:p>
        </p:txBody>
      </p:sp>
      <p:sp>
        <p:nvSpPr>
          <p:cNvPr id="17" name="TextBox 16"/>
          <p:cNvSpPr txBox="1"/>
          <p:nvPr/>
        </p:nvSpPr>
        <p:spPr>
          <a:xfrm>
            <a:off x="5468112" y="3493008"/>
            <a:ext cx="3337559" cy="1463040"/>
          </a:xfrm>
          <a:prstGeom prst="rect">
            <a:avLst/>
          </a:prstGeom>
          <a:noFill/>
        </p:spPr>
        <p:txBody>
          <a:bodyPr wrap="square" lIns="0" tIns="0" rIns="0" bIns="0" anchor="t">
            <a:noAutofit/>
          </a:bodyPr>
          <a:lstStyle/>
          <a:p>
            <a:pPr algn="l">
              <a:lnSpc>
                <a:spcPct val="115000"/>
              </a:lnSpc>
              <a:spcAft>
                <a:spcPts val="0"/>
              </a:spcAft>
            </a:pPr>
            <a:r>
              <a:rPr sz="1450" b="0" i="0">
                <a:solidFill>
                  <a:srgbClr val="3D2410"/>
                </a:solidFill>
                <a:latin typeface="Segoe UI"/>
                <a:cs typeface="Segoe UI"/>
              </a:rPr>
              <a:t>MDR on UPI payments up to ₹2,000, or on RuPay debit cards at any amount. Both are nil-charge by law.</a:t>
            </a:r>
          </a:p>
        </p:txBody>
      </p:sp>
      <p:sp>
        <p:nvSpPr>
          <p:cNvPr id="18" name="TextBox 17"/>
          <p:cNvSpPr txBox="1"/>
          <p:nvPr/>
        </p:nvSpPr>
        <p:spPr>
          <a:xfrm>
            <a:off x="5468112" y="4983480"/>
            <a:ext cx="3337559" cy="365760"/>
          </a:xfrm>
          <a:prstGeom prst="rect">
            <a:avLst/>
          </a:prstGeom>
          <a:noFill/>
        </p:spPr>
        <p:txBody>
          <a:bodyPr wrap="square" lIns="0" tIns="0" rIns="0" bIns="0" anchor="ctr">
            <a:noAutofit/>
          </a:bodyPr>
          <a:lstStyle/>
          <a:p>
            <a:pPr algn="l">
              <a:lnSpc>
                <a:spcPct val="112000"/>
              </a:lnSpc>
              <a:spcAft>
                <a:spcPts val="0"/>
              </a:spcAft>
            </a:pPr>
            <a:r>
              <a:rPr sz="1150" b="0" i="0" dirty="0">
                <a:solidFill>
                  <a:srgbClr val="B96A1E"/>
                </a:solidFill>
                <a:latin typeface="Segoe UI Semibold"/>
                <a:cs typeface="Segoe UI Semibold"/>
              </a:rPr>
              <a:t>RULE  </a:t>
            </a:r>
            <a:r>
              <a:rPr sz="1150" b="1" i="0" dirty="0">
                <a:solidFill>
                  <a:srgbClr val="8A6F55"/>
                </a:solidFill>
                <a:latin typeface="Segoe UI"/>
                <a:cs typeface="Segoe UI"/>
              </a:rPr>
              <a:t>PSS Act s.10A, MoF, 14 Sep 2026</a:t>
            </a:r>
          </a:p>
        </p:txBody>
      </p:sp>
      <p:sp>
        <p:nvSpPr>
          <p:cNvPr id="19" name="Rounded Rectangle 18"/>
          <p:cNvSpPr/>
          <p:nvPr/>
        </p:nvSpPr>
        <p:spPr>
          <a:xfrm>
            <a:off x="9290304" y="2468880"/>
            <a:ext cx="3749039" cy="3017520"/>
          </a:xfrm>
          <a:prstGeom prst="roundRect">
            <a:avLst>
              <a:gd name="adj" fmla="val 6000"/>
            </a:avLst>
          </a:prstGeom>
          <a:solidFill>
            <a:schemeClr val="tx2">
              <a:lumMod val="20000"/>
              <a:lumOff val="80000"/>
            </a:schemeClr>
          </a:solidFill>
          <a:ln w="12700">
            <a:solidFill>
              <a:schemeClr val="tx1"/>
            </a:solidFill>
          </a:ln>
        </p:spPr>
        <p:txBody>
          <a:bodyPr rtlCol="0" anchor="ctr"/>
          <a:lstStyle/>
          <a:p>
            <a:endParaRPr/>
          </a:p>
        </p:txBody>
      </p:sp>
      <p:sp>
        <p:nvSpPr>
          <p:cNvPr id="20" name="Oval 19"/>
          <p:cNvSpPr/>
          <p:nvPr/>
        </p:nvSpPr>
        <p:spPr>
          <a:xfrm>
            <a:off x="9491472" y="2688336"/>
            <a:ext cx="658368" cy="658368"/>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L3</a:t>
            </a:r>
          </a:p>
        </p:txBody>
      </p:sp>
      <p:sp>
        <p:nvSpPr>
          <p:cNvPr id="21" name="TextBox 20"/>
          <p:cNvSpPr txBox="1"/>
          <p:nvPr/>
        </p:nvSpPr>
        <p:spPr>
          <a:xfrm>
            <a:off x="10277856" y="2670048"/>
            <a:ext cx="2651759" cy="694944"/>
          </a:xfrm>
          <a:prstGeom prst="rect">
            <a:avLst/>
          </a:prstGeom>
          <a:noFill/>
        </p:spPr>
        <p:txBody>
          <a:bodyPr wrap="square" lIns="0" tIns="0" rIns="0" bIns="0" anchor="ctr">
            <a:noAutofit/>
          </a:bodyPr>
          <a:lstStyle/>
          <a:p>
            <a:pPr algn="l">
              <a:lnSpc>
                <a:spcPct val="100000"/>
              </a:lnSpc>
              <a:spcAft>
                <a:spcPts val="0"/>
              </a:spcAft>
            </a:pPr>
            <a:r>
              <a:rPr sz="1700" b="0" i="0">
                <a:solidFill>
                  <a:srgbClr val="3D2410"/>
                </a:solidFill>
                <a:latin typeface="Segoe UI Semibold"/>
                <a:cs typeface="Segoe UI Semibold"/>
              </a:rPr>
              <a:t>GST on the wrong base</a:t>
            </a:r>
          </a:p>
        </p:txBody>
      </p:sp>
      <p:sp>
        <p:nvSpPr>
          <p:cNvPr id="22" name="TextBox 21"/>
          <p:cNvSpPr txBox="1"/>
          <p:nvPr/>
        </p:nvSpPr>
        <p:spPr>
          <a:xfrm>
            <a:off x="9518904" y="3493008"/>
            <a:ext cx="3337559" cy="1463040"/>
          </a:xfrm>
          <a:prstGeom prst="rect">
            <a:avLst/>
          </a:prstGeom>
          <a:noFill/>
        </p:spPr>
        <p:txBody>
          <a:bodyPr wrap="square" lIns="0" tIns="0" rIns="0" bIns="0" anchor="t">
            <a:noAutofit/>
          </a:bodyPr>
          <a:lstStyle/>
          <a:p>
            <a:pPr algn="l">
              <a:lnSpc>
                <a:spcPct val="115000"/>
              </a:lnSpc>
              <a:spcAft>
                <a:spcPts val="0"/>
              </a:spcAft>
            </a:pPr>
            <a:r>
              <a:rPr sz="1450" b="0" i="0">
                <a:solidFill>
                  <a:srgbClr val="3D2410"/>
                </a:solidFill>
                <a:latin typeface="Segoe UI"/>
                <a:cs typeface="Segoe UI"/>
              </a:rPr>
              <a:t>GST is 18% of the MDR only. Charging it on the sale amount, or on a waived fee, is an error.</a:t>
            </a:r>
          </a:p>
        </p:txBody>
      </p:sp>
      <p:sp>
        <p:nvSpPr>
          <p:cNvPr id="23" name="TextBox 22"/>
          <p:cNvSpPr txBox="1"/>
          <p:nvPr/>
        </p:nvSpPr>
        <p:spPr>
          <a:xfrm>
            <a:off x="9518904" y="4983480"/>
            <a:ext cx="3337559" cy="365760"/>
          </a:xfrm>
          <a:prstGeom prst="rect">
            <a:avLst/>
          </a:prstGeom>
          <a:noFill/>
        </p:spPr>
        <p:txBody>
          <a:bodyPr wrap="square" lIns="0" tIns="0" rIns="0" bIns="0" anchor="ctr">
            <a:noAutofit/>
          </a:bodyPr>
          <a:lstStyle/>
          <a:p>
            <a:pPr algn="l">
              <a:lnSpc>
                <a:spcPct val="112000"/>
              </a:lnSpc>
              <a:spcAft>
                <a:spcPts val="0"/>
              </a:spcAft>
            </a:pPr>
            <a:r>
              <a:rPr sz="1150" b="0" i="0" dirty="0">
                <a:solidFill>
                  <a:srgbClr val="B96A1E"/>
                </a:solidFill>
                <a:latin typeface="Segoe UI Semibold"/>
                <a:cs typeface="Segoe UI Semibold"/>
              </a:rPr>
              <a:t>RULE  </a:t>
            </a:r>
            <a:r>
              <a:rPr sz="1150" b="1" i="0" dirty="0">
                <a:solidFill>
                  <a:srgbClr val="8A6F55"/>
                </a:solidFill>
                <a:latin typeface="Segoe UI"/>
                <a:cs typeface="Segoe UI"/>
              </a:rPr>
              <a:t>CGST Act, CBIC circulars</a:t>
            </a:r>
          </a:p>
        </p:txBody>
      </p:sp>
      <p:sp>
        <p:nvSpPr>
          <p:cNvPr id="24" name="Rounded Rectangle 23"/>
          <p:cNvSpPr/>
          <p:nvPr/>
        </p:nvSpPr>
        <p:spPr>
          <a:xfrm>
            <a:off x="13341096" y="2468880"/>
            <a:ext cx="3749039" cy="3017520"/>
          </a:xfrm>
          <a:prstGeom prst="roundRect">
            <a:avLst>
              <a:gd name="adj" fmla="val 6000"/>
            </a:avLst>
          </a:prstGeom>
          <a:solidFill>
            <a:schemeClr val="tx2">
              <a:lumMod val="20000"/>
              <a:lumOff val="80000"/>
            </a:schemeClr>
          </a:solidFill>
          <a:ln w="12700">
            <a:solidFill>
              <a:schemeClr val="tx1"/>
            </a:solidFill>
          </a:ln>
        </p:spPr>
        <p:txBody>
          <a:bodyPr rtlCol="0" anchor="ctr"/>
          <a:lstStyle/>
          <a:p>
            <a:endParaRPr/>
          </a:p>
        </p:txBody>
      </p:sp>
      <p:sp>
        <p:nvSpPr>
          <p:cNvPr id="25" name="Oval 24"/>
          <p:cNvSpPr/>
          <p:nvPr/>
        </p:nvSpPr>
        <p:spPr>
          <a:xfrm>
            <a:off x="13542264" y="2688336"/>
            <a:ext cx="658368" cy="658368"/>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L4</a:t>
            </a:r>
          </a:p>
        </p:txBody>
      </p:sp>
      <p:sp>
        <p:nvSpPr>
          <p:cNvPr id="26" name="TextBox 25"/>
          <p:cNvSpPr txBox="1"/>
          <p:nvPr/>
        </p:nvSpPr>
        <p:spPr>
          <a:xfrm>
            <a:off x="14328648" y="2670048"/>
            <a:ext cx="2651759" cy="694944"/>
          </a:xfrm>
          <a:prstGeom prst="rect">
            <a:avLst/>
          </a:prstGeom>
          <a:noFill/>
        </p:spPr>
        <p:txBody>
          <a:bodyPr wrap="square" lIns="0" tIns="0" rIns="0" bIns="0" anchor="ctr">
            <a:noAutofit/>
          </a:bodyPr>
          <a:lstStyle/>
          <a:p>
            <a:pPr algn="l">
              <a:lnSpc>
                <a:spcPct val="100000"/>
              </a:lnSpc>
              <a:spcAft>
                <a:spcPts val="0"/>
              </a:spcAft>
            </a:pPr>
            <a:r>
              <a:rPr sz="1700" b="0" i="0">
                <a:solidFill>
                  <a:srgbClr val="3D2410"/>
                </a:solidFill>
                <a:latin typeface="Segoe UI Semibold"/>
                <a:cs typeface="Segoe UI Semibold"/>
              </a:rPr>
              <a:t>Tax that doesn’t apply</a:t>
            </a:r>
          </a:p>
        </p:txBody>
      </p:sp>
      <p:sp>
        <p:nvSpPr>
          <p:cNvPr id="27" name="TextBox 26"/>
          <p:cNvSpPr txBox="1"/>
          <p:nvPr/>
        </p:nvSpPr>
        <p:spPr>
          <a:xfrm>
            <a:off x="13569696" y="3493008"/>
            <a:ext cx="3337559" cy="1463040"/>
          </a:xfrm>
          <a:prstGeom prst="rect">
            <a:avLst/>
          </a:prstGeom>
          <a:noFill/>
        </p:spPr>
        <p:txBody>
          <a:bodyPr wrap="square" lIns="0" tIns="0" rIns="0" bIns="0" anchor="t">
            <a:noAutofit/>
          </a:bodyPr>
          <a:lstStyle/>
          <a:p>
            <a:pPr algn="l">
              <a:lnSpc>
                <a:spcPct val="115000"/>
              </a:lnSpc>
              <a:spcAft>
                <a:spcPts val="0"/>
              </a:spcAft>
            </a:pPr>
            <a:r>
              <a:rPr sz="1450" b="0" i="0">
                <a:solidFill>
                  <a:srgbClr val="3D2410"/>
                </a:solidFill>
                <a:latin typeface="Segoe UI"/>
                <a:cs typeface="Segoe UI"/>
              </a:rPr>
              <a:t>TCS (CGST s.52) or TDS (s.194-O) deducted from a merchant who does not sell through an e-commerce operator.</a:t>
            </a:r>
          </a:p>
        </p:txBody>
      </p:sp>
      <p:sp>
        <p:nvSpPr>
          <p:cNvPr id="28" name="TextBox 27"/>
          <p:cNvSpPr txBox="1"/>
          <p:nvPr/>
        </p:nvSpPr>
        <p:spPr>
          <a:xfrm>
            <a:off x="13569696" y="4983480"/>
            <a:ext cx="3337559" cy="365760"/>
          </a:xfrm>
          <a:prstGeom prst="rect">
            <a:avLst/>
          </a:prstGeom>
          <a:noFill/>
        </p:spPr>
        <p:txBody>
          <a:bodyPr wrap="square" lIns="0" tIns="0" rIns="0" bIns="0" anchor="ctr">
            <a:noAutofit/>
          </a:bodyPr>
          <a:lstStyle/>
          <a:p>
            <a:pPr algn="l">
              <a:lnSpc>
                <a:spcPct val="112000"/>
              </a:lnSpc>
              <a:spcAft>
                <a:spcPts val="0"/>
              </a:spcAft>
            </a:pPr>
            <a:r>
              <a:rPr sz="1150" b="0" i="0" dirty="0">
                <a:solidFill>
                  <a:srgbClr val="B96A1E"/>
                </a:solidFill>
                <a:latin typeface="Segoe UI Semibold"/>
                <a:cs typeface="Segoe UI Semibold"/>
              </a:rPr>
              <a:t>RULE  </a:t>
            </a:r>
            <a:r>
              <a:rPr sz="1150" b="1" i="0" dirty="0">
                <a:solidFill>
                  <a:srgbClr val="8A6F55"/>
                </a:solidFill>
                <a:latin typeface="Segoe UI"/>
                <a:cs typeface="Segoe UI"/>
              </a:rPr>
              <a:t>CBIC 194/06/2023-GST, CBDT</a:t>
            </a:r>
          </a:p>
        </p:txBody>
      </p:sp>
      <p:sp>
        <p:nvSpPr>
          <p:cNvPr id="29" name="Rounded Rectangle 28"/>
          <p:cNvSpPr/>
          <p:nvPr/>
        </p:nvSpPr>
        <p:spPr>
          <a:xfrm>
            <a:off x="1188720" y="5760720"/>
            <a:ext cx="3749039" cy="3017520"/>
          </a:xfrm>
          <a:prstGeom prst="roundRect">
            <a:avLst>
              <a:gd name="adj" fmla="val 6000"/>
            </a:avLst>
          </a:prstGeom>
          <a:solidFill>
            <a:schemeClr val="tx2">
              <a:lumMod val="20000"/>
              <a:lumOff val="80000"/>
            </a:schemeClr>
          </a:solidFill>
          <a:ln w="12700">
            <a:solidFill>
              <a:schemeClr val="tx1"/>
            </a:solidFill>
          </a:ln>
        </p:spPr>
        <p:txBody>
          <a:bodyPr rtlCol="0" anchor="ctr"/>
          <a:lstStyle/>
          <a:p>
            <a:endParaRPr/>
          </a:p>
        </p:txBody>
      </p:sp>
      <p:sp>
        <p:nvSpPr>
          <p:cNvPr id="30" name="Oval 29"/>
          <p:cNvSpPr/>
          <p:nvPr/>
        </p:nvSpPr>
        <p:spPr>
          <a:xfrm>
            <a:off x="1389888" y="5980176"/>
            <a:ext cx="658368" cy="658368"/>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L5</a:t>
            </a:r>
          </a:p>
        </p:txBody>
      </p:sp>
      <p:sp>
        <p:nvSpPr>
          <p:cNvPr id="31" name="TextBox 30"/>
          <p:cNvSpPr txBox="1"/>
          <p:nvPr/>
        </p:nvSpPr>
        <p:spPr>
          <a:xfrm>
            <a:off x="2176272" y="5961888"/>
            <a:ext cx="2651759" cy="694944"/>
          </a:xfrm>
          <a:prstGeom prst="rect">
            <a:avLst/>
          </a:prstGeom>
          <a:noFill/>
        </p:spPr>
        <p:txBody>
          <a:bodyPr wrap="square" lIns="0" tIns="0" rIns="0" bIns="0" anchor="ctr">
            <a:noAutofit/>
          </a:bodyPr>
          <a:lstStyle/>
          <a:p>
            <a:pPr algn="l">
              <a:lnSpc>
                <a:spcPct val="100000"/>
              </a:lnSpc>
              <a:spcAft>
                <a:spcPts val="0"/>
              </a:spcAft>
            </a:pPr>
            <a:r>
              <a:rPr sz="1700" b="0" i="0">
                <a:solidFill>
                  <a:srgbClr val="3D2410"/>
                </a:solidFill>
                <a:latin typeface="Segoe UI Semibold"/>
                <a:cs typeface="Segoe UI Semibold"/>
              </a:rPr>
              <a:t>Refund taken twice</a:t>
            </a:r>
          </a:p>
        </p:txBody>
      </p:sp>
      <p:sp>
        <p:nvSpPr>
          <p:cNvPr id="32" name="TextBox 31"/>
          <p:cNvSpPr txBox="1"/>
          <p:nvPr/>
        </p:nvSpPr>
        <p:spPr>
          <a:xfrm>
            <a:off x="1417320" y="6784848"/>
            <a:ext cx="3337559" cy="1463040"/>
          </a:xfrm>
          <a:prstGeom prst="rect">
            <a:avLst/>
          </a:prstGeom>
          <a:noFill/>
        </p:spPr>
        <p:txBody>
          <a:bodyPr wrap="square" lIns="0" tIns="0" rIns="0" bIns="0" anchor="t">
            <a:noAutofit/>
          </a:bodyPr>
          <a:lstStyle/>
          <a:p>
            <a:pPr algn="l">
              <a:lnSpc>
                <a:spcPct val="115000"/>
              </a:lnSpc>
              <a:spcAft>
                <a:spcPts val="0"/>
              </a:spcAft>
            </a:pPr>
            <a:r>
              <a:rPr sz="1450" b="0" i="0">
                <a:solidFill>
                  <a:srgbClr val="3D2410"/>
                </a:solidFill>
                <a:latin typeface="Segoe UI"/>
                <a:cs typeface="Segoe UI"/>
              </a:rPr>
              <a:t>The same refund debited from settlement twice, or a refund with no original payment behind it.</a:t>
            </a:r>
          </a:p>
        </p:txBody>
      </p:sp>
      <p:sp>
        <p:nvSpPr>
          <p:cNvPr id="33" name="TextBox 32"/>
          <p:cNvSpPr txBox="1"/>
          <p:nvPr/>
        </p:nvSpPr>
        <p:spPr>
          <a:xfrm>
            <a:off x="1417320" y="8275319"/>
            <a:ext cx="3337559" cy="365760"/>
          </a:xfrm>
          <a:prstGeom prst="rect">
            <a:avLst/>
          </a:prstGeom>
          <a:noFill/>
        </p:spPr>
        <p:txBody>
          <a:bodyPr wrap="square" lIns="0" tIns="0" rIns="0" bIns="0" anchor="ctr">
            <a:noAutofit/>
          </a:bodyPr>
          <a:lstStyle/>
          <a:p>
            <a:pPr algn="l">
              <a:lnSpc>
                <a:spcPct val="112000"/>
              </a:lnSpc>
              <a:spcAft>
                <a:spcPts val="0"/>
              </a:spcAft>
            </a:pPr>
            <a:r>
              <a:rPr sz="1150" b="0" i="0" dirty="0">
                <a:solidFill>
                  <a:srgbClr val="B96A1E"/>
                </a:solidFill>
                <a:latin typeface="Segoe UI Semibold"/>
                <a:cs typeface="Segoe UI Semibold"/>
              </a:rPr>
              <a:t>RULE  </a:t>
            </a:r>
            <a:r>
              <a:rPr sz="1150" b="1" i="0" dirty="0">
                <a:solidFill>
                  <a:srgbClr val="8A6F55"/>
                </a:solidFill>
                <a:latin typeface="Segoe UI"/>
                <a:cs typeface="Segoe UI"/>
              </a:rPr>
              <a:t>RBI TAT circular, 20 Sep 2019</a:t>
            </a:r>
          </a:p>
        </p:txBody>
      </p:sp>
      <p:sp>
        <p:nvSpPr>
          <p:cNvPr id="34" name="Rounded Rectangle 33"/>
          <p:cNvSpPr/>
          <p:nvPr/>
        </p:nvSpPr>
        <p:spPr>
          <a:xfrm>
            <a:off x="5239512" y="5760720"/>
            <a:ext cx="3749039" cy="3017520"/>
          </a:xfrm>
          <a:prstGeom prst="roundRect">
            <a:avLst>
              <a:gd name="adj" fmla="val 6000"/>
            </a:avLst>
          </a:prstGeom>
          <a:solidFill>
            <a:schemeClr val="tx2">
              <a:lumMod val="20000"/>
              <a:lumOff val="80000"/>
            </a:schemeClr>
          </a:solidFill>
          <a:ln w="12700">
            <a:solidFill>
              <a:schemeClr val="tx1"/>
            </a:solidFill>
          </a:ln>
        </p:spPr>
        <p:txBody>
          <a:bodyPr rtlCol="0" anchor="ctr"/>
          <a:lstStyle/>
          <a:p>
            <a:endParaRPr/>
          </a:p>
        </p:txBody>
      </p:sp>
      <p:sp>
        <p:nvSpPr>
          <p:cNvPr id="35" name="Oval 34"/>
          <p:cNvSpPr/>
          <p:nvPr/>
        </p:nvSpPr>
        <p:spPr>
          <a:xfrm>
            <a:off x="5440679" y="5980176"/>
            <a:ext cx="658368" cy="658368"/>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L6</a:t>
            </a:r>
          </a:p>
        </p:txBody>
      </p:sp>
      <p:sp>
        <p:nvSpPr>
          <p:cNvPr id="36" name="TextBox 35"/>
          <p:cNvSpPr txBox="1"/>
          <p:nvPr/>
        </p:nvSpPr>
        <p:spPr>
          <a:xfrm>
            <a:off x="6227064" y="5961888"/>
            <a:ext cx="2651759" cy="694944"/>
          </a:xfrm>
          <a:prstGeom prst="rect">
            <a:avLst/>
          </a:prstGeom>
          <a:noFill/>
        </p:spPr>
        <p:txBody>
          <a:bodyPr wrap="square" lIns="0" tIns="0" rIns="0" bIns="0" anchor="ctr">
            <a:noAutofit/>
          </a:bodyPr>
          <a:lstStyle/>
          <a:p>
            <a:pPr algn="l">
              <a:lnSpc>
                <a:spcPct val="100000"/>
              </a:lnSpc>
              <a:spcAft>
                <a:spcPts val="0"/>
              </a:spcAft>
            </a:pPr>
            <a:r>
              <a:rPr sz="1700" b="0" i="0">
                <a:solidFill>
                  <a:srgbClr val="3D2410"/>
                </a:solidFill>
                <a:latin typeface="Segoe UI Semibold"/>
                <a:cs typeface="Segoe UI Semibold"/>
              </a:rPr>
              <a:t>Payment never settled</a:t>
            </a:r>
          </a:p>
        </p:txBody>
      </p:sp>
      <p:sp>
        <p:nvSpPr>
          <p:cNvPr id="37" name="TextBox 36"/>
          <p:cNvSpPr txBox="1"/>
          <p:nvPr/>
        </p:nvSpPr>
        <p:spPr>
          <a:xfrm>
            <a:off x="5468112" y="6784848"/>
            <a:ext cx="3337559" cy="1463040"/>
          </a:xfrm>
          <a:prstGeom prst="rect">
            <a:avLst/>
          </a:prstGeom>
          <a:noFill/>
        </p:spPr>
        <p:txBody>
          <a:bodyPr wrap="square" lIns="0" tIns="0" rIns="0" bIns="0" anchor="t">
            <a:noAutofit/>
          </a:bodyPr>
          <a:lstStyle/>
          <a:p>
            <a:pPr algn="l">
              <a:lnSpc>
                <a:spcPct val="115000"/>
              </a:lnSpc>
              <a:spcAft>
                <a:spcPts val="0"/>
              </a:spcAft>
            </a:pPr>
            <a:r>
              <a:rPr sz="1450" b="0" i="0">
                <a:solidFill>
                  <a:srgbClr val="3D2410"/>
                </a:solidFill>
                <a:latin typeface="Segoe UI"/>
                <a:cs typeface="Segoe UI"/>
              </a:rPr>
              <a:t>A successful payment missing from every settlement after the merchant’s agreed settlement window.</a:t>
            </a:r>
          </a:p>
        </p:txBody>
      </p:sp>
      <p:sp>
        <p:nvSpPr>
          <p:cNvPr id="38" name="TextBox 37"/>
          <p:cNvSpPr txBox="1"/>
          <p:nvPr/>
        </p:nvSpPr>
        <p:spPr>
          <a:xfrm>
            <a:off x="5468112" y="8275319"/>
            <a:ext cx="3520439" cy="365760"/>
          </a:xfrm>
          <a:prstGeom prst="rect">
            <a:avLst/>
          </a:prstGeom>
          <a:noFill/>
        </p:spPr>
        <p:txBody>
          <a:bodyPr wrap="square" lIns="0" tIns="0" rIns="0" bIns="0" anchor="ctr">
            <a:noAutofit/>
          </a:bodyPr>
          <a:lstStyle/>
          <a:p>
            <a:pPr algn="l">
              <a:lnSpc>
                <a:spcPct val="112000"/>
              </a:lnSpc>
              <a:spcAft>
                <a:spcPts val="0"/>
              </a:spcAft>
            </a:pPr>
            <a:r>
              <a:rPr sz="1150" b="0" i="0" dirty="0">
                <a:solidFill>
                  <a:srgbClr val="B96A1E"/>
                </a:solidFill>
                <a:latin typeface="Segoe UI Semibold"/>
                <a:cs typeface="Segoe UI Semibold"/>
              </a:rPr>
              <a:t>RULE  </a:t>
            </a:r>
            <a:r>
              <a:rPr sz="1150" b="1" i="0" dirty="0">
                <a:solidFill>
                  <a:srgbClr val="8A6F55"/>
                </a:solidFill>
                <a:latin typeface="Segoe UI"/>
                <a:cs typeface="Segoe UI"/>
              </a:rPr>
              <a:t>Merchant agreement (settlement SLA</a:t>
            </a:r>
            <a:r>
              <a:rPr sz="1150" b="0" i="0" dirty="0">
                <a:solidFill>
                  <a:srgbClr val="8A6F55"/>
                </a:solidFill>
                <a:latin typeface="Segoe UI"/>
                <a:cs typeface="Segoe UI"/>
              </a:rPr>
              <a:t>)</a:t>
            </a:r>
          </a:p>
        </p:txBody>
      </p:sp>
      <p:sp>
        <p:nvSpPr>
          <p:cNvPr id="39" name="Rounded Rectangle 38"/>
          <p:cNvSpPr/>
          <p:nvPr/>
        </p:nvSpPr>
        <p:spPr>
          <a:xfrm>
            <a:off x="9290304" y="5760720"/>
            <a:ext cx="3749039" cy="3017520"/>
          </a:xfrm>
          <a:prstGeom prst="roundRect">
            <a:avLst>
              <a:gd name="adj" fmla="val 6000"/>
            </a:avLst>
          </a:prstGeom>
          <a:solidFill>
            <a:schemeClr val="tx2">
              <a:lumMod val="20000"/>
              <a:lumOff val="80000"/>
            </a:schemeClr>
          </a:solidFill>
          <a:ln w="12700">
            <a:solidFill>
              <a:schemeClr val="tx1"/>
            </a:solidFill>
          </a:ln>
        </p:spPr>
        <p:txBody>
          <a:bodyPr rtlCol="0" anchor="ctr"/>
          <a:lstStyle/>
          <a:p>
            <a:endParaRPr/>
          </a:p>
        </p:txBody>
      </p:sp>
      <p:sp>
        <p:nvSpPr>
          <p:cNvPr id="40" name="Oval 39"/>
          <p:cNvSpPr/>
          <p:nvPr/>
        </p:nvSpPr>
        <p:spPr>
          <a:xfrm>
            <a:off x="9491472" y="5980176"/>
            <a:ext cx="658368" cy="658368"/>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r>
              <a:rPr sz="1800" b="0" i="0">
                <a:solidFill>
                  <a:srgbClr val="3D2410"/>
                </a:solidFill>
                <a:latin typeface="Segoe UI Semibold"/>
                <a:cs typeface="Segoe UI Semibold"/>
              </a:rPr>
              <a:t>L7</a:t>
            </a:r>
          </a:p>
        </p:txBody>
      </p:sp>
      <p:sp>
        <p:nvSpPr>
          <p:cNvPr id="41" name="TextBox 40"/>
          <p:cNvSpPr txBox="1"/>
          <p:nvPr/>
        </p:nvSpPr>
        <p:spPr>
          <a:xfrm>
            <a:off x="10277856" y="5961888"/>
            <a:ext cx="2651759" cy="694944"/>
          </a:xfrm>
          <a:prstGeom prst="rect">
            <a:avLst/>
          </a:prstGeom>
          <a:noFill/>
        </p:spPr>
        <p:txBody>
          <a:bodyPr wrap="square" lIns="0" tIns="0" rIns="0" bIns="0" anchor="ctr">
            <a:noAutofit/>
          </a:bodyPr>
          <a:lstStyle/>
          <a:p>
            <a:pPr algn="l">
              <a:lnSpc>
                <a:spcPct val="100000"/>
              </a:lnSpc>
              <a:spcAft>
                <a:spcPts val="0"/>
              </a:spcAft>
            </a:pPr>
            <a:r>
              <a:rPr sz="1700" b="0" i="0">
                <a:solidFill>
                  <a:srgbClr val="3D2410"/>
                </a:solidFill>
                <a:latin typeface="Segoe UI Semibold"/>
                <a:cs typeface="Segoe UI Semibold"/>
              </a:rPr>
              <a:t>Rental after return</a:t>
            </a:r>
          </a:p>
        </p:txBody>
      </p:sp>
      <p:sp>
        <p:nvSpPr>
          <p:cNvPr id="42" name="TextBox 41"/>
          <p:cNvSpPr txBox="1"/>
          <p:nvPr/>
        </p:nvSpPr>
        <p:spPr>
          <a:xfrm>
            <a:off x="9518904" y="6784848"/>
            <a:ext cx="3337559" cy="1463040"/>
          </a:xfrm>
          <a:prstGeom prst="rect">
            <a:avLst/>
          </a:prstGeom>
          <a:noFill/>
        </p:spPr>
        <p:txBody>
          <a:bodyPr wrap="square" lIns="0" tIns="0" rIns="0" bIns="0" anchor="t">
            <a:noAutofit/>
          </a:bodyPr>
          <a:lstStyle/>
          <a:p>
            <a:pPr algn="l">
              <a:lnSpc>
                <a:spcPct val="115000"/>
              </a:lnSpc>
              <a:spcAft>
                <a:spcPts val="0"/>
              </a:spcAft>
            </a:pPr>
            <a:r>
              <a:rPr sz="1450" b="0" i="0">
                <a:solidFill>
                  <a:srgbClr val="3D2410"/>
                </a:solidFill>
                <a:latin typeface="Segoe UI"/>
                <a:cs typeface="Segoe UI"/>
              </a:rPr>
              <a:t>Soundbox or EDC rental charged after the device came back, or inside the free period.</a:t>
            </a:r>
          </a:p>
        </p:txBody>
      </p:sp>
      <p:sp>
        <p:nvSpPr>
          <p:cNvPr id="43" name="TextBox 42"/>
          <p:cNvSpPr txBox="1"/>
          <p:nvPr/>
        </p:nvSpPr>
        <p:spPr>
          <a:xfrm>
            <a:off x="9518904" y="8275319"/>
            <a:ext cx="3337559" cy="365760"/>
          </a:xfrm>
          <a:prstGeom prst="rect">
            <a:avLst/>
          </a:prstGeom>
          <a:noFill/>
        </p:spPr>
        <p:txBody>
          <a:bodyPr wrap="square" lIns="0" tIns="0" rIns="0" bIns="0" anchor="ctr">
            <a:noAutofit/>
          </a:bodyPr>
          <a:lstStyle/>
          <a:p>
            <a:pPr algn="l">
              <a:lnSpc>
                <a:spcPct val="112000"/>
              </a:lnSpc>
              <a:spcAft>
                <a:spcPts val="0"/>
              </a:spcAft>
            </a:pPr>
            <a:r>
              <a:rPr sz="1150" b="0" i="0" dirty="0">
                <a:solidFill>
                  <a:srgbClr val="B96A1E"/>
                </a:solidFill>
                <a:latin typeface="Segoe UI Semibold"/>
                <a:cs typeface="Segoe UI Semibold"/>
              </a:rPr>
              <a:t>RULE  </a:t>
            </a:r>
            <a:r>
              <a:rPr sz="1150" b="1" i="0" dirty="0">
                <a:solidFill>
                  <a:srgbClr val="8A6F55"/>
                </a:solidFill>
                <a:latin typeface="Segoe UI"/>
                <a:cs typeface="Segoe UI"/>
              </a:rPr>
              <a:t>Device records, rental plan</a:t>
            </a:r>
          </a:p>
        </p:txBody>
      </p:sp>
      <p:sp>
        <p:nvSpPr>
          <p:cNvPr id="44" name="Rounded Rectangle 43"/>
          <p:cNvSpPr/>
          <p:nvPr/>
        </p:nvSpPr>
        <p:spPr>
          <a:xfrm>
            <a:off x="13341096" y="5760720"/>
            <a:ext cx="3749039" cy="3017520"/>
          </a:xfrm>
          <a:prstGeom prst="roundRect">
            <a:avLst>
              <a:gd name="adj" fmla="val 6000"/>
            </a:avLst>
          </a:prstGeom>
          <a:solidFill>
            <a:schemeClr val="accent3">
              <a:lumMod val="40000"/>
              <a:lumOff val="60000"/>
            </a:schemeClr>
          </a:solidFill>
          <a:ln>
            <a:solidFill>
              <a:schemeClr val="tx1"/>
            </a:solidFill>
          </a:ln>
        </p:spPr>
        <p:txBody>
          <a:bodyPr rtlCol="0" anchor="ctr"/>
          <a:lstStyle/>
          <a:p>
            <a:endParaRPr/>
          </a:p>
        </p:txBody>
      </p:sp>
      <p:sp>
        <p:nvSpPr>
          <p:cNvPr id="45" name="TextBox 44"/>
          <p:cNvSpPr txBox="1"/>
          <p:nvPr/>
        </p:nvSpPr>
        <p:spPr>
          <a:xfrm>
            <a:off x="13569696" y="5943600"/>
            <a:ext cx="3383279" cy="365760"/>
          </a:xfrm>
          <a:prstGeom prst="rect">
            <a:avLst/>
          </a:prstGeom>
          <a:noFill/>
        </p:spPr>
        <p:txBody>
          <a:bodyPr wrap="square" lIns="0" tIns="0" rIns="0" bIns="0" anchor="t">
            <a:noAutofit/>
          </a:bodyPr>
          <a:lstStyle/>
          <a:p>
            <a:pPr algn="l">
              <a:lnSpc>
                <a:spcPct val="112000"/>
              </a:lnSpc>
              <a:spcAft>
                <a:spcPts val="0"/>
              </a:spcAft>
            </a:pPr>
            <a:r>
              <a:rPr sz="1600" b="0" i="0" dirty="0">
                <a:solidFill>
                  <a:srgbClr val="FF0000"/>
                </a:solidFill>
                <a:latin typeface="Segoe UI Semibold"/>
                <a:cs typeface="Segoe UI Semibold"/>
              </a:rPr>
              <a:t>We tried to fool it</a:t>
            </a:r>
          </a:p>
        </p:txBody>
      </p:sp>
      <p:sp>
        <p:nvSpPr>
          <p:cNvPr id="46" name="TextBox 45"/>
          <p:cNvSpPr txBox="1"/>
          <p:nvPr/>
        </p:nvSpPr>
        <p:spPr>
          <a:xfrm>
            <a:off x="13569696" y="6327648"/>
            <a:ext cx="1737360" cy="640080"/>
          </a:xfrm>
          <a:prstGeom prst="rect">
            <a:avLst/>
          </a:prstGeom>
          <a:noFill/>
        </p:spPr>
        <p:txBody>
          <a:bodyPr wrap="square" lIns="0" tIns="0" rIns="0" bIns="0" anchor="ctr">
            <a:noAutofit/>
          </a:bodyPr>
          <a:lstStyle/>
          <a:p>
            <a:pPr algn="l">
              <a:lnSpc>
                <a:spcPct val="112000"/>
              </a:lnSpc>
              <a:spcAft>
                <a:spcPts val="0"/>
              </a:spcAft>
            </a:pPr>
            <a:r>
              <a:rPr sz="3000" b="0" i="0" dirty="0">
                <a:solidFill>
                  <a:schemeClr val="tx2">
                    <a:lumMod val="75000"/>
                  </a:schemeClr>
                </a:solidFill>
                <a:latin typeface="Segoe UI Semibold"/>
                <a:cs typeface="Segoe UI Semibold"/>
              </a:rPr>
              <a:t>32 / 32</a:t>
            </a:r>
          </a:p>
        </p:txBody>
      </p:sp>
      <p:sp>
        <p:nvSpPr>
          <p:cNvPr id="47" name="TextBox 46"/>
          <p:cNvSpPr txBox="1"/>
          <p:nvPr/>
        </p:nvSpPr>
        <p:spPr>
          <a:xfrm>
            <a:off x="15261336" y="6327648"/>
            <a:ext cx="1691639" cy="640080"/>
          </a:xfrm>
          <a:prstGeom prst="rect">
            <a:avLst/>
          </a:prstGeom>
          <a:noFill/>
        </p:spPr>
        <p:txBody>
          <a:bodyPr wrap="square" lIns="0" tIns="0" rIns="0" bIns="0" anchor="ctr">
            <a:noAutofit/>
          </a:bodyPr>
          <a:lstStyle/>
          <a:p>
            <a:pPr algn="l">
              <a:lnSpc>
                <a:spcPct val="105000"/>
              </a:lnSpc>
              <a:spcAft>
                <a:spcPts val="0"/>
              </a:spcAft>
            </a:pPr>
            <a:r>
              <a:rPr sz="1150" b="0" i="0" dirty="0">
                <a:solidFill>
                  <a:schemeClr val="tx2">
                    <a:lumMod val="75000"/>
                  </a:schemeClr>
                </a:solidFill>
                <a:latin typeface="Segoe UI"/>
                <a:cs typeface="Segoe UI"/>
              </a:rPr>
              <a:t>handled correctly, with 0 false claims</a:t>
            </a:r>
          </a:p>
        </p:txBody>
      </p:sp>
      <p:sp>
        <p:nvSpPr>
          <p:cNvPr id="48" name="TextBox 47"/>
          <p:cNvSpPr txBox="1"/>
          <p:nvPr/>
        </p:nvSpPr>
        <p:spPr>
          <a:xfrm>
            <a:off x="13569696" y="6995160"/>
            <a:ext cx="3383279" cy="502920"/>
          </a:xfrm>
          <a:prstGeom prst="rect">
            <a:avLst/>
          </a:prstGeom>
          <a:noFill/>
        </p:spPr>
        <p:txBody>
          <a:bodyPr wrap="square" lIns="0" tIns="0" rIns="0" bIns="0" anchor="t">
            <a:noAutofit/>
          </a:bodyPr>
          <a:lstStyle/>
          <a:p>
            <a:pPr algn="l">
              <a:lnSpc>
                <a:spcPct val="105000"/>
              </a:lnSpc>
              <a:spcAft>
                <a:spcPts val="0"/>
              </a:spcAft>
            </a:pPr>
            <a:r>
              <a:rPr sz="1100" b="1" i="0" dirty="0">
                <a:solidFill>
                  <a:schemeClr val="tx2">
                    <a:lumMod val="75000"/>
                  </a:schemeClr>
                </a:solidFill>
                <a:latin typeface="Segoe UI"/>
                <a:cs typeface="Segoe UI"/>
              </a:rPr>
              <a:t>25 legitimate lookalikes built to trick it, plus 7 real errors as controls</a:t>
            </a:r>
          </a:p>
        </p:txBody>
      </p:sp>
      <p:sp>
        <p:nvSpPr>
          <p:cNvPr id="49" name="Rounded Rectangle 48"/>
          <p:cNvSpPr/>
          <p:nvPr/>
        </p:nvSpPr>
        <p:spPr>
          <a:xfrm>
            <a:off x="13569696" y="7571231"/>
            <a:ext cx="1640433" cy="292608"/>
          </a:xfrm>
          <a:prstGeom prst="roundRect">
            <a:avLst>
              <a:gd name="adj" fmla="val 50000"/>
            </a:avLst>
          </a:prstGeom>
          <a:solidFill>
            <a:srgbClr val="5C3E22"/>
          </a:solidFill>
          <a:ln>
            <a:noFill/>
          </a:ln>
        </p:spPr>
        <p:txBody>
          <a:bodyPr wrap="square" lIns="0" tIns="0" rIns="0" bIns="0" rtlCol="0" anchor="ctr">
            <a:noAutofit/>
          </a:bodyPr>
          <a:lstStyle/>
          <a:p>
            <a:pPr algn="ctr">
              <a:lnSpc>
                <a:spcPct val="112000"/>
              </a:lnSpc>
              <a:spcAft>
                <a:spcPts val="0"/>
              </a:spcAft>
            </a:pPr>
            <a:r>
              <a:rPr sz="950" b="0" i="0">
                <a:solidFill>
                  <a:srgbClr val="F3E6D0"/>
                </a:solidFill>
                <a:latin typeface="Segoe UI"/>
                <a:cs typeface="Segoe UI"/>
              </a:rPr>
              <a:t>UPI of exactly ₹2,000</a:t>
            </a:r>
          </a:p>
        </p:txBody>
      </p:sp>
      <p:sp>
        <p:nvSpPr>
          <p:cNvPr id="50" name="Rounded Rectangle 49"/>
          <p:cNvSpPr/>
          <p:nvPr/>
        </p:nvSpPr>
        <p:spPr>
          <a:xfrm>
            <a:off x="15283281" y="7571231"/>
            <a:ext cx="1302105" cy="292608"/>
          </a:xfrm>
          <a:prstGeom prst="roundRect">
            <a:avLst>
              <a:gd name="adj" fmla="val 50000"/>
            </a:avLst>
          </a:prstGeom>
          <a:solidFill>
            <a:srgbClr val="5C3E22"/>
          </a:solidFill>
          <a:ln>
            <a:noFill/>
          </a:ln>
        </p:spPr>
        <p:txBody>
          <a:bodyPr wrap="square" lIns="0" tIns="0" rIns="0" bIns="0" rtlCol="0" anchor="ctr">
            <a:noAutofit/>
          </a:bodyPr>
          <a:lstStyle/>
          <a:p>
            <a:pPr algn="ctr">
              <a:lnSpc>
                <a:spcPct val="112000"/>
              </a:lnSpc>
              <a:spcAft>
                <a:spcPts val="0"/>
              </a:spcAft>
            </a:pPr>
            <a:r>
              <a:rPr sz="950" b="0" i="0">
                <a:solidFill>
                  <a:srgbClr val="F3E6D0"/>
                </a:solidFill>
                <a:latin typeface="Segoe UI"/>
                <a:cs typeface="Segoe UI"/>
              </a:rPr>
              <a:t>GST at ₹2,000.01</a:t>
            </a:r>
          </a:p>
        </p:txBody>
      </p:sp>
      <p:sp>
        <p:nvSpPr>
          <p:cNvPr id="51" name="Rounded Rectangle 50"/>
          <p:cNvSpPr/>
          <p:nvPr/>
        </p:nvSpPr>
        <p:spPr>
          <a:xfrm>
            <a:off x="13569696" y="7936992"/>
            <a:ext cx="1302105" cy="292608"/>
          </a:xfrm>
          <a:prstGeom prst="roundRect">
            <a:avLst>
              <a:gd name="adj" fmla="val 50000"/>
            </a:avLst>
          </a:prstGeom>
          <a:solidFill>
            <a:srgbClr val="5C3E22"/>
          </a:solidFill>
          <a:ln>
            <a:noFill/>
          </a:ln>
        </p:spPr>
        <p:txBody>
          <a:bodyPr wrap="square" lIns="0" tIns="0" rIns="0" bIns="0" rtlCol="0" anchor="ctr">
            <a:noAutofit/>
          </a:bodyPr>
          <a:lstStyle/>
          <a:p>
            <a:pPr algn="ctr">
              <a:lnSpc>
                <a:spcPct val="112000"/>
              </a:lnSpc>
              <a:spcAft>
                <a:spcPts val="0"/>
              </a:spcAft>
            </a:pPr>
            <a:r>
              <a:rPr sz="950" b="0" i="0">
                <a:solidFill>
                  <a:srgbClr val="F3E6D0"/>
                </a:solidFill>
                <a:latin typeface="Segoe UI"/>
                <a:cs typeface="Segoe UI"/>
              </a:rPr>
              <a:t>signed rate rise</a:t>
            </a:r>
          </a:p>
        </p:txBody>
      </p:sp>
      <p:sp>
        <p:nvSpPr>
          <p:cNvPr id="52" name="Rounded Rectangle 51"/>
          <p:cNvSpPr/>
          <p:nvPr/>
        </p:nvSpPr>
        <p:spPr>
          <a:xfrm>
            <a:off x="14944953" y="7936992"/>
            <a:ext cx="896112" cy="292608"/>
          </a:xfrm>
          <a:prstGeom prst="roundRect">
            <a:avLst>
              <a:gd name="adj" fmla="val 50000"/>
            </a:avLst>
          </a:prstGeom>
          <a:solidFill>
            <a:srgbClr val="5C3E22"/>
          </a:solidFill>
          <a:ln>
            <a:noFill/>
          </a:ln>
        </p:spPr>
        <p:txBody>
          <a:bodyPr wrap="square" lIns="0" tIns="0" rIns="0" bIns="0" rtlCol="0" anchor="ctr">
            <a:noAutofit/>
          </a:bodyPr>
          <a:lstStyle/>
          <a:p>
            <a:pPr algn="ctr">
              <a:lnSpc>
                <a:spcPct val="112000"/>
              </a:lnSpc>
              <a:spcAft>
                <a:spcPts val="0"/>
              </a:spcAft>
            </a:pPr>
            <a:r>
              <a:rPr sz="950" b="0" i="0">
                <a:solidFill>
                  <a:srgbClr val="F3E6D0"/>
                </a:solidFill>
                <a:latin typeface="Segoe UI"/>
                <a:cs typeface="Segoe UI"/>
              </a:rPr>
              <a:t>chargeback</a:t>
            </a:r>
          </a:p>
        </p:txBody>
      </p:sp>
      <p:sp>
        <p:nvSpPr>
          <p:cNvPr id="53" name="Rounded Rectangle 52"/>
          <p:cNvSpPr/>
          <p:nvPr/>
        </p:nvSpPr>
        <p:spPr>
          <a:xfrm>
            <a:off x="13569696" y="8302752"/>
            <a:ext cx="1505102" cy="292608"/>
          </a:xfrm>
          <a:prstGeom prst="roundRect">
            <a:avLst>
              <a:gd name="adj" fmla="val 50000"/>
            </a:avLst>
          </a:prstGeom>
          <a:solidFill>
            <a:srgbClr val="5C3E22"/>
          </a:solidFill>
          <a:ln>
            <a:noFill/>
          </a:ln>
        </p:spPr>
        <p:txBody>
          <a:bodyPr wrap="square" lIns="0" tIns="0" rIns="0" bIns="0" rtlCol="0" anchor="ctr">
            <a:noAutofit/>
          </a:bodyPr>
          <a:lstStyle/>
          <a:p>
            <a:pPr algn="ctr">
              <a:lnSpc>
                <a:spcPct val="112000"/>
              </a:lnSpc>
              <a:spcAft>
                <a:spcPts val="0"/>
              </a:spcAft>
            </a:pPr>
            <a:r>
              <a:rPr sz="950" b="0" i="0">
                <a:solidFill>
                  <a:srgbClr val="F3E6D0"/>
                </a:solidFill>
                <a:latin typeface="Segoe UI"/>
                <a:cs typeface="Segoe UI"/>
              </a:rPr>
              <a:t>two partial refunds</a:t>
            </a:r>
          </a:p>
        </p:txBody>
      </p:sp>
      <p:sp>
        <p:nvSpPr>
          <p:cNvPr id="54" name="Rounded Rectangle 53"/>
          <p:cNvSpPr/>
          <p:nvPr/>
        </p:nvSpPr>
        <p:spPr>
          <a:xfrm>
            <a:off x="15147950" y="8302752"/>
            <a:ext cx="1708099" cy="292608"/>
          </a:xfrm>
          <a:prstGeom prst="roundRect">
            <a:avLst>
              <a:gd name="adj" fmla="val 50000"/>
            </a:avLst>
          </a:prstGeom>
          <a:solidFill>
            <a:srgbClr val="5C3E22"/>
          </a:solidFill>
          <a:ln>
            <a:noFill/>
          </a:ln>
        </p:spPr>
        <p:txBody>
          <a:bodyPr wrap="square" lIns="0" tIns="0" rIns="0" bIns="0" rtlCol="0" anchor="ctr">
            <a:noAutofit/>
          </a:bodyPr>
          <a:lstStyle/>
          <a:p>
            <a:pPr algn="ctr">
              <a:lnSpc>
                <a:spcPct val="112000"/>
              </a:lnSpc>
              <a:spcAft>
                <a:spcPts val="0"/>
              </a:spcAft>
            </a:pPr>
            <a:r>
              <a:rPr sz="950" b="0" i="0">
                <a:solidFill>
                  <a:srgbClr val="F3E6D0"/>
                </a:solidFill>
                <a:latin typeface="Segoe UI"/>
                <a:cs typeface="Segoe UI"/>
              </a:rPr>
              <a:t>rental in return month</a:t>
            </a:r>
          </a:p>
        </p:txBody>
      </p:sp>
      <p:sp>
        <p:nvSpPr>
          <p:cNvPr id="55" name="TextBox 54"/>
          <p:cNvSpPr txBox="1"/>
          <p:nvPr/>
        </p:nvSpPr>
        <p:spPr>
          <a:xfrm>
            <a:off x="2743200" y="8915400"/>
            <a:ext cx="14356080" cy="411480"/>
          </a:xfrm>
          <a:prstGeom prst="rect">
            <a:avLst/>
          </a:prstGeom>
          <a:noFill/>
        </p:spPr>
        <p:txBody>
          <a:bodyPr wrap="square" lIns="0" tIns="0" rIns="0" bIns="0" anchor="t">
            <a:noAutofit/>
          </a:bodyPr>
          <a:lstStyle/>
          <a:p>
            <a:pPr algn="l">
              <a:lnSpc>
                <a:spcPct val="112000"/>
              </a:lnSpc>
              <a:spcAft>
                <a:spcPts val="0"/>
              </a:spcAft>
            </a:pPr>
            <a:r>
              <a:rPr sz="1300" b="0" i="0" dirty="0">
                <a:solidFill>
                  <a:srgbClr val="B96A1E"/>
                </a:solidFill>
                <a:latin typeface="Segoe UI Semibold"/>
                <a:cs typeface="Segoe UI Semibold"/>
              </a:rPr>
              <a:t>The hardest trap</a:t>
            </a:r>
            <a:r>
              <a:rPr sz="1300" b="1" i="0" dirty="0">
                <a:solidFill>
                  <a:srgbClr val="B96A1E"/>
                </a:solidFill>
                <a:latin typeface="Segoe UI Semibold"/>
                <a:cs typeface="Segoe UI Semibold"/>
              </a:rPr>
              <a:t>: </a:t>
            </a:r>
            <a:r>
              <a:rPr lang="en-IN" sz="1300" b="1" dirty="0">
                <a:solidFill>
                  <a:srgbClr val="000000"/>
                </a:solidFill>
                <a:latin typeface="Segoe UI"/>
                <a:cs typeface="Segoe UI"/>
              </a:rPr>
              <a:t>A</a:t>
            </a:r>
            <a:r>
              <a:rPr sz="1300" b="1" i="0" dirty="0">
                <a:solidFill>
                  <a:srgbClr val="000000"/>
                </a:solidFill>
                <a:latin typeface="Segoe UI"/>
                <a:cs typeface="Segoe UI"/>
              </a:rPr>
              <a:t> UPI payment of exactly ₹2,000 carries no MDR, but from 15 October one of ₹2,000.01 legitimately can</a:t>
            </a:r>
            <a:r>
              <a:rPr sz="1300" b="0" i="0" dirty="0">
                <a:solidFill>
                  <a:srgbClr val="000000"/>
                </a:solidFill>
                <a:latin typeface="Segoe UI"/>
                <a:cs typeface="Segoe U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a:ln/>
        </p:spPr>
        <p:txBody>
          <a:bodyPr/>
          <a:lstStyle/>
          <a:p>
            <a:endParaRPr/>
          </a:p>
        </p:txBody>
      </p:sp>
      <p:sp>
        <p:nvSpPr>
          <p:cNvPr id="3" name="Freeform 3"/>
          <p:cNvSpPr/>
          <p:nvPr/>
        </p:nvSpPr>
        <p:spPr>
          <a:xfrm flipH="1">
            <a:off x="17144099" y="-491266"/>
            <a:ext cx="1634142" cy="1637554"/>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3"/>
                </a:ext>
              </a:extLst>
            </a:blip>
            <a:stretch>
              <a:fillRect/>
            </a:stretch>
          </a:blipFill>
          <a:ln/>
        </p:spPr>
        <p:txBody>
          <a:bodyPr/>
          <a:lstStyle/>
          <a:p>
            <a:endParaRPr/>
          </a:p>
        </p:txBody>
      </p:sp>
      <p:sp>
        <p:nvSpPr>
          <p:cNvPr id="4" name="Freeform 4"/>
          <p:cNvSpPr/>
          <p:nvPr/>
        </p:nvSpPr>
        <p:spPr>
          <a:xfrm flipV="1">
            <a:off x="17834899" y="9597067"/>
            <a:ext cx="1213237" cy="1112134"/>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4"/>
                </a:ext>
              </a:extLst>
            </a:blip>
            <a:stretch>
              <a:fillRect/>
            </a:stretch>
          </a:blipFill>
          <a:ln/>
        </p:spPr>
        <p:txBody>
          <a:bodyPr/>
          <a:lstStyle/>
          <a:p>
            <a:endParaRPr/>
          </a:p>
        </p:txBody>
      </p:sp>
      <p:sp>
        <p:nvSpPr>
          <p:cNvPr id="5" name="Freeform 5"/>
          <p:cNvSpPr/>
          <p:nvPr/>
        </p:nvSpPr>
        <p:spPr>
          <a:xfrm flipH="1">
            <a:off x="-900624" y="-347443"/>
            <a:ext cx="1213237" cy="1112134"/>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4"/>
                </a:ext>
              </a:extLst>
            </a:blip>
            <a:stretch>
              <a:fillRect/>
            </a:stretch>
          </a:blipFill>
          <a:ln/>
        </p:spPr>
        <p:txBody>
          <a:bodyPr/>
          <a:lstStyle/>
          <a:p>
            <a:endParaRPr/>
          </a:p>
        </p:txBody>
      </p:sp>
      <p:sp>
        <p:nvSpPr>
          <p:cNvPr id="6" name="TextBox 5"/>
          <p:cNvSpPr txBox="1"/>
          <p:nvPr/>
        </p:nvSpPr>
        <p:spPr>
          <a:xfrm>
            <a:off x="1188720" y="502920"/>
            <a:ext cx="12801600" cy="822960"/>
          </a:xfrm>
          <a:prstGeom prst="rect">
            <a:avLst/>
          </a:prstGeom>
          <a:noFill/>
          <a:ln/>
        </p:spPr>
        <p:txBody>
          <a:bodyPr wrap="square" lIns="0" tIns="0" rIns="0" bIns="0" anchor="t">
            <a:noAutofit/>
          </a:bodyPr>
          <a:lstStyle/>
          <a:p>
            <a:pPr algn="l">
              <a:lnSpc>
                <a:spcPct val="90000"/>
              </a:lnSpc>
              <a:spcAft>
                <a:spcPts val="0"/>
              </a:spcAft>
            </a:pPr>
            <a:r>
              <a:rPr sz="5000" b="0" i="0" dirty="0">
                <a:solidFill>
                  <a:srgbClr val="B96A1E"/>
                </a:solidFill>
                <a:latin typeface="League Spartan"/>
                <a:cs typeface="League Spartan"/>
              </a:rPr>
              <a:t>TECHNICAL </a:t>
            </a:r>
            <a:r>
              <a:rPr lang="en-IN" sz="5000" dirty="0">
                <a:solidFill>
                  <a:srgbClr val="B96A1E"/>
                </a:solidFill>
                <a:latin typeface="League Spartan"/>
                <a:cs typeface="League Spartan"/>
              </a:rPr>
              <a:t>FLOW</a:t>
            </a:r>
            <a:endParaRPr sz="5000" b="0" i="0" dirty="0">
              <a:solidFill>
                <a:srgbClr val="B96A1E"/>
              </a:solidFill>
              <a:latin typeface="League Spartan"/>
              <a:cs typeface="League Spartan"/>
            </a:endParaRPr>
          </a:p>
        </p:txBody>
      </p:sp>
      <p:sp>
        <p:nvSpPr>
          <p:cNvPr id="7" name="TextBox 6"/>
          <p:cNvSpPr txBox="1"/>
          <p:nvPr/>
        </p:nvSpPr>
        <p:spPr>
          <a:xfrm>
            <a:off x="1207008" y="1298448"/>
            <a:ext cx="14173200" cy="502920"/>
          </a:xfrm>
          <a:prstGeom prst="rect">
            <a:avLst/>
          </a:prstGeom>
          <a:noFill/>
          <a:ln/>
        </p:spPr>
        <p:txBody>
          <a:bodyPr wrap="square" lIns="0" tIns="0" rIns="0" bIns="0" anchor="t">
            <a:noAutofit/>
          </a:bodyPr>
          <a:lstStyle/>
          <a:p>
            <a:pPr algn="l">
              <a:lnSpc>
                <a:spcPct val="112000"/>
              </a:lnSpc>
              <a:spcAft>
                <a:spcPts val="0"/>
              </a:spcAft>
            </a:pPr>
            <a:r>
              <a:rPr sz="2300" b="0" i="0">
                <a:solidFill>
                  <a:srgbClr val="1B2733"/>
                </a:solidFill>
                <a:latin typeface="Segoe UI"/>
                <a:cs typeface="Segoe UI"/>
              </a:rPr>
              <a:t>From the settlement file to the merchant’s phone</a:t>
            </a:r>
          </a:p>
        </p:txBody>
      </p:sp>
      <p:sp>
        <p:nvSpPr>
          <p:cNvPr id="8" name="TextBox 7"/>
          <p:cNvSpPr txBox="1"/>
          <p:nvPr/>
        </p:nvSpPr>
        <p:spPr>
          <a:xfrm>
            <a:off x="1207008" y="9692640"/>
            <a:ext cx="10972800" cy="329184"/>
          </a:xfrm>
          <a:prstGeom prst="rect">
            <a:avLst/>
          </a:prstGeom>
          <a:noFill/>
          <a:ln/>
        </p:spPr>
        <p:txBody>
          <a:bodyPr wrap="square" lIns="0" tIns="0" rIns="0" bIns="0" anchor="t">
            <a:noAutofit/>
          </a:bodyPr>
          <a:lstStyle/>
          <a:p>
            <a:pPr algn="l">
              <a:lnSpc>
                <a:spcPct val="112000"/>
              </a:lnSpc>
              <a:spcAft>
                <a:spcPts val="0"/>
              </a:spcAft>
            </a:pPr>
            <a:r>
              <a:rPr sz="1400" b="0" i="0" dirty="0">
                <a:solidFill>
                  <a:srgbClr val="B96A1E"/>
                </a:solidFill>
                <a:latin typeface="Segoe UI Semibold"/>
                <a:cs typeface="Segoe UI Semibold"/>
              </a:rPr>
              <a:t>0</a:t>
            </a:r>
            <a:r>
              <a:rPr lang="en-IN" sz="1400" b="0" i="0" dirty="0">
                <a:solidFill>
                  <a:srgbClr val="B96A1E"/>
                </a:solidFill>
                <a:latin typeface="Segoe UI Semibold"/>
                <a:cs typeface="Segoe UI Semibold"/>
              </a:rPr>
              <a:t>8</a:t>
            </a:r>
            <a:r>
              <a:rPr sz="1200" b="0" i="0" dirty="0">
                <a:solidFill>
                  <a:srgbClr val="8A6F55"/>
                </a:solidFill>
                <a:latin typeface="Segoe UI"/>
                <a:cs typeface="Segoe UI"/>
              </a:rPr>
              <a:t>   Munim   Paytm Build for India, Track 3</a:t>
            </a:r>
          </a:p>
        </p:txBody>
      </p:sp>
      <p:sp>
        <p:nvSpPr>
          <p:cNvPr id="9" name="Rounded Rectangle 8"/>
          <p:cNvSpPr/>
          <p:nvPr/>
        </p:nvSpPr>
        <p:spPr>
          <a:xfrm>
            <a:off x="8778240" y="9729216"/>
            <a:ext cx="237744" cy="237744"/>
          </a:xfrm>
          <a:prstGeom prst="roundRect">
            <a:avLst>
              <a:gd name="adj" fmla="val 20000"/>
            </a:avLst>
          </a:prstGeom>
          <a:solidFill>
            <a:srgbClr val="EEF1F5"/>
          </a:solidFill>
          <a:ln w="15875">
            <a:solidFill>
              <a:srgbClr val="7D8CA0"/>
            </a:solidFill>
          </a:ln>
        </p:spPr>
        <p:txBody>
          <a:bodyPr rtlCol="0" anchor="ctr"/>
          <a:lstStyle/>
          <a:p>
            <a:endParaRPr/>
          </a:p>
        </p:txBody>
      </p:sp>
      <p:sp>
        <p:nvSpPr>
          <p:cNvPr id="10" name="TextBox 9"/>
          <p:cNvSpPr txBox="1"/>
          <p:nvPr/>
        </p:nvSpPr>
        <p:spPr>
          <a:xfrm>
            <a:off x="9079992" y="9674352"/>
            <a:ext cx="1280160" cy="347472"/>
          </a:xfrm>
          <a:prstGeom prst="rect">
            <a:avLst/>
          </a:prstGeom>
          <a:noFill/>
          <a:ln/>
        </p:spPr>
        <p:txBody>
          <a:bodyPr wrap="square" lIns="0" tIns="0" rIns="0" bIns="0" anchor="ctr">
            <a:noAutofit/>
          </a:bodyPr>
          <a:lstStyle/>
          <a:p>
            <a:pPr algn="l">
              <a:lnSpc>
                <a:spcPct val="112000"/>
              </a:lnSpc>
              <a:spcAft>
                <a:spcPts val="0"/>
              </a:spcAft>
            </a:pPr>
            <a:r>
              <a:rPr sz="1100" b="0" i="0">
                <a:solidFill>
                  <a:srgbClr val="3E4A5A"/>
                </a:solidFill>
                <a:latin typeface="Segoe UI"/>
                <a:cs typeface="Segoe UI"/>
              </a:rPr>
              <a:t>Data</a:t>
            </a:r>
          </a:p>
        </p:txBody>
      </p:sp>
      <p:sp>
        <p:nvSpPr>
          <p:cNvPr id="11" name="Rounded Rectangle 10"/>
          <p:cNvSpPr/>
          <p:nvPr/>
        </p:nvSpPr>
        <p:spPr>
          <a:xfrm>
            <a:off x="9630460" y="9729216"/>
            <a:ext cx="237744" cy="237744"/>
          </a:xfrm>
          <a:prstGeom prst="roundRect">
            <a:avLst>
              <a:gd name="adj" fmla="val 20000"/>
            </a:avLst>
          </a:prstGeom>
          <a:solidFill>
            <a:srgbClr val="FFFFFF"/>
          </a:solidFill>
          <a:ln w="15875">
            <a:solidFill>
              <a:srgbClr val="1B2733"/>
            </a:solidFill>
          </a:ln>
        </p:spPr>
        <p:txBody>
          <a:bodyPr rtlCol="0" anchor="ctr"/>
          <a:lstStyle/>
          <a:p>
            <a:endParaRPr/>
          </a:p>
        </p:txBody>
      </p:sp>
      <p:sp>
        <p:nvSpPr>
          <p:cNvPr id="12" name="TextBox 11"/>
          <p:cNvSpPr txBox="1"/>
          <p:nvPr/>
        </p:nvSpPr>
        <p:spPr>
          <a:xfrm>
            <a:off x="9932212" y="9674352"/>
            <a:ext cx="1280160" cy="347472"/>
          </a:xfrm>
          <a:prstGeom prst="rect">
            <a:avLst/>
          </a:prstGeom>
          <a:noFill/>
          <a:ln/>
        </p:spPr>
        <p:txBody>
          <a:bodyPr wrap="square" lIns="0" tIns="0" rIns="0" bIns="0" anchor="ctr">
            <a:noAutofit/>
          </a:bodyPr>
          <a:lstStyle/>
          <a:p>
            <a:pPr algn="l">
              <a:lnSpc>
                <a:spcPct val="112000"/>
              </a:lnSpc>
              <a:spcAft>
                <a:spcPts val="0"/>
              </a:spcAft>
            </a:pPr>
            <a:r>
              <a:rPr sz="1100" b="0" i="0">
                <a:solidFill>
                  <a:srgbClr val="3E4A5A"/>
                </a:solidFill>
                <a:latin typeface="Segoe UI"/>
                <a:cs typeface="Segoe UI"/>
              </a:rPr>
              <a:t>Engine (code)</a:t>
            </a:r>
          </a:p>
        </p:txBody>
      </p:sp>
      <p:sp>
        <p:nvSpPr>
          <p:cNvPr id="13" name="Rounded Rectangle 12"/>
          <p:cNvSpPr/>
          <p:nvPr/>
        </p:nvSpPr>
        <p:spPr>
          <a:xfrm>
            <a:off x="11124590" y="9729216"/>
            <a:ext cx="237744" cy="237744"/>
          </a:xfrm>
          <a:prstGeom prst="roundRect">
            <a:avLst>
              <a:gd name="adj" fmla="val 20000"/>
            </a:avLst>
          </a:prstGeom>
          <a:solidFill>
            <a:srgbClr val="FDE4CC"/>
          </a:solidFill>
          <a:ln w="15875">
            <a:solidFill>
              <a:srgbClr val="E07B24"/>
            </a:solidFill>
          </a:ln>
        </p:spPr>
        <p:txBody>
          <a:bodyPr rtlCol="0" anchor="ctr"/>
          <a:lstStyle/>
          <a:p>
            <a:endParaRPr/>
          </a:p>
        </p:txBody>
      </p:sp>
      <p:sp>
        <p:nvSpPr>
          <p:cNvPr id="14" name="TextBox 13"/>
          <p:cNvSpPr txBox="1"/>
          <p:nvPr/>
        </p:nvSpPr>
        <p:spPr>
          <a:xfrm>
            <a:off x="11426342" y="9674352"/>
            <a:ext cx="1280160" cy="347472"/>
          </a:xfrm>
          <a:prstGeom prst="rect">
            <a:avLst/>
          </a:prstGeom>
          <a:noFill/>
          <a:ln/>
        </p:spPr>
        <p:txBody>
          <a:bodyPr wrap="square" lIns="0" tIns="0" rIns="0" bIns="0" anchor="ctr">
            <a:noAutofit/>
          </a:bodyPr>
          <a:lstStyle/>
          <a:p>
            <a:pPr algn="l">
              <a:lnSpc>
                <a:spcPct val="112000"/>
              </a:lnSpc>
              <a:spcAft>
                <a:spcPts val="0"/>
              </a:spcAft>
            </a:pPr>
            <a:r>
              <a:rPr sz="1100" b="0" i="0">
                <a:solidFill>
                  <a:srgbClr val="3E4A5A"/>
                </a:solidFill>
                <a:latin typeface="Segoe UI"/>
                <a:cs typeface="Segoe UI"/>
              </a:rPr>
              <a:t>Agent</a:t>
            </a:r>
          </a:p>
        </p:txBody>
      </p:sp>
      <p:sp>
        <p:nvSpPr>
          <p:cNvPr id="15" name="Rounded Rectangle 14"/>
          <p:cNvSpPr/>
          <p:nvPr/>
        </p:nvSpPr>
        <p:spPr>
          <a:xfrm>
            <a:off x="12048134" y="9729216"/>
            <a:ext cx="237744" cy="237744"/>
          </a:xfrm>
          <a:prstGeom prst="roundRect">
            <a:avLst>
              <a:gd name="adj" fmla="val 20000"/>
            </a:avLst>
          </a:prstGeom>
          <a:solidFill>
            <a:srgbClr val="D6E6FA"/>
          </a:solidFill>
          <a:ln w="15875">
            <a:solidFill>
              <a:srgbClr val="2E6FB7"/>
            </a:solidFill>
          </a:ln>
        </p:spPr>
        <p:txBody>
          <a:bodyPr rtlCol="0" anchor="ctr"/>
          <a:lstStyle/>
          <a:p>
            <a:endParaRPr/>
          </a:p>
        </p:txBody>
      </p:sp>
      <p:sp>
        <p:nvSpPr>
          <p:cNvPr id="16" name="TextBox 15"/>
          <p:cNvSpPr txBox="1"/>
          <p:nvPr/>
        </p:nvSpPr>
        <p:spPr>
          <a:xfrm>
            <a:off x="12349886" y="9674352"/>
            <a:ext cx="1280160" cy="347472"/>
          </a:xfrm>
          <a:prstGeom prst="rect">
            <a:avLst/>
          </a:prstGeom>
          <a:noFill/>
          <a:ln/>
        </p:spPr>
        <p:txBody>
          <a:bodyPr wrap="square" lIns="0" tIns="0" rIns="0" bIns="0" anchor="ctr">
            <a:noAutofit/>
          </a:bodyPr>
          <a:lstStyle/>
          <a:p>
            <a:pPr algn="l">
              <a:lnSpc>
                <a:spcPct val="112000"/>
              </a:lnSpc>
              <a:spcAft>
                <a:spcPts val="0"/>
              </a:spcAft>
            </a:pPr>
            <a:r>
              <a:rPr sz="1100" b="0" i="0">
                <a:solidFill>
                  <a:srgbClr val="3E4A5A"/>
                </a:solidFill>
                <a:latin typeface="Segoe UI"/>
                <a:cs typeface="Segoe UI"/>
              </a:rPr>
              <a:t>Sponsor / model</a:t>
            </a:r>
          </a:p>
        </p:txBody>
      </p:sp>
      <p:sp>
        <p:nvSpPr>
          <p:cNvPr id="17" name="Rounded Rectangle 16"/>
          <p:cNvSpPr/>
          <p:nvPr/>
        </p:nvSpPr>
        <p:spPr>
          <a:xfrm>
            <a:off x="13684910" y="9729216"/>
            <a:ext cx="237744" cy="237744"/>
          </a:xfrm>
          <a:prstGeom prst="roundRect">
            <a:avLst>
              <a:gd name="adj" fmla="val 20000"/>
            </a:avLst>
          </a:prstGeom>
          <a:solidFill>
            <a:srgbClr val="1B3A6B"/>
          </a:solidFill>
          <a:ln w="15875">
            <a:solidFill>
              <a:srgbClr val="1B3A6B"/>
            </a:solidFill>
          </a:ln>
        </p:spPr>
        <p:txBody>
          <a:bodyPr rtlCol="0" anchor="ctr"/>
          <a:lstStyle/>
          <a:p>
            <a:endParaRPr/>
          </a:p>
        </p:txBody>
      </p:sp>
      <p:sp>
        <p:nvSpPr>
          <p:cNvPr id="18" name="TextBox 17"/>
          <p:cNvSpPr txBox="1"/>
          <p:nvPr/>
        </p:nvSpPr>
        <p:spPr>
          <a:xfrm>
            <a:off x="13986662" y="9674352"/>
            <a:ext cx="1280160" cy="347472"/>
          </a:xfrm>
          <a:prstGeom prst="rect">
            <a:avLst/>
          </a:prstGeom>
          <a:noFill/>
          <a:ln/>
        </p:spPr>
        <p:txBody>
          <a:bodyPr wrap="square" lIns="0" tIns="0" rIns="0" bIns="0" anchor="ctr">
            <a:noAutofit/>
          </a:bodyPr>
          <a:lstStyle/>
          <a:p>
            <a:pPr algn="l">
              <a:lnSpc>
                <a:spcPct val="112000"/>
              </a:lnSpc>
              <a:spcAft>
                <a:spcPts val="0"/>
              </a:spcAft>
            </a:pPr>
            <a:r>
              <a:rPr sz="1100" b="0" i="0">
                <a:solidFill>
                  <a:srgbClr val="3E4A5A"/>
                </a:solidFill>
                <a:latin typeface="Segoe UI"/>
                <a:cs typeface="Segoe UI"/>
              </a:rPr>
              <a:t>Proof gate</a:t>
            </a:r>
          </a:p>
        </p:txBody>
      </p:sp>
      <p:sp>
        <p:nvSpPr>
          <p:cNvPr id="19" name="Rounded Rectangle 18"/>
          <p:cNvSpPr/>
          <p:nvPr/>
        </p:nvSpPr>
        <p:spPr>
          <a:xfrm>
            <a:off x="14965070" y="9729216"/>
            <a:ext cx="237744" cy="237744"/>
          </a:xfrm>
          <a:prstGeom prst="roundRect">
            <a:avLst>
              <a:gd name="adj" fmla="val 20000"/>
            </a:avLst>
          </a:prstGeom>
          <a:solidFill>
            <a:srgbClr val="DDF0E3"/>
          </a:solidFill>
          <a:ln w="15875">
            <a:solidFill>
              <a:srgbClr val="2E7550"/>
            </a:solidFill>
          </a:ln>
        </p:spPr>
        <p:txBody>
          <a:bodyPr rtlCol="0" anchor="ctr"/>
          <a:lstStyle/>
          <a:p>
            <a:endParaRPr/>
          </a:p>
        </p:txBody>
      </p:sp>
      <p:sp>
        <p:nvSpPr>
          <p:cNvPr id="20" name="TextBox 19"/>
          <p:cNvSpPr txBox="1"/>
          <p:nvPr/>
        </p:nvSpPr>
        <p:spPr>
          <a:xfrm>
            <a:off x="15266822" y="9674352"/>
            <a:ext cx="1280160" cy="347472"/>
          </a:xfrm>
          <a:prstGeom prst="rect">
            <a:avLst/>
          </a:prstGeom>
          <a:noFill/>
          <a:ln/>
        </p:spPr>
        <p:txBody>
          <a:bodyPr wrap="square" lIns="0" tIns="0" rIns="0" bIns="0" anchor="ctr">
            <a:noAutofit/>
          </a:bodyPr>
          <a:lstStyle/>
          <a:p>
            <a:pPr algn="l">
              <a:lnSpc>
                <a:spcPct val="112000"/>
              </a:lnSpc>
              <a:spcAft>
                <a:spcPts val="0"/>
              </a:spcAft>
            </a:pPr>
            <a:r>
              <a:rPr sz="1100" b="0" i="0">
                <a:solidFill>
                  <a:srgbClr val="3E4A5A"/>
                </a:solidFill>
                <a:latin typeface="Segoe UI"/>
                <a:cs typeface="Segoe UI"/>
              </a:rPr>
              <a:t>People</a:t>
            </a:r>
          </a:p>
        </p:txBody>
      </p:sp>
      <p:sp>
        <p:nvSpPr>
          <p:cNvPr id="21" name="Rounded Rectangle 20"/>
          <p:cNvSpPr/>
          <p:nvPr/>
        </p:nvSpPr>
        <p:spPr>
          <a:xfrm>
            <a:off x="1188720" y="2103120"/>
            <a:ext cx="15910559" cy="1389888"/>
          </a:xfrm>
          <a:prstGeom prst="roundRect">
            <a:avLst>
              <a:gd name="adj" fmla="val 6000"/>
            </a:avLst>
          </a:prstGeom>
          <a:solidFill>
            <a:srgbClr val="FFFFFF"/>
          </a:solidFill>
          <a:ln>
            <a:noFill/>
          </a:ln>
        </p:spPr>
        <p:txBody>
          <a:bodyPr rtlCol="0" anchor="ctr"/>
          <a:lstStyle/>
          <a:p>
            <a:endParaRPr/>
          </a:p>
        </p:txBody>
      </p:sp>
      <p:sp>
        <p:nvSpPr>
          <p:cNvPr id="22" name="Rounded Rectangle 21"/>
          <p:cNvSpPr/>
          <p:nvPr/>
        </p:nvSpPr>
        <p:spPr>
          <a:xfrm>
            <a:off x="1188720" y="2103120"/>
            <a:ext cx="2148840" cy="1389888"/>
          </a:xfrm>
          <a:prstGeom prst="roundRect">
            <a:avLst>
              <a:gd name="adj" fmla="val 10000"/>
            </a:avLst>
          </a:prstGeom>
          <a:solidFill>
            <a:srgbClr val="E9EEF5"/>
          </a:solidFill>
          <a:ln>
            <a:noFill/>
          </a:ln>
        </p:spPr>
        <p:txBody>
          <a:bodyPr rtlCol="0" anchor="ctr"/>
          <a:lstStyle/>
          <a:p>
            <a:endParaRPr/>
          </a:p>
        </p:txBody>
      </p:sp>
      <p:sp>
        <p:nvSpPr>
          <p:cNvPr id="23" name="Oval 22"/>
          <p:cNvSpPr/>
          <p:nvPr/>
        </p:nvSpPr>
        <p:spPr>
          <a:xfrm>
            <a:off x="1325880" y="2267712"/>
            <a:ext cx="420624" cy="420624"/>
          </a:xfrm>
          <a:prstGeom prst="ellipse">
            <a:avLst/>
          </a:prstGeom>
          <a:solidFill>
            <a:srgbClr val="1B3A6B"/>
          </a:solidFill>
          <a:ln>
            <a:noFill/>
          </a:ln>
        </p:spPr>
        <p:txBody>
          <a:bodyPr wrap="square" lIns="0" tIns="18288" rIns="0" bIns="0" rtlCol="0" anchor="ctr">
            <a:noAutofit/>
          </a:bodyPr>
          <a:lstStyle/>
          <a:p>
            <a:pPr algn="ctr">
              <a:lnSpc>
                <a:spcPct val="112000"/>
              </a:lnSpc>
              <a:spcAft>
                <a:spcPts val="0"/>
              </a:spcAft>
            </a:pPr>
            <a:r>
              <a:rPr sz="1500" b="0" i="0">
                <a:solidFill>
                  <a:srgbClr val="FFFFFF"/>
                </a:solidFill>
                <a:latin typeface="Segoe UI Semibold"/>
                <a:cs typeface="Segoe UI Semibold"/>
              </a:rPr>
              <a:t>1</a:t>
            </a:r>
          </a:p>
        </p:txBody>
      </p:sp>
      <p:sp>
        <p:nvSpPr>
          <p:cNvPr id="24" name="TextBox 23"/>
          <p:cNvSpPr txBox="1"/>
          <p:nvPr/>
        </p:nvSpPr>
        <p:spPr>
          <a:xfrm>
            <a:off x="1828800" y="2249424"/>
            <a:ext cx="1463040" cy="457200"/>
          </a:xfrm>
          <a:prstGeom prst="rect">
            <a:avLst/>
          </a:prstGeom>
          <a:noFill/>
          <a:ln/>
        </p:spPr>
        <p:txBody>
          <a:bodyPr wrap="square" lIns="0" tIns="0" rIns="0" bIns="0" anchor="ctr">
            <a:noAutofit/>
          </a:bodyPr>
          <a:lstStyle/>
          <a:p>
            <a:pPr algn="l">
              <a:lnSpc>
                <a:spcPct val="95000"/>
              </a:lnSpc>
              <a:spcAft>
                <a:spcPts val="0"/>
              </a:spcAft>
            </a:pPr>
            <a:r>
              <a:rPr sz="1500" b="0" i="0">
                <a:solidFill>
                  <a:srgbClr val="1B3A6B"/>
                </a:solidFill>
                <a:latin typeface="Segoe UI Semibold"/>
                <a:cs typeface="Segoe UI Semibold"/>
              </a:rPr>
              <a:t>INGEST</a:t>
            </a:r>
          </a:p>
        </p:txBody>
      </p:sp>
      <p:sp>
        <p:nvSpPr>
          <p:cNvPr id="25" name="TextBox 24"/>
          <p:cNvSpPr txBox="1"/>
          <p:nvPr/>
        </p:nvSpPr>
        <p:spPr>
          <a:xfrm>
            <a:off x="1325880" y="2743200"/>
            <a:ext cx="1965960" cy="731520"/>
          </a:xfrm>
          <a:prstGeom prst="rect">
            <a:avLst/>
          </a:prstGeom>
          <a:noFill/>
          <a:ln/>
        </p:spPr>
        <p:txBody>
          <a:bodyPr wrap="square" lIns="0" tIns="0" rIns="0" bIns="0" anchor="t">
            <a:noAutofit/>
          </a:bodyPr>
          <a:lstStyle/>
          <a:p>
            <a:pPr algn="l">
              <a:lnSpc>
                <a:spcPct val="105000"/>
              </a:lnSpc>
              <a:spcAft>
                <a:spcPts val="0"/>
              </a:spcAft>
            </a:pPr>
            <a:r>
              <a:rPr sz="1000" b="0" i="0">
                <a:solidFill>
                  <a:srgbClr val="3E4A5A"/>
                </a:solidFill>
                <a:latin typeface="Segoe UI"/>
                <a:cs typeface="Segoe UI"/>
              </a:rPr>
              <a:t>Python 3.13, Pydantic v2, CSV / Settlement API</a:t>
            </a:r>
          </a:p>
        </p:txBody>
      </p:sp>
      <p:sp>
        <p:nvSpPr>
          <p:cNvPr id="26" name="Rounded Rectangle 25"/>
          <p:cNvSpPr/>
          <p:nvPr/>
        </p:nvSpPr>
        <p:spPr>
          <a:xfrm>
            <a:off x="1188720" y="3584448"/>
            <a:ext cx="15910559" cy="1389888"/>
          </a:xfrm>
          <a:prstGeom prst="roundRect">
            <a:avLst>
              <a:gd name="adj" fmla="val 6000"/>
            </a:avLst>
          </a:prstGeom>
          <a:solidFill>
            <a:srgbClr val="F5F7FA"/>
          </a:solidFill>
          <a:ln>
            <a:noFill/>
          </a:ln>
        </p:spPr>
        <p:txBody>
          <a:bodyPr rtlCol="0" anchor="ctr"/>
          <a:lstStyle/>
          <a:p>
            <a:endParaRPr/>
          </a:p>
        </p:txBody>
      </p:sp>
      <p:sp>
        <p:nvSpPr>
          <p:cNvPr id="27" name="Rounded Rectangle 26"/>
          <p:cNvSpPr/>
          <p:nvPr/>
        </p:nvSpPr>
        <p:spPr>
          <a:xfrm>
            <a:off x="1188720" y="3584448"/>
            <a:ext cx="2148840" cy="1389888"/>
          </a:xfrm>
          <a:prstGeom prst="roundRect">
            <a:avLst>
              <a:gd name="adj" fmla="val 10000"/>
            </a:avLst>
          </a:prstGeom>
          <a:solidFill>
            <a:srgbClr val="E9EEF5"/>
          </a:solidFill>
          <a:ln>
            <a:noFill/>
          </a:ln>
        </p:spPr>
        <p:txBody>
          <a:bodyPr rtlCol="0" anchor="ctr"/>
          <a:lstStyle/>
          <a:p>
            <a:endParaRPr/>
          </a:p>
        </p:txBody>
      </p:sp>
      <p:sp>
        <p:nvSpPr>
          <p:cNvPr id="28" name="Oval 27"/>
          <p:cNvSpPr/>
          <p:nvPr/>
        </p:nvSpPr>
        <p:spPr>
          <a:xfrm>
            <a:off x="1325880" y="3749039"/>
            <a:ext cx="420624" cy="420624"/>
          </a:xfrm>
          <a:prstGeom prst="ellipse">
            <a:avLst/>
          </a:prstGeom>
          <a:solidFill>
            <a:srgbClr val="1B3A6B"/>
          </a:solidFill>
          <a:ln>
            <a:noFill/>
          </a:ln>
        </p:spPr>
        <p:txBody>
          <a:bodyPr wrap="square" lIns="0" tIns="18288" rIns="0" bIns="0" rtlCol="0" anchor="ctr">
            <a:noAutofit/>
          </a:bodyPr>
          <a:lstStyle/>
          <a:p>
            <a:pPr algn="ctr">
              <a:lnSpc>
                <a:spcPct val="112000"/>
              </a:lnSpc>
              <a:spcAft>
                <a:spcPts val="0"/>
              </a:spcAft>
            </a:pPr>
            <a:r>
              <a:rPr sz="1500" b="0" i="0">
                <a:solidFill>
                  <a:srgbClr val="FFFFFF"/>
                </a:solidFill>
                <a:latin typeface="Segoe UI Semibold"/>
                <a:cs typeface="Segoe UI Semibold"/>
              </a:rPr>
              <a:t>2</a:t>
            </a:r>
          </a:p>
        </p:txBody>
      </p:sp>
      <p:sp>
        <p:nvSpPr>
          <p:cNvPr id="29" name="TextBox 28"/>
          <p:cNvSpPr txBox="1"/>
          <p:nvPr/>
        </p:nvSpPr>
        <p:spPr>
          <a:xfrm>
            <a:off x="1828800" y="3730752"/>
            <a:ext cx="1463040" cy="457200"/>
          </a:xfrm>
          <a:prstGeom prst="rect">
            <a:avLst/>
          </a:prstGeom>
          <a:noFill/>
          <a:ln/>
        </p:spPr>
        <p:txBody>
          <a:bodyPr wrap="square" lIns="0" tIns="0" rIns="0" bIns="0" anchor="ctr">
            <a:noAutofit/>
          </a:bodyPr>
          <a:lstStyle/>
          <a:p>
            <a:pPr algn="l">
              <a:lnSpc>
                <a:spcPct val="95000"/>
              </a:lnSpc>
              <a:spcAft>
                <a:spcPts val="0"/>
              </a:spcAft>
            </a:pPr>
            <a:r>
              <a:rPr sz="1500" b="0" i="0">
                <a:solidFill>
                  <a:srgbClr val="1B3A6B"/>
                </a:solidFill>
                <a:latin typeface="Segoe UI Semibold"/>
                <a:cs typeface="Segoe UI Semibold"/>
              </a:rPr>
              <a:t>DETECT</a:t>
            </a:r>
          </a:p>
        </p:txBody>
      </p:sp>
      <p:sp>
        <p:nvSpPr>
          <p:cNvPr id="30" name="TextBox 29"/>
          <p:cNvSpPr txBox="1"/>
          <p:nvPr/>
        </p:nvSpPr>
        <p:spPr>
          <a:xfrm>
            <a:off x="1325880" y="4224528"/>
            <a:ext cx="1965960" cy="731520"/>
          </a:xfrm>
          <a:prstGeom prst="rect">
            <a:avLst/>
          </a:prstGeom>
          <a:noFill/>
          <a:ln/>
        </p:spPr>
        <p:txBody>
          <a:bodyPr wrap="square" lIns="0" tIns="0" rIns="0" bIns="0" anchor="t">
            <a:noAutofit/>
          </a:bodyPr>
          <a:lstStyle/>
          <a:p>
            <a:pPr algn="l">
              <a:lnSpc>
                <a:spcPct val="105000"/>
              </a:lnSpc>
              <a:spcAft>
                <a:spcPts val="0"/>
              </a:spcAft>
            </a:pPr>
            <a:r>
              <a:rPr sz="1000" b="0" i="0">
                <a:solidFill>
                  <a:srgbClr val="3E4A5A"/>
                </a:solidFill>
                <a:latin typeface="Segoe UI"/>
                <a:cs typeface="Segoe UI"/>
              </a:rPr>
              <a:t>Monitor Agent, fee + reconciliation engines, replayable clock</a:t>
            </a:r>
          </a:p>
        </p:txBody>
      </p:sp>
      <p:sp>
        <p:nvSpPr>
          <p:cNvPr id="31" name="Rounded Rectangle 30"/>
          <p:cNvSpPr/>
          <p:nvPr/>
        </p:nvSpPr>
        <p:spPr>
          <a:xfrm>
            <a:off x="1188720" y="5065776"/>
            <a:ext cx="15910559" cy="1389888"/>
          </a:xfrm>
          <a:prstGeom prst="roundRect">
            <a:avLst>
              <a:gd name="adj" fmla="val 6000"/>
            </a:avLst>
          </a:prstGeom>
          <a:solidFill>
            <a:srgbClr val="FFFFFF"/>
          </a:solidFill>
          <a:ln>
            <a:noFill/>
          </a:ln>
        </p:spPr>
        <p:txBody>
          <a:bodyPr rtlCol="0" anchor="ctr"/>
          <a:lstStyle/>
          <a:p>
            <a:endParaRPr/>
          </a:p>
        </p:txBody>
      </p:sp>
      <p:sp>
        <p:nvSpPr>
          <p:cNvPr id="32" name="Rounded Rectangle 31"/>
          <p:cNvSpPr/>
          <p:nvPr/>
        </p:nvSpPr>
        <p:spPr>
          <a:xfrm>
            <a:off x="1188720" y="5065776"/>
            <a:ext cx="2148840" cy="1389888"/>
          </a:xfrm>
          <a:prstGeom prst="roundRect">
            <a:avLst>
              <a:gd name="adj" fmla="val 10000"/>
            </a:avLst>
          </a:prstGeom>
          <a:solidFill>
            <a:srgbClr val="E9EEF5"/>
          </a:solidFill>
          <a:ln>
            <a:noFill/>
          </a:ln>
        </p:spPr>
        <p:txBody>
          <a:bodyPr rtlCol="0" anchor="ctr"/>
          <a:lstStyle/>
          <a:p>
            <a:endParaRPr/>
          </a:p>
        </p:txBody>
      </p:sp>
      <p:sp>
        <p:nvSpPr>
          <p:cNvPr id="33" name="Oval 32"/>
          <p:cNvSpPr/>
          <p:nvPr/>
        </p:nvSpPr>
        <p:spPr>
          <a:xfrm>
            <a:off x="1325880" y="5230368"/>
            <a:ext cx="420624" cy="420624"/>
          </a:xfrm>
          <a:prstGeom prst="ellipse">
            <a:avLst/>
          </a:prstGeom>
          <a:solidFill>
            <a:srgbClr val="E07B24"/>
          </a:solidFill>
          <a:ln>
            <a:noFill/>
          </a:ln>
        </p:spPr>
        <p:txBody>
          <a:bodyPr wrap="square" lIns="0" tIns="18288" rIns="0" bIns="0" rtlCol="0" anchor="ctr">
            <a:noAutofit/>
          </a:bodyPr>
          <a:lstStyle/>
          <a:p>
            <a:pPr algn="ctr">
              <a:lnSpc>
                <a:spcPct val="112000"/>
              </a:lnSpc>
              <a:spcAft>
                <a:spcPts val="0"/>
              </a:spcAft>
            </a:pPr>
            <a:r>
              <a:rPr sz="1500" b="0" i="0">
                <a:solidFill>
                  <a:srgbClr val="FFFFFF"/>
                </a:solidFill>
                <a:latin typeface="Segoe UI Semibold"/>
                <a:cs typeface="Segoe UI Semibold"/>
              </a:rPr>
              <a:t>3</a:t>
            </a:r>
          </a:p>
        </p:txBody>
      </p:sp>
      <p:sp>
        <p:nvSpPr>
          <p:cNvPr id="34" name="TextBox 33"/>
          <p:cNvSpPr txBox="1"/>
          <p:nvPr/>
        </p:nvSpPr>
        <p:spPr>
          <a:xfrm>
            <a:off x="1828800" y="5212080"/>
            <a:ext cx="1463040" cy="457200"/>
          </a:xfrm>
          <a:prstGeom prst="rect">
            <a:avLst/>
          </a:prstGeom>
          <a:noFill/>
          <a:ln/>
        </p:spPr>
        <p:txBody>
          <a:bodyPr wrap="square" lIns="0" tIns="0" rIns="0" bIns="0" anchor="ctr">
            <a:noAutofit/>
          </a:bodyPr>
          <a:lstStyle/>
          <a:p>
            <a:pPr algn="l">
              <a:lnSpc>
                <a:spcPct val="95000"/>
              </a:lnSpc>
              <a:spcAft>
                <a:spcPts val="0"/>
              </a:spcAft>
            </a:pPr>
            <a:r>
              <a:rPr sz="1500" b="0" i="0">
                <a:solidFill>
                  <a:srgbClr val="1B3A6B"/>
                </a:solidFill>
                <a:latin typeface="Segoe UI Semibold"/>
                <a:cs typeface="Segoe UI Semibold"/>
              </a:rPr>
              <a:t>PROVE</a:t>
            </a:r>
          </a:p>
        </p:txBody>
      </p:sp>
      <p:sp>
        <p:nvSpPr>
          <p:cNvPr id="35" name="TextBox 34"/>
          <p:cNvSpPr txBox="1"/>
          <p:nvPr/>
        </p:nvSpPr>
        <p:spPr>
          <a:xfrm>
            <a:off x="1325880" y="5705856"/>
            <a:ext cx="1965960" cy="731520"/>
          </a:xfrm>
          <a:prstGeom prst="rect">
            <a:avLst/>
          </a:prstGeom>
          <a:noFill/>
          <a:ln/>
        </p:spPr>
        <p:txBody>
          <a:bodyPr wrap="square" lIns="0" tIns="0" rIns="0" bIns="0" anchor="t">
            <a:noAutofit/>
          </a:bodyPr>
          <a:lstStyle/>
          <a:p>
            <a:pPr algn="l">
              <a:lnSpc>
                <a:spcPct val="105000"/>
              </a:lnSpc>
              <a:spcAft>
                <a:spcPts val="0"/>
              </a:spcAft>
            </a:pPr>
            <a:r>
              <a:rPr sz="1000" b="0" i="0">
                <a:solidFill>
                  <a:srgbClr val="3E4A5A"/>
                </a:solidFill>
                <a:latin typeface="Segoe UI"/>
                <a:cs typeface="Segoe UI"/>
              </a:rPr>
              <a:t>Investigation Agent, Cognee, Sarvam / Gemma 3, Proof Engine</a:t>
            </a:r>
          </a:p>
        </p:txBody>
      </p:sp>
      <p:sp>
        <p:nvSpPr>
          <p:cNvPr id="36" name="Rounded Rectangle 35"/>
          <p:cNvSpPr/>
          <p:nvPr/>
        </p:nvSpPr>
        <p:spPr>
          <a:xfrm>
            <a:off x="1188720" y="6547104"/>
            <a:ext cx="15910559" cy="1389888"/>
          </a:xfrm>
          <a:prstGeom prst="roundRect">
            <a:avLst>
              <a:gd name="adj" fmla="val 6000"/>
            </a:avLst>
          </a:prstGeom>
          <a:solidFill>
            <a:srgbClr val="F5F7FA"/>
          </a:solidFill>
          <a:ln>
            <a:noFill/>
          </a:ln>
        </p:spPr>
        <p:txBody>
          <a:bodyPr rtlCol="0" anchor="ctr"/>
          <a:lstStyle/>
          <a:p>
            <a:endParaRPr/>
          </a:p>
        </p:txBody>
      </p:sp>
      <p:sp>
        <p:nvSpPr>
          <p:cNvPr id="37" name="Rounded Rectangle 36"/>
          <p:cNvSpPr/>
          <p:nvPr/>
        </p:nvSpPr>
        <p:spPr>
          <a:xfrm>
            <a:off x="1188720" y="6547104"/>
            <a:ext cx="2148840" cy="1389888"/>
          </a:xfrm>
          <a:prstGeom prst="roundRect">
            <a:avLst>
              <a:gd name="adj" fmla="val 10000"/>
            </a:avLst>
          </a:prstGeom>
          <a:solidFill>
            <a:srgbClr val="E9EEF5"/>
          </a:solidFill>
          <a:ln>
            <a:noFill/>
          </a:ln>
        </p:spPr>
        <p:txBody>
          <a:bodyPr rtlCol="0" anchor="ctr"/>
          <a:lstStyle/>
          <a:p>
            <a:endParaRPr/>
          </a:p>
        </p:txBody>
      </p:sp>
      <p:sp>
        <p:nvSpPr>
          <p:cNvPr id="38" name="Oval 37"/>
          <p:cNvSpPr/>
          <p:nvPr/>
        </p:nvSpPr>
        <p:spPr>
          <a:xfrm>
            <a:off x="1325880" y="6711696"/>
            <a:ext cx="420624" cy="420624"/>
          </a:xfrm>
          <a:prstGeom prst="ellipse">
            <a:avLst/>
          </a:prstGeom>
          <a:solidFill>
            <a:srgbClr val="1B3A6B"/>
          </a:solidFill>
          <a:ln>
            <a:noFill/>
          </a:ln>
        </p:spPr>
        <p:txBody>
          <a:bodyPr wrap="square" lIns="0" tIns="18288" rIns="0" bIns="0" rtlCol="0" anchor="ctr">
            <a:noAutofit/>
          </a:bodyPr>
          <a:lstStyle/>
          <a:p>
            <a:pPr algn="ctr">
              <a:lnSpc>
                <a:spcPct val="112000"/>
              </a:lnSpc>
              <a:spcAft>
                <a:spcPts val="0"/>
              </a:spcAft>
            </a:pPr>
            <a:r>
              <a:rPr sz="1500" b="0" i="0">
                <a:solidFill>
                  <a:srgbClr val="FFFFFF"/>
                </a:solidFill>
                <a:latin typeface="Segoe UI Semibold"/>
                <a:cs typeface="Segoe UI Semibold"/>
              </a:rPr>
              <a:t>4</a:t>
            </a:r>
          </a:p>
        </p:txBody>
      </p:sp>
      <p:sp>
        <p:nvSpPr>
          <p:cNvPr id="39" name="TextBox 38"/>
          <p:cNvSpPr txBox="1"/>
          <p:nvPr/>
        </p:nvSpPr>
        <p:spPr>
          <a:xfrm>
            <a:off x="1828800" y="6693408"/>
            <a:ext cx="1463040" cy="457200"/>
          </a:xfrm>
          <a:prstGeom prst="rect">
            <a:avLst/>
          </a:prstGeom>
          <a:noFill/>
          <a:ln/>
        </p:spPr>
        <p:txBody>
          <a:bodyPr wrap="square" lIns="0" tIns="0" rIns="0" bIns="0" anchor="ctr">
            <a:noAutofit/>
          </a:bodyPr>
          <a:lstStyle/>
          <a:p>
            <a:pPr algn="l">
              <a:lnSpc>
                <a:spcPct val="95000"/>
              </a:lnSpc>
              <a:spcAft>
                <a:spcPts val="0"/>
              </a:spcAft>
            </a:pPr>
            <a:r>
              <a:rPr sz="1250" b="0" i="0">
                <a:solidFill>
                  <a:srgbClr val="1B3A6B"/>
                </a:solidFill>
                <a:latin typeface="Segoe UI Semibold"/>
                <a:cs typeface="Segoe UI Semibold"/>
              </a:rPr>
              <a:t>ACT &amp; RECOVER</a:t>
            </a:r>
          </a:p>
        </p:txBody>
      </p:sp>
      <p:sp>
        <p:nvSpPr>
          <p:cNvPr id="40" name="TextBox 39"/>
          <p:cNvSpPr txBox="1"/>
          <p:nvPr/>
        </p:nvSpPr>
        <p:spPr>
          <a:xfrm>
            <a:off x="1325880" y="7187184"/>
            <a:ext cx="1965960" cy="731520"/>
          </a:xfrm>
          <a:prstGeom prst="rect">
            <a:avLst/>
          </a:prstGeom>
          <a:noFill/>
          <a:ln/>
        </p:spPr>
        <p:txBody>
          <a:bodyPr wrap="square" lIns="0" tIns="0" rIns="0" bIns="0" anchor="t">
            <a:noAutofit/>
          </a:bodyPr>
          <a:lstStyle/>
          <a:p>
            <a:pPr algn="l">
              <a:lnSpc>
                <a:spcPct val="105000"/>
              </a:lnSpc>
              <a:spcAft>
                <a:spcPts val="0"/>
              </a:spcAft>
            </a:pPr>
            <a:r>
              <a:rPr sz="1000" b="0" i="0">
                <a:solidFill>
                  <a:srgbClr val="3E4A5A"/>
                </a:solidFill>
                <a:latin typeface="Segoe UI"/>
                <a:cs typeface="Segoe UI"/>
              </a:rPr>
              <a:t>Follow-up Agent, n8n 2.39, prevention</a:t>
            </a:r>
          </a:p>
        </p:txBody>
      </p:sp>
      <p:sp>
        <p:nvSpPr>
          <p:cNvPr id="41" name="Rounded Rectangle 40"/>
          <p:cNvSpPr/>
          <p:nvPr/>
        </p:nvSpPr>
        <p:spPr>
          <a:xfrm>
            <a:off x="1188720" y="8028432"/>
            <a:ext cx="15910559" cy="1389888"/>
          </a:xfrm>
          <a:prstGeom prst="roundRect">
            <a:avLst>
              <a:gd name="adj" fmla="val 6000"/>
            </a:avLst>
          </a:prstGeom>
          <a:solidFill>
            <a:srgbClr val="FFFFFF"/>
          </a:solidFill>
          <a:ln>
            <a:noFill/>
          </a:ln>
        </p:spPr>
        <p:txBody>
          <a:bodyPr rtlCol="0" anchor="ctr"/>
          <a:lstStyle/>
          <a:p>
            <a:endParaRPr/>
          </a:p>
        </p:txBody>
      </p:sp>
      <p:sp>
        <p:nvSpPr>
          <p:cNvPr id="42" name="Rounded Rectangle 41"/>
          <p:cNvSpPr/>
          <p:nvPr/>
        </p:nvSpPr>
        <p:spPr>
          <a:xfrm>
            <a:off x="1188720" y="8028432"/>
            <a:ext cx="2148840" cy="1389888"/>
          </a:xfrm>
          <a:prstGeom prst="roundRect">
            <a:avLst>
              <a:gd name="adj" fmla="val 10000"/>
            </a:avLst>
          </a:prstGeom>
          <a:solidFill>
            <a:srgbClr val="E9EEF5"/>
          </a:solidFill>
          <a:ln>
            <a:noFill/>
          </a:ln>
        </p:spPr>
        <p:txBody>
          <a:bodyPr rtlCol="0" anchor="ctr"/>
          <a:lstStyle/>
          <a:p>
            <a:endParaRPr/>
          </a:p>
        </p:txBody>
      </p:sp>
      <p:sp>
        <p:nvSpPr>
          <p:cNvPr id="43" name="Oval 42"/>
          <p:cNvSpPr/>
          <p:nvPr/>
        </p:nvSpPr>
        <p:spPr>
          <a:xfrm>
            <a:off x="1325880" y="8193024"/>
            <a:ext cx="420624" cy="420624"/>
          </a:xfrm>
          <a:prstGeom prst="ellipse">
            <a:avLst/>
          </a:prstGeom>
          <a:solidFill>
            <a:srgbClr val="1B3A6B"/>
          </a:solidFill>
          <a:ln>
            <a:noFill/>
          </a:ln>
        </p:spPr>
        <p:txBody>
          <a:bodyPr wrap="square" lIns="0" tIns="18288" rIns="0" bIns="0" rtlCol="0" anchor="ctr">
            <a:noAutofit/>
          </a:bodyPr>
          <a:lstStyle/>
          <a:p>
            <a:pPr algn="ctr">
              <a:lnSpc>
                <a:spcPct val="112000"/>
              </a:lnSpc>
              <a:spcAft>
                <a:spcPts val="0"/>
              </a:spcAft>
            </a:pPr>
            <a:r>
              <a:rPr sz="1500" b="0" i="0">
                <a:solidFill>
                  <a:srgbClr val="FFFFFF"/>
                </a:solidFill>
                <a:latin typeface="Segoe UI Semibold"/>
                <a:cs typeface="Segoe UI Semibold"/>
              </a:rPr>
              <a:t>5</a:t>
            </a:r>
          </a:p>
        </p:txBody>
      </p:sp>
      <p:sp>
        <p:nvSpPr>
          <p:cNvPr id="44" name="TextBox 43"/>
          <p:cNvSpPr txBox="1"/>
          <p:nvPr/>
        </p:nvSpPr>
        <p:spPr>
          <a:xfrm>
            <a:off x="1828800" y="8174736"/>
            <a:ext cx="1463040" cy="457200"/>
          </a:xfrm>
          <a:prstGeom prst="rect">
            <a:avLst/>
          </a:prstGeom>
          <a:noFill/>
          <a:ln/>
        </p:spPr>
        <p:txBody>
          <a:bodyPr wrap="square" lIns="0" tIns="0" rIns="0" bIns="0" anchor="ctr">
            <a:noAutofit/>
          </a:bodyPr>
          <a:lstStyle/>
          <a:p>
            <a:pPr algn="l">
              <a:lnSpc>
                <a:spcPct val="95000"/>
              </a:lnSpc>
              <a:spcAft>
                <a:spcPts val="0"/>
              </a:spcAft>
            </a:pPr>
            <a:r>
              <a:rPr sz="1250" b="0" i="0">
                <a:solidFill>
                  <a:srgbClr val="1B3A6B"/>
                </a:solidFill>
                <a:latin typeface="Segoe UI Semibold"/>
                <a:cs typeface="Segoe UI Semibold"/>
              </a:rPr>
              <a:t>SURFACES</a:t>
            </a:r>
          </a:p>
        </p:txBody>
      </p:sp>
      <p:sp>
        <p:nvSpPr>
          <p:cNvPr id="45" name="TextBox 44"/>
          <p:cNvSpPr txBox="1"/>
          <p:nvPr/>
        </p:nvSpPr>
        <p:spPr>
          <a:xfrm>
            <a:off x="1325880" y="8668512"/>
            <a:ext cx="1965960" cy="731520"/>
          </a:xfrm>
          <a:prstGeom prst="rect">
            <a:avLst/>
          </a:prstGeom>
          <a:noFill/>
          <a:ln/>
        </p:spPr>
        <p:txBody>
          <a:bodyPr wrap="square" lIns="0" tIns="0" rIns="0" bIns="0" anchor="t">
            <a:noAutofit/>
          </a:bodyPr>
          <a:lstStyle/>
          <a:p>
            <a:pPr algn="l">
              <a:lnSpc>
                <a:spcPct val="105000"/>
              </a:lnSpc>
              <a:spcAft>
                <a:spcPts val="0"/>
              </a:spcAft>
            </a:pPr>
            <a:r>
              <a:rPr sz="1000" b="0" i="0">
                <a:solidFill>
                  <a:srgbClr val="3E4A5A"/>
                </a:solidFill>
                <a:latin typeface="Segoe UI"/>
                <a:cs typeface="Segoe UI"/>
              </a:rPr>
              <a:t>FastAPI, HTML/JS, Sarvam voice, Ollama</a:t>
            </a:r>
          </a:p>
        </p:txBody>
      </p:sp>
      <p:sp>
        <p:nvSpPr>
          <p:cNvPr id="46" name="TextBox 45"/>
          <p:cNvSpPr txBox="1"/>
          <p:nvPr/>
        </p:nvSpPr>
        <p:spPr>
          <a:xfrm>
            <a:off x="10607040" y="1261872"/>
            <a:ext cx="6492240" cy="731520"/>
          </a:xfrm>
          <a:prstGeom prst="rect">
            <a:avLst/>
          </a:prstGeom>
          <a:noFill/>
          <a:ln/>
        </p:spPr>
        <p:txBody>
          <a:bodyPr wrap="square" lIns="0" tIns="0" rIns="0" bIns="0" anchor="t">
            <a:noAutofit/>
          </a:bodyPr>
          <a:lstStyle/>
          <a:p>
            <a:pPr algn="l">
              <a:lnSpc>
                <a:spcPct val="110000"/>
              </a:lnSpc>
              <a:spcAft>
                <a:spcPts val="0"/>
              </a:spcAft>
            </a:pPr>
            <a:r>
              <a:rPr sz="1250" b="0" i="0" dirty="0">
                <a:solidFill>
                  <a:srgbClr val="000000"/>
                </a:solidFill>
                <a:latin typeface="Segoe UI"/>
                <a:cs typeface="Segoe UI"/>
              </a:rPr>
              <a:t>Data enters once, code checks it, agents act on it, and two audiences see it: Paytm’s ops team and the merchant.</a:t>
            </a:r>
          </a:p>
        </p:txBody>
      </p:sp>
      <p:sp>
        <p:nvSpPr>
          <p:cNvPr id="47" name="Rounded Rectangle 46"/>
          <p:cNvSpPr/>
          <p:nvPr/>
        </p:nvSpPr>
        <p:spPr>
          <a:xfrm>
            <a:off x="3474720" y="2249424"/>
            <a:ext cx="2286000" cy="1097280"/>
          </a:xfrm>
          <a:prstGeom prst="roundRect">
            <a:avLst>
              <a:gd name="adj" fmla="val 10000"/>
            </a:avLst>
          </a:prstGeom>
          <a:solidFill>
            <a:srgbClr val="EEF1F5"/>
          </a:solidFill>
          <a:ln w="22225">
            <a:solidFill>
              <a:srgbClr val="7D8CA0"/>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Paytm settlement report</a:t>
            </a:r>
          </a:p>
          <a:p>
            <a:pPr algn="l">
              <a:lnSpc>
                <a:spcPct val="108000"/>
              </a:lnSpc>
              <a:spcAft>
                <a:spcPts val="0"/>
              </a:spcAft>
            </a:pPr>
            <a:r>
              <a:rPr sz="1100" b="0" i="0">
                <a:solidFill>
                  <a:srgbClr val="27313F"/>
                </a:solidFill>
                <a:latin typeface="Segoe UI"/>
                <a:cs typeface="Segoe UI"/>
              </a:rPr>
              <a:t>CSV from the dashboard or the Settlement API; its UTRs prove bank credit</a:t>
            </a:r>
          </a:p>
        </p:txBody>
      </p:sp>
      <p:sp>
        <p:nvSpPr>
          <p:cNvPr id="48" name="TextBox 47"/>
          <p:cNvSpPr txBox="1"/>
          <p:nvPr/>
        </p:nvSpPr>
        <p:spPr>
          <a:xfrm>
            <a:off x="5760720" y="2249424"/>
            <a:ext cx="320040" cy="1097280"/>
          </a:xfrm>
          <a:prstGeom prst="rect">
            <a:avLst/>
          </a:prstGeom>
          <a:noFill/>
          <a:ln/>
        </p:spPr>
        <p:txBody>
          <a:bodyPr wrap="square" lIns="0" tIns="0" rIns="0" bIns="0" anchor="ctr">
            <a:noAutofit/>
          </a:bodyPr>
          <a:lstStyle/>
          <a:p>
            <a:pPr algn="ctr">
              <a:lnSpc>
                <a:spcPct val="112000"/>
              </a:lnSpc>
              <a:spcAft>
                <a:spcPts val="0"/>
              </a:spcAft>
            </a:pPr>
            <a:r>
              <a:rPr sz="1350" b="0" i="0">
                <a:solidFill>
                  <a:srgbClr val="0F1B2D"/>
                </a:solidFill>
                <a:latin typeface="Segoe UI Semibold"/>
                <a:cs typeface="Segoe UI Semibold"/>
              </a:rPr>
              <a:t>+</a:t>
            </a:r>
          </a:p>
        </p:txBody>
      </p:sp>
      <p:sp>
        <p:nvSpPr>
          <p:cNvPr id="49" name="Rounded Rectangle 48"/>
          <p:cNvSpPr/>
          <p:nvPr/>
        </p:nvSpPr>
        <p:spPr>
          <a:xfrm>
            <a:off x="6080760" y="2249424"/>
            <a:ext cx="2286000" cy="1097280"/>
          </a:xfrm>
          <a:prstGeom prst="roundRect">
            <a:avLst>
              <a:gd name="adj" fmla="val 10000"/>
            </a:avLst>
          </a:prstGeom>
          <a:solidFill>
            <a:srgbClr val="EEF1F5"/>
          </a:solidFill>
          <a:ln w="22225">
            <a:solidFill>
              <a:srgbClr val="7D8CA0"/>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Merchant master</a:t>
            </a:r>
          </a:p>
          <a:p>
            <a:pPr algn="l">
              <a:lnSpc>
                <a:spcPct val="108000"/>
              </a:lnSpc>
              <a:spcAft>
                <a:spcPts val="0"/>
              </a:spcAft>
            </a:pPr>
            <a:r>
              <a:rPr sz="1100" b="0" i="0">
                <a:solidFill>
                  <a:srgbClr val="27313F"/>
                </a:solidFill>
                <a:latin typeface="Segoe UI"/>
                <a:cs typeface="Segoe UI"/>
              </a:rPr>
              <a:t>agreement &amp; rate history, devices, turnover; looked up by MID</a:t>
            </a:r>
          </a:p>
        </p:txBody>
      </p:sp>
      <p:sp>
        <p:nvSpPr>
          <p:cNvPr id="50" name="TextBox 49"/>
          <p:cNvSpPr txBox="1"/>
          <p:nvPr/>
        </p:nvSpPr>
        <p:spPr>
          <a:xfrm>
            <a:off x="8366760" y="2249424"/>
            <a:ext cx="320040" cy="1097280"/>
          </a:xfrm>
          <a:prstGeom prst="rect">
            <a:avLst/>
          </a:prstGeom>
          <a:noFill/>
          <a:ln/>
        </p:spPr>
        <p:txBody>
          <a:bodyPr wrap="square" lIns="0" tIns="0" rIns="0" bIns="0" anchor="ctr">
            <a:noAutofit/>
          </a:bodyPr>
          <a:lstStyle/>
          <a:p>
            <a:pPr algn="ctr">
              <a:lnSpc>
                <a:spcPct val="112000"/>
              </a:lnSpc>
              <a:spcAft>
                <a:spcPts val="0"/>
              </a:spcAft>
            </a:pPr>
            <a:r>
              <a:rPr sz="1350" b="0" i="0">
                <a:solidFill>
                  <a:srgbClr val="0F1B2D"/>
                </a:solidFill>
                <a:latin typeface="Segoe UI Semibold"/>
                <a:cs typeface="Segoe UI Semibold"/>
              </a:rPr>
              <a:t>+</a:t>
            </a:r>
          </a:p>
        </p:txBody>
      </p:sp>
      <p:sp>
        <p:nvSpPr>
          <p:cNvPr id="51" name="Rounded Rectangle 50"/>
          <p:cNvSpPr/>
          <p:nvPr/>
        </p:nvSpPr>
        <p:spPr>
          <a:xfrm>
            <a:off x="8686800" y="2249424"/>
            <a:ext cx="2286000" cy="1097280"/>
          </a:xfrm>
          <a:prstGeom prst="roundRect">
            <a:avLst>
              <a:gd name="adj" fmla="val 10000"/>
            </a:avLst>
          </a:prstGeom>
          <a:solidFill>
            <a:srgbClr val="EEF1F5"/>
          </a:solidFill>
          <a:ln w="22225">
            <a:solidFill>
              <a:srgbClr val="7D8CA0"/>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Rule book</a:t>
            </a:r>
          </a:p>
          <a:p>
            <a:pPr algn="l">
              <a:lnSpc>
                <a:spcPct val="108000"/>
              </a:lnSpc>
              <a:spcAft>
                <a:spcPts val="0"/>
              </a:spcAft>
            </a:pPr>
            <a:r>
              <a:rPr sz="1100" b="0" i="0">
                <a:solidFill>
                  <a:srgbClr val="27313F"/>
                </a:solidFill>
                <a:latin typeface="Segoe UI"/>
                <a:cs typeface="Segoe UI"/>
              </a:rPr>
              <a:t>RBI, NPCI, GST, TDS rules; dated, cited, confidence-graded</a:t>
            </a:r>
          </a:p>
        </p:txBody>
      </p:sp>
      <p:cxnSp>
        <p:nvCxnSpPr>
          <p:cNvPr id="52" name="Connector 51"/>
          <p:cNvCxnSpPr/>
          <p:nvPr/>
        </p:nvCxnSpPr>
        <p:spPr>
          <a:xfrm>
            <a:off x="10991088" y="2798064"/>
            <a:ext cx="329184" cy="0"/>
          </a:xfrm>
          <a:prstGeom prst="line">
            <a:avLst/>
          </a:prstGeom>
          <a:ln w="25400">
            <a:solidFill>
              <a:srgbClr val="4F6B8A"/>
            </a:solidFill>
            <a:tailEnd type="triangle" w="med" len="med"/>
          </a:ln>
        </p:spPr>
      </p:cxnSp>
      <p:sp>
        <p:nvSpPr>
          <p:cNvPr id="53" name="Rounded Rectangle 52"/>
          <p:cNvSpPr/>
          <p:nvPr/>
        </p:nvSpPr>
        <p:spPr>
          <a:xfrm>
            <a:off x="11338560" y="2249424"/>
            <a:ext cx="2651760"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Importer</a:t>
            </a:r>
          </a:p>
          <a:p>
            <a:pPr algn="l">
              <a:lnSpc>
                <a:spcPct val="108000"/>
              </a:lnSpc>
              <a:spcAft>
                <a:spcPts val="0"/>
              </a:spcAft>
            </a:pPr>
            <a:r>
              <a:rPr sz="1100" b="0" i="0">
                <a:solidFill>
                  <a:srgbClr val="27313F"/>
                </a:solidFill>
                <a:latin typeface="Segoe UI"/>
                <a:cs typeface="Segoe UI"/>
              </a:rPr>
              <a:t>Paytm columns → Pydantic schemas; rows it can’t judge are set aside, never guessed</a:t>
            </a:r>
          </a:p>
        </p:txBody>
      </p:sp>
      <p:cxnSp>
        <p:nvCxnSpPr>
          <p:cNvPr id="54" name="Connector 53"/>
          <p:cNvCxnSpPr/>
          <p:nvPr/>
        </p:nvCxnSpPr>
        <p:spPr>
          <a:xfrm>
            <a:off x="14008608" y="2798064"/>
            <a:ext cx="329184" cy="0"/>
          </a:xfrm>
          <a:prstGeom prst="line">
            <a:avLst/>
          </a:prstGeom>
          <a:ln w="25400">
            <a:solidFill>
              <a:srgbClr val="4F6B8A"/>
            </a:solidFill>
            <a:tailEnd type="triangle" w="med" len="med"/>
          </a:ln>
        </p:spPr>
      </p:cxnSp>
      <p:sp>
        <p:nvSpPr>
          <p:cNvPr id="55" name="Rounded Rectangle 54"/>
          <p:cNvSpPr/>
          <p:nvPr/>
        </p:nvSpPr>
        <p:spPr>
          <a:xfrm>
            <a:off x="14356080" y="2249424"/>
            <a:ext cx="2743200"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Ledger</a:t>
            </a:r>
          </a:p>
          <a:p>
            <a:pPr algn="l">
              <a:lnSpc>
                <a:spcPct val="108000"/>
              </a:lnSpc>
              <a:spcAft>
                <a:spcPts val="0"/>
              </a:spcAft>
            </a:pPr>
            <a:r>
              <a:rPr sz="1100" b="0" i="0">
                <a:solidFill>
                  <a:srgbClr val="27313F"/>
                </a:solidFill>
                <a:latin typeface="Segoe UI"/>
                <a:cs typeface="Segoe UI"/>
              </a:rPr>
              <a:t>transactions + settlement lines in integer paise; every step in the event log</a:t>
            </a:r>
          </a:p>
        </p:txBody>
      </p:sp>
      <p:cxnSp>
        <p:nvCxnSpPr>
          <p:cNvPr id="56" name="Connector 55"/>
          <p:cNvCxnSpPr/>
          <p:nvPr/>
        </p:nvCxnSpPr>
        <p:spPr>
          <a:xfrm>
            <a:off x="15727680" y="3346704"/>
            <a:ext cx="0" cy="384048"/>
          </a:xfrm>
          <a:prstGeom prst="line">
            <a:avLst/>
          </a:prstGeom>
          <a:ln w="25400">
            <a:solidFill>
              <a:srgbClr val="4F6B8A"/>
            </a:solidFill>
            <a:tailEnd type="triangle" w="med" len="med"/>
          </a:ln>
        </p:spPr>
      </p:cxnSp>
      <p:sp>
        <p:nvSpPr>
          <p:cNvPr id="57" name="Rounded Rectangle 56"/>
          <p:cNvSpPr/>
          <p:nvPr/>
        </p:nvSpPr>
        <p:spPr>
          <a:xfrm>
            <a:off x="14036040" y="3730752"/>
            <a:ext cx="3063240" cy="1097280"/>
          </a:xfrm>
          <a:prstGeom prst="roundRect">
            <a:avLst>
              <a:gd name="adj" fmla="val 10000"/>
            </a:avLst>
          </a:prstGeom>
          <a:solidFill>
            <a:srgbClr val="FDE4CC"/>
          </a:solidFill>
          <a:ln w="22225">
            <a:solidFill>
              <a:srgbClr val="E07B24"/>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Monitor Agent</a:t>
            </a:r>
          </a:p>
          <a:p>
            <a:pPr algn="l">
              <a:lnSpc>
                <a:spcPct val="108000"/>
              </a:lnSpc>
              <a:spcAft>
                <a:spcPts val="0"/>
              </a:spcAft>
            </a:pPr>
            <a:r>
              <a:rPr sz="1100" b="0" i="0">
                <a:solidFill>
                  <a:srgbClr val="27313F"/>
                </a:solidFill>
                <a:latin typeface="Segoe UI"/>
                <a:cs typeface="Segoe UI"/>
              </a:rPr>
              <a:t>wakes on connect (12-month audit) and on every clock tick; nobody asks it</a:t>
            </a:r>
          </a:p>
        </p:txBody>
      </p:sp>
      <p:sp>
        <p:nvSpPr>
          <p:cNvPr id="58" name="Rounded Rectangle 57"/>
          <p:cNvSpPr/>
          <p:nvPr/>
        </p:nvSpPr>
        <p:spPr>
          <a:xfrm>
            <a:off x="10515600" y="3730752"/>
            <a:ext cx="3063240"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Fee + reconciliation engines</a:t>
            </a:r>
          </a:p>
          <a:p>
            <a:pPr algn="l">
              <a:lnSpc>
                <a:spcPct val="108000"/>
              </a:lnSpc>
              <a:spcAft>
                <a:spcPts val="0"/>
              </a:spcAft>
            </a:pPr>
            <a:r>
              <a:rPr sz="1100" b="0" i="0">
                <a:solidFill>
                  <a:srgbClr val="27313F"/>
                </a:solidFill>
                <a:latin typeface="Segoe UI"/>
                <a:cs typeface="Segoe UI"/>
              </a:rPr>
              <a:t>recompute every MDR, GST, tax, rental, refund and settlement</a:t>
            </a:r>
          </a:p>
        </p:txBody>
      </p:sp>
      <p:sp>
        <p:nvSpPr>
          <p:cNvPr id="59" name="Rounded Rectangle 58"/>
          <p:cNvSpPr/>
          <p:nvPr/>
        </p:nvSpPr>
        <p:spPr>
          <a:xfrm>
            <a:off x="6995160" y="3730752"/>
            <a:ext cx="3063240"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Findings</a:t>
            </a:r>
          </a:p>
          <a:p>
            <a:pPr algn="l">
              <a:lnSpc>
                <a:spcPct val="108000"/>
              </a:lnSpc>
              <a:spcAft>
                <a:spcPts val="0"/>
              </a:spcAft>
            </a:pPr>
            <a:r>
              <a:rPr sz="1100" b="0" i="0">
                <a:solidFill>
                  <a:srgbClr val="27313F"/>
                </a:solidFill>
                <a:latin typeface="Segoe UI"/>
                <a:cs typeface="Segoe UI"/>
              </a:rPr>
              <a:t>gaps grouped by pattern; late settlements are reported, never claimed</a:t>
            </a:r>
          </a:p>
        </p:txBody>
      </p:sp>
      <p:sp>
        <p:nvSpPr>
          <p:cNvPr id="60" name="Rounded Rectangle 59"/>
          <p:cNvSpPr/>
          <p:nvPr/>
        </p:nvSpPr>
        <p:spPr>
          <a:xfrm>
            <a:off x="3474720" y="3730752"/>
            <a:ext cx="3063240"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Case opened</a:t>
            </a:r>
          </a:p>
          <a:p>
            <a:pPr algn="l">
              <a:lnSpc>
                <a:spcPct val="108000"/>
              </a:lnSpc>
              <a:spcAft>
                <a:spcPts val="0"/>
              </a:spcAft>
            </a:pPr>
            <a:r>
              <a:rPr sz="1100" b="0" i="0">
                <a:solidFill>
                  <a:srgbClr val="27313F"/>
                </a:solidFill>
                <a:latin typeface="Segoe UI"/>
                <a:cs typeface="Segoe UI"/>
              </a:rPr>
              <a:t>state DISCOVERED: something to investigate, not yet money owed</a:t>
            </a:r>
          </a:p>
        </p:txBody>
      </p:sp>
      <p:cxnSp>
        <p:nvCxnSpPr>
          <p:cNvPr id="61" name="Connector 60"/>
          <p:cNvCxnSpPr/>
          <p:nvPr/>
        </p:nvCxnSpPr>
        <p:spPr>
          <a:xfrm flipH="1">
            <a:off x="13597128" y="4279392"/>
            <a:ext cx="420624" cy="0"/>
          </a:xfrm>
          <a:prstGeom prst="line">
            <a:avLst/>
          </a:prstGeom>
          <a:ln w="25400">
            <a:solidFill>
              <a:srgbClr val="4F6B8A"/>
            </a:solidFill>
            <a:tailEnd type="triangle" w="med" len="med"/>
          </a:ln>
        </p:spPr>
      </p:cxnSp>
      <p:cxnSp>
        <p:nvCxnSpPr>
          <p:cNvPr id="62" name="Connector 61"/>
          <p:cNvCxnSpPr/>
          <p:nvPr/>
        </p:nvCxnSpPr>
        <p:spPr>
          <a:xfrm flipH="1">
            <a:off x="10076688" y="4279392"/>
            <a:ext cx="420624" cy="0"/>
          </a:xfrm>
          <a:prstGeom prst="line">
            <a:avLst/>
          </a:prstGeom>
          <a:ln w="25400">
            <a:solidFill>
              <a:srgbClr val="4F6B8A"/>
            </a:solidFill>
            <a:tailEnd type="triangle" w="med" len="med"/>
          </a:ln>
        </p:spPr>
      </p:cxnSp>
      <p:cxnSp>
        <p:nvCxnSpPr>
          <p:cNvPr id="63" name="Connector 62"/>
          <p:cNvCxnSpPr/>
          <p:nvPr/>
        </p:nvCxnSpPr>
        <p:spPr>
          <a:xfrm flipH="1">
            <a:off x="6556248" y="4279392"/>
            <a:ext cx="420624" cy="0"/>
          </a:xfrm>
          <a:prstGeom prst="line">
            <a:avLst/>
          </a:prstGeom>
          <a:ln w="25400">
            <a:solidFill>
              <a:srgbClr val="4F6B8A"/>
            </a:solidFill>
            <a:tailEnd type="triangle" w="med" len="med"/>
          </a:ln>
        </p:spPr>
      </p:cxnSp>
      <p:cxnSp>
        <p:nvCxnSpPr>
          <p:cNvPr id="64" name="Connector 63"/>
          <p:cNvCxnSpPr/>
          <p:nvPr/>
        </p:nvCxnSpPr>
        <p:spPr>
          <a:xfrm>
            <a:off x="5001768" y="4828032"/>
            <a:ext cx="0" cy="384048"/>
          </a:xfrm>
          <a:prstGeom prst="line">
            <a:avLst/>
          </a:prstGeom>
          <a:ln w="25400">
            <a:solidFill>
              <a:srgbClr val="4F6B8A"/>
            </a:solidFill>
            <a:tailEnd type="triangle" w="med" len="med"/>
          </a:ln>
        </p:spPr>
      </p:cxnSp>
      <p:sp>
        <p:nvSpPr>
          <p:cNvPr id="65" name="Rounded Rectangle 64"/>
          <p:cNvSpPr/>
          <p:nvPr/>
        </p:nvSpPr>
        <p:spPr>
          <a:xfrm>
            <a:off x="3474720" y="5212080"/>
            <a:ext cx="2286000" cy="1097280"/>
          </a:xfrm>
          <a:prstGeom prst="roundRect">
            <a:avLst>
              <a:gd name="adj" fmla="val 10000"/>
            </a:avLst>
          </a:prstGeom>
          <a:solidFill>
            <a:srgbClr val="FDE4CC"/>
          </a:solidFill>
          <a:ln w="22225">
            <a:solidFill>
              <a:srgbClr val="E07B24"/>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Investigation Agent</a:t>
            </a:r>
          </a:p>
          <a:p>
            <a:pPr algn="l">
              <a:lnSpc>
                <a:spcPct val="108000"/>
              </a:lnSpc>
              <a:spcAft>
                <a:spcPts val="0"/>
              </a:spcAft>
            </a:pPr>
            <a:r>
              <a:rPr sz="1100" b="0" i="0">
                <a:solidFill>
                  <a:srgbClr val="27313F"/>
                </a:solidFill>
                <a:latin typeface="Segoe UI"/>
                <a:cs typeface="Segoe UI"/>
              </a:rPr>
              <a:t>gathers records, dated rules, rate-card history</a:t>
            </a:r>
          </a:p>
        </p:txBody>
      </p:sp>
      <p:cxnSp>
        <p:nvCxnSpPr>
          <p:cNvPr id="66" name="Connector 65"/>
          <p:cNvCxnSpPr/>
          <p:nvPr/>
        </p:nvCxnSpPr>
        <p:spPr>
          <a:xfrm>
            <a:off x="5779008" y="5760720"/>
            <a:ext cx="329184" cy="0"/>
          </a:xfrm>
          <a:prstGeom prst="line">
            <a:avLst/>
          </a:prstGeom>
          <a:ln w="25400">
            <a:solidFill>
              <a:srgbClr val="4F6B8A"/>
            </a:solidFill>
            <a:headEnd type="triangle" w="med" len="med"/>
            <a:tailEnd type="triangle" w="med" len="med"/>
          </a:ln>
        </p:spPr>
      </p:cxnSp>
      <p:sp>
        <p:nvSpPr>
          <p:cNvPr id="67" name="Rounded Rectangle 66"/>
          <p:cNvSpPr/>
          <p:nvPr/>
        </p:nvSpPr>
        <p:spPr>
          <a:xfrm>
            <a:off x="6126480" y="5212080"/>
            <a:ext cx="2011680" cy="1097280"/>
          </a:xfrm>
          <a:prstGeom prst="roundRect">
            <a:avLst>
              <a:gd name="adj" fmla="val 10000"/>
            </a:avLst>
          </a:prstGeom>
          <a:solidFill>
            <a:srgbClr val="D6E6FA"/>
          </a:solidFill>
          <a:ln w="22225">
            <a:solidFill>
              <a:srgbClr val="2E6FB7"/>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Cognee memory</a:t>
            </a:r>
          </a:p>
          <a:p>
            <a:pPr algn="l">
              <a:lnSpc>
                <a:spcPct val="108000"/>
              </a:lnSpc>
              <a:spcAft>
                <a:spcPts val="0"/>
              </a:spcAft>
            </a:pPr>
            <a:r>
              <a:rPr sz="1100" b="0" i="0">
                <a:solidFill>
                  <a:srgbClr val="27313F"/>
                </a:solidFill>
                <a:latin typeface="Segoe UI"/>
                <a:cs typeface="Segoe UI"/>
              </a:rPr>
              <a:t>precedent: what evidence won before</a:t>
            </a:r>
          </a:p>
        </p:txBody>
      </p:sp>
      <p:cxnSp>
        <p:nvCxnSpPr>
          <p:cNvPr id="68" name="Connector 67"/>
          <p:cNvCxnSpPr/>
          <p:nvPr/>
        </p:nvCxnSpPr>
        <p:spPr>
          <a:xfrm>
            <a:off x="8156448" y="5760720"/>
            <a:ext cx="237744" cy="0"/>
          </a:xfrm>
          <a:prstGeom prst="line">
            <a:avLst/>
          </a:prstGeom>
          <a:ln w="25400">
            <a:solidFill>
              <a:srgbClr val="4F6B8A"/>
            </a:solidFill>
            <a:tailEnd type="triangle" w="med" len="med"/>
          </a:ln>
        </p:spPr>
      </p:cxnSp>
      <p:sp>
        <p:nvSpPr>
          <p:cNvPr id="69" name="Rounded Rectangle 68"/>
          <p:cNvSpPr/>
          <p:nvPr/>
        </p:nvSpPr>
        <p:spPr>
          <a:xfrm>
            <a:off x="8412480" y="5212080"/>
            <a:ext cx="2286000" cy="1097280"/>
          </a:xfrm>
          <a:prstGeom prst="roundRect">
            <a:avLst>
              <a:gd name="adj" fmla="val 10000"/>
            </a:avLst>
          </a:prstGeom>
          <a:solidFill>
            <a:srgbClr val="D6E6FA"/>
          </a:solidFill>
          <a:ln w="22225">
            <a:solidFill>
              <a:srgbClr val="2E6FB7"/>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LLM reasoner</a:t>
            </a:r>
          </a:p>
          <a:p>
            <a:pPr algn="l">
              <a:lnSpc>
                <a:spcPct val="108000"/>
              </a:lnSpc>
              <a:spcAft>
                <a:spcPts val="0"/>
              </a:spcAft>
            </a:pPr>
            <a:r>
              <a:rPr sz="1100" b="0" i="0">
                <a:solidFill>
                  <a:srgbClr val="27313F"/>
                </a:solidFill>
                <a:latin typeface="Segoe UI"/>
                <a:cs typeface="Segoe UI"/>
              </a:rPr>
              <a:t>Sarvam, or local Gemma 3, tells the story. Its candidate has no amount</a:t>
            </a:r>
          </a:p>
        </p:txBody>
      </p:sp>
      <p:cxnSp>
        <p:nvCxnSpPr>
          <p:cNvPr id="70" name="Connector 69"/>
          <p:cNvCxnSpPr/>
          <p:nvPr/>
        </p:nvCxnSpPr>
        <p:spPr>
          <a:xfrm>
            <a:off x="10716768" y="5760720"/>
            <a:ext cx="237744" cy="0"/>
          </a:xfrm>
          <a:prstGeom prst="line">
            <a:avLst/>
          </a:prstGeom>
          <a:ln w="25400">
            <a:solidFill>
              <a:srgbClr val="4F6B8A"/>
            </a:solidFill>
            <a:tailEnd type="triangle" w="med" len="med"/>
          </a:ln>
        </p:spPr>
      </p:cxnSp>
      <p:sp>
        <p:nvSpPr>
          <p:cNvPr id="71" name="Rounded Rectangle 70"/>
          <p:cNvSpPr/>
          <p:nvPr/>
        </p:nvSpPr>
        <p:spPr>
          <a:xfrm>
            <a:off x="10972800" y="5212080"/>
            <a:ext cx="2331720" cy="1097280"/>
          </a:xfrm>
          <a:prstGeom prst="roundRect">
            <a:avLst>
              <a:gd name="adj" fmla="val 10000"/>
            </a:avLst>
          </a:prstGeom>
          <a:solidFill>
            <a:srgbClr val="1B3A6B"/>
          </a:solidFill>
          <a:ln w="15875">
            <a:noFill/>
          </a:ln>
        </p:spPr>
        <p:txBody>
          <a:bodyPr wrap="square" lIns="118872" tIns="36576" bIns="36576" rtlCol="0" anchor="ctr">
            <a:noAutofit/>
          </a:bodyPr>
          <a:lstStyle/>
          <a:p>
            <a:pPr algn="l">
              <a:lnSpc>
                <a:spcPct val="100000"/>
              </a:lnSpc>
              <a:spcAft>
                <a:spcPts val="200"/>
              </a:spcAft>
            </a:pPr>
            <a:r>
              <a:rPr sz="1350" b="0" i="0" dirty="0">
                <a:solidFill>
                  <a:srgbClr val="FFB066"/>
                </a:solidFill>
                <a:latin typeface="Segoe UI Semibold"/>
                <a:cs typeface="Segoe UI Semibold"/>
              </a:rPr>
              <a:t>PROOF ENGINE</a:t>
            </a:r>
          </a:p>
          <a:p>
            <a:pPr algn="l">
              <a:lnSpc>
                <a:spcPct val="108000"/>
              </a:lnSpc>
              <a:spcAft>
                <a:spcPts val="0"/>
              </a:spcAft>
            </a:pPr>
            <a:r>
              <a:rPr sz="1100" b="0" i="0" dirty="0">
                <a:solidFill>
                  <a:srgbClr val="FFFFFF"/>
                </a:solidFill>
                <a:latin typeface="Segoe UI"/>
                <a:cs typeface="Segoe UI"/>
              </a:rPr>
              <a:t>plain code recomputes to the paise; rule ID + source on every rupee</a:t>
            </a:r>
          </a:p>
        </p:txBody>
      </p:sp>
      <p:cxnSp>
        <p:nvCxnSpPr>
          <p:cNvPr id="72" name="Connector 71"/>
          <p:cNvCxnSpPr/>
          <p:nvPr/>
        </p:nvCxnSpPr>
        <p:spPr>
          <a:xfrm>
            <a:off x="13322808" y="5760720"/>
            <a:ext cx="237744" cy="0"/>
          </a:xfrm>
          <a:prstGeom prst="line">
            <a:avLst/>
          </a:prstGeom>
          <a:ln w="25400">
            <a:solidFill>
              <a:srgbClr val="4F6B8A"/>
            </a:solidFill>
            <a:tailEnd type="triangle" w="med" len="med"/>
          </a:ln>
        </p:spPr>
      </p:cxnSp>
      <p:sp>
        <p:nvSpPr>
          <p:cNvPr id="73" name="Diamond 72"/>
          <p:cNvSpPr/>
          <p:nvPr/>
        </p:nvSpPr>
        <p:spPr>
          <a:xfrm>
            <a:off x="13578840" y="5212080"/>
            <a:ext cx="1143000" cy="1097280"/>
          </a:xfrm>
          <a:prstGeom prst="diamond">
            <a:avLst/>
          </a:prstGeom>
          <a:solidFill>
            <a:srgbClr val="F59A3E"/>
          </a:solidFill>
          <a:ln>
            <a:noFill/>
          </a:ln>
        </p:spPr>
        <p:txBody>
          <a:bodyPr wrap="square" lIns="0" tIns="0" rIns="0" bIns="0" rtlCol="0" anchor="ctr">
            <a:noAutofit/>
          </a:bodyPr>
          <a:lstStyle/>
          <a:p>
            <a:pPr algn="ctr">
              <a:lnSpc>
                <a:spcPct val="112000"/>
              </a:lnSpc>
              <a:spcAft>
                <a:spcPts val="0"/>
              </a:spcAft>
            </a:pPr>
            <a:r>
              <a:rPr sz="800" b="0" i="0">
                <a:solidFill>
                  <a:srgbClr val="1B2733"/>
                </a:solidFill>
                <a:latin typeface="Segoe UI Semibold"/>
                <a:cs typeface="Segoe UI Semibold"/>
              </a:rPr>
              <a:t>VERDICT</a:t>
            </a:r>
          </a:p>
        </p:txBody>
      </p:sp>
      <p:sp>
        <p:nvSpPr>
          <p:cNvPr id="74" name="Rounded Rectangle 73"/>
          <p:cNvSpPr/>
          <p:nvPr/>
        </p:nvSpPr>
        <p:spPr>
          <a:xfrm>
            <a:off x="14996159" y="5193792"/>
            <a:ext cx="2103120" cy="329184"/>
          </a:xfrm>
          <a:prstGeom prst="roundRect">
            <a:avLst>
              <a:gd name="adj" fmla="val 50000"/>
            </a:avLst>
          </a:prstGeom>
          <a:solidFill>
            <a:srgbClr val="FFF0D6"/>
          </a:solidFill>
          <a:ln w="12700">
            <a:solidFill>
              <a:srgbClr val="A15C00"/>
            </a:solidFill>
          </a:ln>
        </p:spPr>
        <p:txBody>
          <a:bodyPr wrap="square" tIns="0" rIns="45720" bIns="0" rtlCol="0" anchor="ctr">
            <a:noAutofit/>
          </a:bodyPr>
          <a:lstStyle/>
          <a:p>
            <a:pPr algn="l">
              <a:lnSpc>
                <a:spcPct val="112000"/>
              </a:lnSpc>
              <a:spcAft>
                <a:spcPts val="0"/>
              </a:spcAft>
            </a:pPr>
            <a:r>
              <a:rPr sz="950" b="0" i="0">
                <a:solidFill>
                  <a:srgbClr val="A15C00"/>
                </a:solidFill>
                <a:latin typeface="Segoe UI Semibold"/>
                <a:cs typeface="Segoe UI Semibold"/>
              </a:rPr>
              <a:t>UNPROVEN → needs review</a:t>
            </a:r>
          </a:p>
        </p:txBody>
      </p:sp>
      <p:cxnSp>
        <p:nvCxnSpPr>
          <p:cNvPr id="75" name="Connector 74"/>
          <p:cNvCxnSpPr/>
          <p:nvPr/>
        </p:nvCxnSpPr>
        <p:spPr>
          <a:xfrm flipV="1">
            <a:off x="14721840" y="5358383"/>
            <a:ext cx="256032" cy="402337"/>
          </a:xfrm>
          <a:prstGeom prst="line">
            <a:avLst/>
          </a:prstGeom>
          <a:ln w="19050">
            <a:solidFill>
              <a:srgbClr val="A15C00"/>
            </a:solidFill>
            <a:tailEnd type="triangle" w="med" len="med"/>
          </a:ln>
        </p:spPr>
      </p:cxnSp>
      <p:sp>
        <p:nvSpPr>
          <p:cNvPr id="76" name="Rounded Rectangle 75"/>
          <p:cNvSpPr/>
          <p:nvPr/>
        </p:nvSpPr>
        <p:spPr>
          <a:xfrm>
            <a:off x="14996159" y="5586983"/>
            <a:ext cx="2103120" cy="329184"/>
          </a:xfrm>
          <a:prstGeom prst="roundRect">
            <a:avLst>
              <a:gd name="adj" fmla="val 50000"/>
            </a:avLst>
          </a:prstGeom>
          <a:solidFill>
            <a:srgbClr val="F1F3F5"/>
          </a:solidFill>
          <a:ln w="12700">
            <a:solidFill>
              <a:srgbClr val="6B7785"/>
            </a:solidFill>
          </a:ln>
        </p:spPr>
        <p:txBody>
          <a:bodyPr wrap="square" tIns="0" rIns="45720" bIns="0" rtlCol="0" anchor="ctr">
            <a:noAutofit/>
          </a:bodyPr>
          <a:lstStyle/>
          <a:p>
            <a:pPr algn="l">
              <a:lnSpc>
                <a:spcPct val="112000"/>
              </a:lnSpc>
              <a:spcAft>
                <a:spcPts val="0"/>
              </a:spcAft>
            </a:pPr>
            <a:r>
              <a:rPr sz="950" b="0" i="0">
                <a:solidFill>
                  <a:srgbClr val="3E4A5A"/>
                </a:solidFill>
                <a:latin typeface="Segoe UI Semibold"/>
                <a:cs typeface="Segoe UI Semibold"/>
              </a:rPr>
              <a:t>NOT A DISCREPANCY → closed</a:t>
            </a:r>
          </a:p>
        </p:txBody>
      </p:sp>
      <p:cxnSp>
        <p:nvCxnSpPr>
          <p:cNvPr id="77" name="Connector 76"/>
          <p:cNvCxnSpPr/>
          <p:nvPr/>
        </p:nvCxnSpPr>
        <p:spPr>
          <a:xfrm flipV="1">
            <a:off x="14721840" y="5751575"/>
            <a:ext cx="256032" cy="9145"/>
          </a:xfrm>
          <a:prstGeom prst="line">
            <a:avLst/>
          </a:prstGeom>
          <a:ln w="19050">
            <a:solidFill>
              <a:srgbClr val="8A6F55"/>
            </a:solidFill>
            <a:tailEnd type="triangle" w="med" len="med"/>
          </a:ln>
        </p:spPr>
      </p:cxnSp>
      <p:sp>
        <p:nvSpPr>
          <p:cNvPr id="78" name="Rounded Rectangle 77"/>
          <p:cNvSpPr/>
          <p:nvPr/>
        </p:nvSpPr>
        <p:spPr>
          <a:xfrm>
            <a:off x="14996159" y="5980176"/>
            <a:ext cx="2103120" cy="329184"/>
          </a:xfrm>
          <a:prstGeom prst="roundRect">
            <a:avLst>
              <a:gd name="adj" fmla="val 50000"/>
            </a:avLst>
          </a:prstGeom>
          <a:solidFill>
            <a:srgbClr val="DDF0E3"/>
          </a:solidFill>
          <a:ln w="15875">
            <a:solidFill>
              <a:srgbClr val="2E7550"/>
            </a:solidFill>
          </a:ln>
        </p:spPr>
        <p:txBody>
          <a:bodyPr wrap="square" tIns="0" rIns="45720" bIns="0" rtlCol="0" anchor="ctr">
            <a:noAutofit/>
          </a:bodyPr>
          <a:lstStyle/>
          <a:p>
            <a:pPr algn="l">
              <a:lnSpc>
                <a:spcPct val="112000"/>
              </a:lnSpc>
              <a:spcAft>
                <a:spcPts val="0"/>
              </a:spcAft>
            </a:pPr>
            <a:r>
              <a:rPr sz="950" b="0" i="0">
                <a:solidFill>
                  <a:srgbClr val="2E7550"/>
                </a:solidFill>
                <a:latin typeface="Segoe UI Semibold"/>
                <a:cs typeface="Segoe UI Semibold"/>
              </a:rPr>
              <a:t>PROVEN → file correction</a:t>
            </a:r>
          </a:p>
        </p:txBody>
      </p:sp>
      <p:cxnSp>
        <p:nvCxnSpPr>
          <p:cNvPr id="79" name="Connector 78"/>
          <p:cNvCxnSpPr/>
          <p:nvPr/>
        </p:nvCxnSpPr>
        <p:spPr>
          <a:xfrm>
            <a:off x="14721840" y="5760720"/>
            <a:ext cx="256032" cy="384048"/>
          </a:xfrm>
          <a:prstGeom prst="line">
            <a:avLst/>
          </a:prstGeom>
          <a:ln w="19050">
            <a:solidFill>
              <a:srgbClr val="2E7550"/>
            </a:solidFill>
            <a:tailEnd type="triangle" w="med" len="med"/>
          </a:ln>
        </p:spPr>
      </p:cxnSp>
      <p:cxnSp>
        <p:nvCxnSpPr>
          <p:cNvPr id="80" name="Connector 79"/>
          <p:cNvCxnSpPr/>
          <p:nvPr/>
        </p:nvCxnSpPr>
        <p:spPr>
          <a:xfrm>
            <a:off x="16047720" y="6309360"/>
            <a:ext cx="0" cy="384048"/>
          </a:xfrm>
          <a:prstGeom prst="line">
            <a:avLst/>
          </a:prstGeom>
          <a:ln w="28575">
            <a:solidFill>
              <a:srgbClr val="2E7550"/>
            </a:solidFill>
            <a:tailEnd type="triangle" w="med" len="med"/>
          </a:ln>
        </p:spPr>
      </p:cxnSp>
      <p:sp>
        <p:nvSpPr>
          <p:cNvPr id="81" name="Rounded Rectangle 80"/>
          <p:cNvSpPr/>
          <p:nvPr/>
        </p:nvSpPr>
        <p:spPr>
          <a:xfrm>
            <a:off x="14666976" y="6693408"/>
            <a:ext cx="2432304" cy="1097280"/>
          </a:xfrm>
          <a:prstGeom prst="roundRect">
            <a:avLst>
              <a:gd name="adj" fmla="val 10000"/>
            </a:avLst>
          </a:prstGeom>
          <a:solidFill>
            <a:srgbClr val="FDE4CC"/>
          </a:solidFill>
          <a:ln w="22225">
            <a:solidFill>
              <a:srgbClr val="E07B24"/>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Follow-up Agent</a:t>
            </a:r>
          </a:p>
          <a:p>
            <a:pPr algn="l">
              <a:lnSpc>
                <a:spcPct val="108000"/>
              </a:lnSpc>
              <a:spcAft>
                <a:spcPts val="0"/>
              </a:spcAft>
            </a:pPr>
            <a:r>
              <a:rPr sz="1100" b="0" i="0">
                <a:solidFill>
                  <a:srgbClr val="27313F"/>
                </a:solidFill>
                <a:latin typeface="Segoe UI"/>
                <a:cs typeface="Segoe UI"/>
              </a:rPr>
              <a:t>files only with a PROVEN result; pilots one claim per pattern</a:t>
            </a:r>
          </a:p>
        </p:txBody>
      </p:sp>
      <p:sp>
        <p:nvSpPr>
          <p:cNvPr id="82" name="Rounded Rectangle 81"/>
          <p:cNvSpPr/>
          <p:nvPr/>
        </p:nvSpPr>
        <p:spPr>
          <a:xfrm>
            <a:off x="11868912" y="6693408"/>
            <a:ext cx="2432304" cy="1097280"/>
          </a:xfrm>
          <a:prstGeom prst="roundRect">
            <a:avLst>
              <a:gd name="adj" fmla="val 10000"/>
            </a:avLst>
          </a:prstGeom>
          <a:solidFill>
            <a:srgbClr val="D6E6FA"/>
          </a:solidFill>
          <a:ln w="22225">
            <a:solidFill>
              <a:srgbClr val="2E6FB7"/>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n8n workflow</a:t>
            </a:r>
          </a:p>
          <a:p>
            <a:pPr algn="l">
              <a:lnSpc>
                <a:spcPct val="108000"/>
              </a:lnSpc>
              <a:spcAft>
                <a:spcPts val="0"/>
              </a:spcAft>
            </a:pPr>
            <a:r>
              <a:rPr sz="1100" b="0" i="0">
                <a:solidFill>
                  <a:srgbClr val="27313F"/>
                </a:solidFill>
                <a:latin typeface="Segoe UI"/>
                <a:cs typeface="Segoe UI"/>
              </a:rPr>
              <a:t>submit, check, follow up, re-present, withdraw</a:t>
            </a:r>
          </a:p>
        </p:txBody>
      </p:sp>
      <p:sp>
        <p:nvSpPr>
          <p:cNvPr id="83" name="Rounded Rectangle 82"/>
          <p:cNvSpPr/>
          <p:nvPr/>
        </p:nvSpPr>
        <p:spPr>
          <a:xfrm>
            <a:off x="9070848" y="6693408"/>
            <a:ext cx="2432304" cy="1097280"/>
          </a:xfrm>
          <a:prstGeom prst="roundRect">
            <a:avLst>
              <a:gd name="adj" fmla="val 10000"/>
            </a:avLst>
          </a:prstGeom>
          <a:solidFill>
            <a:srgbClr val="DDF0E3"/>
          </a:solidFill>
          <a:ln w="22225">
            <a:solidFill>
              <a:srgbClr val="2E7550"/>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Paytm settlement ops</a:t>
            </a:r>
          </a:p>
          <a:p>
            <a:pPr algn="l">
              <a:lnSpc>
                <a:spcPct val="108000"/>
              </a:lnSpc>
              <a:spcAft>
                <a:spcPts val="0"/>
              </a:spcAft>
            </a:pPr>
            <a:r>
              <a:rPr sz="1100" b="0" i="0">
                <a:solidFill>
                  <a:srgbClr val="27313F"/>
                </a:solidFill>
                <a:latin typeface="Segoe UI"/>
                <a:cs typeface="Segoe UI"/>
              </a:rPr>
              <a:t>approves, rejects or asks for evidence; rejections answered</a:t>
            </a:r>
          </a:p>
        </p:txBody>
      </p:sp>
      <p:sp>
        <p:nvSpPr>
          <p:cNvPr id="84" name="Rounded Rectangle 83"/>
          <p:cNvSpPr/>
          <p:nvPr/>
        </p:nvSpPr>
        <p:spPr>
          <a:xfrm>
            <a:off x="6272784" y="6693408"/>
            <a:ext cx="2432304"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Awaiting credit</a:t>
            </a:r>
          </a:p>
          <a:p>
            <a:pPr algn="l">
              <a:lnSpc>
                <a:spcPct val="108000"/>
              </a:lnSpc>
              <a:spcAft>
                <a:spcPts val="0"/>
              </a:spcAft>
            </a:pPr>
            <a:r>
              <a:rPr sz="1100" b="0" i="0">
                <a:solidFill>
                  <a:srgbClr val="27313F"/>
                </a:solidFill>
                <a:latin typeface="Segoe UI"/>
                <a:cs typeface="Segoe UI"/>
              </a:rPr>
              <a:t>approval is not recovery; it waits for the money to land</a:t>
            </a:r>
          </a:p>
        </p:txBody>
      </p:sp>
      <p:sp>
        <p:nvSpPr>
          <p:cNvPr id="85" name="Rounded Rectangle 84"/>
          <p:cNvSpPr/>
          <p:nvPr/>
        </p:nvSpPr>
        <p:spPr>
          <a:xfrm>
            <a:off x="3474720" y="6693408"/>
            <a:ext cx="2432304"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Recovered + prevented</a:t>
            </a:r>
          </a:p>
          <a:p>
            <a:pPr algn="l">
              <a:lnSpc>
                <a:spcPct val="108000"/>
              </a:lnSpc>
              <a:spcAft>
                <a:spcPts val="0"/>
              </a:spcAft>
            </a:pPr>
            <a:r>
              <a:rPr sz="1100" b="0" i="0">
                <a:solidFill>
                  <a:srgbClr val="27313F"/>
                </a:solidFill>
                <a:latin typeface="Segoe UI"/>
                <a:cs typeface="Segoe UI"/>
              </a:rPr>
              <a:t>bank credit matched by UTR; config fix requested so it stops</a:t>
            </a:r>
          </a:p>
        </p:txBody>
      </p:sp>
      <p:cxnSp>
        <p:nvCxnSpPr>
          <p:cNvPr id="86" name="Connector 85"/>
          <p:cNvCxnSpPr/>
          <p:nvPr/>
        </p:nvCxnSpPr>
        <p:spPr>
          <a:xfrm flipH="1">
            <a:off x="14319504" y="7242048"/>
            <a:ext cx="329184" cy="0"/>
          </a:xfrm>
          <a:prstGeom prst="line">
            <a:avLst/>
          </a:prstGeom>
          <a:ln w="25400">
            <a:solidFill>
              <a:srgbClr val="4F6B8A"/>
            </a:solidFill>
            <a:tailEnd type="triangle" w="med" len="med"/>
          </a:ln>
        </p:spPr>
      </p:cxnSp>
      <p:cxnSp>
        <p:nvCxnSpPr>
          <p:cNvPr id="87" name="Connector 86"/>
          <p:cNvCxnSpPr/>
          <p:nvPr/>
        </p:nvCxnSpPr>
        <p:spPr>
          <a:xfrm flipH="1">
            <a:off x="11521440" y="7242048"/>
            <a:ext cx="329184" cy="0"/>
          </a:xfrm>
          <a:prstGeom prst="line">
            <a:avLst/>
          </a:prstGeom>
          <a:ln w="25400">
            <a:solidFill>
              <a:srgbClr val="4F6B8A"/>
            </a:solidFill>
            <a:tailEnd type="triangle" w="med" len="med"/>
          </a:ln>
        </p:spPr>
      </p:cxnSp>
      <p:cxnSp>
        <p:nvCxnSpPr>
          <p:cNvPr id="88" name="Connector 87"/>
          <p:cNvCxnSpPr/>
          <p:nvPr/>
        </p:nvCxnSpPr>
        <p:spPr>
          <a:xfrm flipH="1">
            <a:off x="8723376" y="7242048"/>
            <a:ext cx="329184" cy="0"/>
          </a:xfrm>
          <a:prstGeom prst="line">
            <a:avLst/>
          </a:prstGeom>
          <a:ln w="25400">
            <a:solidFill>
              <a:srgbClr val="4F6B8A"/>
            </a:solidFill>
            <a:tailEnd type="triangle" w="med" len="med"/>
          </a:ln>
        </p:spPr>
      </p:cxnSp>
      <p:cxnSp>
        <p:nvCxnSpPr>
          <p:cNvPr id="89" name="Connector 88"/>
          <p:cNvCxnSpPr/>
          <p:nvPr/>
        </p:nvCxnSpPr>
        <p:spPr>
          <a:xfrm flipH="1">
            <a:off x="5925312" y="7242048"/>
            <a:ext cx="329184" cy="0"/>
          </a:xfrm>
          <a:prstGeom prst="line">
            <a:avLst/>
          </a:prstGeom>
          <a:ln w="25400">
            <a:solidFill>
              <a:srgbClr val="4F6B8A"/>
            </a:solidFill>
            <a:tailEnd type="triangle" w="med" len="med"/>
          </a:ln>
        </p:spPr>
      </p:cxnSp>
      <p:cxnSp>
        <p:nvCxnSpPr>
          <p:cNvPr id="90" name="Connector 89"/>
          <p:cNvCxnSpPr/>
          <p:nvPr/>
        </p:nvCxnSpPr>
        <p:spPr>
          <a:xfrm>
            <a:off x="4690872" y="7790688"/>
            <a:ext cx="0" cy="384048"/>
          </a:xfrm>
          <a:prstGeom prst="line">
            <a:avLst/>
          </a:prstGeom>
          <a:ln w="28575">
            <a:solidFill>
              <a:srgbClr val="2E7550"/>
            </a:solidFill>
            <a:tailEnd type="triangle" w="med" len="med"/>
          </a:ln>
        </p:spPr>
      </p:cxnSp>
      <p:sp>
        <p:nvSpPr>
          <p:cNvPr id="91" name="Rounded Rectangle 90"/>
          <p:cNvSpPr/>
          <p:nvPr/>
        </p:nvSpPr>
        <p:spPr>
          <a:xfrm>
            <a:off x="3474720" y="8174736"/>
            <a:ext cx="2432304" cy="1097280"/>
          </a:xfrm>
          <a:prstGeom prst="roundRect">
            <a:avLst>
              <a:gd name="adj" fmla="val 10000"/>
            </a:avLst>
          </a:prstGeom>
          <a:solidFill>
            <a:srgbClr val="DDF0E3"/>
          </a:solidFill>
          <a:ln w="22225">
            <a:solidFill>
              <a:srgbClr val="2E7550"/>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Merchant chat</a:t>
            </a:r>
          </a:p>
          <a:p>
            <a:pPr algn="l">
              <a:lnSpc>
                <a:spcPct val="108000"/>
              </a:lnSpc>
              <a:spcAft>
                <a:spcPts val="0"/>
              </a:spcAft>
            </a:pPr>
            <a:r>
              <a:rPr sz="1100" b="0" i="0">
                <a:solidFill>
                  <a:srgbClr val="27313F"/>
                </a:solidFill>
                <a:latin typeface="Segoe UI"/>
                <a:cs typeface="Segoe UI"/>
              </a:rPr>
              <a:t>Paytm speaks first: ‘₹23,252.93 wapas’. Type or speak, any language</a:t>
            </a:r>
          </a:p>
        </p:txBody>
      </p:sp>
      <p:sp>
        <p:nvSpPr>
          <p:cNvPr id="92" name="Rounded Rectangle 91"/>
          <p:cNvSpPr/>
          <p:nvPr/>
        </p:nvSpPr>
        <p:spPr>
          <a:xfrm>
            <a:off x="6272784" y="8174736"/>
            <a:ext cx="2432304" cy="1097280"/>
          </a:xfrm>
          <a:prstGeom prst="roundRect">
            <a:avLst>
              <a:gd name="adj" fmla="val 10000"/>
            </a:avLst>
          </a:prstGeom>
          <a:solidFill>
            <a:srgbClr val="D6E6FA"/>
          </a:solidFill>
          <a:ln w="22225">
            <a:solidFill>
              <a:srgbClr val="2E6FB7"/>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Chat brain</a:t>
            </a:r>
          </a:p>
          <a:p>
            <a:pPr algn="l">
              <a:lnSpc>
                <a:spcPct val="108000"/>
              </a:lnSpc>
              <a:spcAft>
                <a:spcPts val="0"/>
              </a:spcAft>
            </a:pPr>
            <a:r>
              <a:rPr sz="1100" b="0" i="0">
                <a:solidFill>
                  <a:srgbClr val="27313F"/>
                </a:solidFill>
                <a:latin typeface="Segoe UI"/>
                <a:cs typeface="Segoe UI"/>
              </a:rPr>
              <a:t>Sarvam-105b → Gemma 3 4B local → checked answer; figures guarded</a:t>
            </a:r>
          </a:p>
        </p:txBody>
      </p:sp>
      <p:sp>
        <p:nvSpPr>
          <p:cNvPr id="93" name="Rounded Rectangle 92"/>
          <p:cNvSpPr/>
          <p:nvPr/>
        </p:nvSpPr>
        <p:spPr>
          <a:xfrm>
            <a:off x="9070848" y="8174736"/>
            <a:ext cx="2432304" cy="1097280"/>
          </a:xfrm>
          <a:prstGeom prst="roundRect">
            <a:avLst>
              <a:gd name="adj" fmla="val 10000"/>
            </a:avLst>
          </a:prstGeom>
          <a:solidFill>
            <a:srgbClr val="DDF0E3"/>
          </a:solidFill>
          <a:ln w="22225">
            <a:solidFill>
              <a:srgbClr val="2E7550"/>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Merchant acts</a:t>
            </a:r>
          </a:p>
          <a:p>
            <a:pPr algn="l">
              <a:lnSpc>
                <a:spcPct val="108000"/>
              </a:lnSpc>
              <a:spcAft>
                <a:spcPts val="0"/>
              </a:spcAft>
            </a:pPr>
            <a:r>
              <a:rPr sz="1100" b="0" i="0">
                <a:solidFill>
                  <a:srgbClr val="27313F"/>
                </a:solidFill>
                <a:latin typeface="Segoe UI"/>
                <a:cs typeface="Segoe UI"/>
              </a:rPr>
              <a:t>decides review cases, appeals, finds a payment, asks for a person</a:t>
            </a:r>
          </a:p>
        </p:txBody>
      </p:sp>
      <p:sp>
        <p:nvSpPr>
          <p:cNvPr id="94" name="Rounded Rectangle 93"/>
          <p:cNvSpPr/>
          <p:nvPr/>
        </p:nvSpPr>
        <p:spPr>
          <a:xfrm>
            <a:off x="11868912" y="8174736"/>
            <a:ext cx="2432304" cy="1097280"/>
          </a:xfrm>
          <a:prstGeom prst="roundRect">
            <a:avLst>
              <a:gd name="adj" fmla="val 10000"/>
            </a:avLst>
          </a:prstGeom>
          <a:solidFill>
            <a:srgbClr val="FFFFFF"/>
          </a:solidFill>
          <a:ln w="22225">
            <a:solidFill>
              <a:srgbClr val="1B2733"/>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Ops console</a:t>
            </a:r>
          </a:p>
          <a:p>
            <a:pPr algn="l">
              <a:lnSpc>
                <a:spcPct val="108000"/>
              </a:lnSpc>
              <a:spcAft>
                <a:spcPts val="0"/>
              </a:spcAft>
            </a:pPr>
            <a:r>
              <a:rPr sz="1100" b="0" i="0">
                <a:solidFill>
                  <a:srgbClr val="27313F"/>
                </a:solidFill>
                <a:latin typeface="Segoe UI"/>
                <a:cs typeface="Segoe UI"/>
              </a:rPr>
              <a:t>portfolio, needs review, tickets, root causes, network, red team, import</a:t>
            </a:r>
          </a:p>
        </p:txBody>
      </p:sp>
      <p:sp>
        <p:nvSpPr>
          <p:cNvPr id="95" name="Rounded Rectangle 94"/>
          <p:cNvSpPr/>
          <p:nvPr/>
        </p:nvSpPr>
        <p:spPr>
          <a:xfrm>
            <a:off x="14666976" y="8174736"/>
            <a:ext cx="2432304" cy="1097280"/>
          </a:xfrm>
          <a:prstGeom prst="roundRect">
            <a:avLst>
              <a:gd name="adj" fmla="val 10000"/>
            </a:avLst>
          </a:prstGeom>
          <a:solidFill>
            <a:srgbClr val="DDF0E3"/>
          </a:solidFill>
          <a:ln w="22225">
            <a:solidFill>
              <a:srgbClr val="2E7550"/>
            </a:solidFill>
          </a:ln>
        </p:spPr>
        <p:txBody>
          <a:bodyPr wrap="square" lIns="118872" tIns="36576" bIns="36576" rtlCol="0" anchor="ctr">
            <a:noAutofit/>
          </a:bodyPr>
          <a:lstStyle/>
          <a:p>
            <a:pPr algn="l">
              <a:lnSpc>
                <a:spcPct val="100000"/>
              </a:lnSpc>
              <a:spcAft>
                <a:spcPts val="200"/>
              </a:spcAft>
            </a:pPr>
            <a:r>
              <a:rPr sz="1350" b="0" i="0">
                <a:solidFill>
                  <a:srgbClr val="0F1B2D"/>
                </a:solidFill>
                <a:latin typeface="Segoe UI Semibold"/>
                <a:cs typeface="Segoe UI Semibold"/>
              </a:rPr>
              <a:t>Paytm ops team</a:t>
            </a:r>
          </a:p>
          <a:p>
            <a:pPr algn="l">
              <a:lnSpc>
                <a:spcPct val="108000"/>
              </a:lnSpc>
              <a:spcAft>
                <a:spcPts val="0"/>
              </a:spcAft>
            </a:pPr>
            <a:r>
              <a:rPr sz="1100" b="0" i="0">
                <a:solidFill>
                  <a:srgbClr val="27313F"/>
                </a:solidFill>
                <a:latin typeface="Segoe UI"/>
                <a:cs typeface="Segoe UI"/>
              </a:rPr>
              <a:t>handles only exceptions; replies flow back into the chat</a:t>
            </a:r>
          </a:p>
        </p:txBody>
      </p:sp>
      <p:cxnSp>
        <p:nvCxnSpPr>
          <p:cNvPr id="96" name="Connector 95"/>
          <p:cNvCxnSpPr/>
          <p:nvPr/>
        </p:nvCxnSpPr>
        <p:spPr>
          <a:xfrm>
            <a:off x="5925312" y="8723376"/>
            <a:ext cx="329184" cy="0"/>
          </a:xfrm>
          <a:prstGeom prst="line">
            <a:avLst/>
          </a:prstGeom>
          <a:ln w="25400">
            <a:solidFill>
              <a:srgbClr val="4F6B8A"/>
            </a:solidFill>
            <a:headEnd type="triangle" w="med" len="med"/>
            <a:tailEnd type="triangle" w="med" len="med"/>
          </a:ln>
        </p:spPr>
      </p:cxnSp>
      <p:cxnSp>
        <p:nvCxnSpPr>
          <p:cNvPr id="97" name="Connector 96"/>
          <p:cNvCxnSpPr/>
          <p:nvPr/>
        </p:nvCxnSpPr>
        <p:spPr>
          <a:xfrm>
            <a:off x="8723376" y="8723376"/>
            <a:ext cx="329184" cy="0"/>
          </a:xfrm>
          <a:prstGeom prst="line">
            <a:avLst/>
          </a:prstGeom>
          <a:ln w="25400">
            <a:solidFill>
              <a:srgbClr val="4F6B8A"/>
            </a:solidFill>
            <a:tailEnd type="triangle" w="med" len="med"/>
          </a:ln>
        </p:spPr>
      </p:cxnSp>
      <p:cxnSp>
        <p:nvCxnSpPr>
          <p:cNvPr id="98" name="Connector 97"/>
          <p:cNvCxnSpPr/>
          <p:nvPr/>
        </p:nvCxnSpPr>
        <p:spPr>
          <a:xfrm>
            <a:off x="11521440" y="8723376"/>
            <a:ext cx="329184" cy="0"/>
          </a:xfrm>
          <a:prstGeom prst="line">
            <a:avLst/>
          </a:prstGeom>
          <a:ln w="25400">
            <a:solidFill>
              <a:srgbClr val="4F6B8A"/>
            </a:solidFill>
            <a:tailEnd type="triangle" w="med" len="med"/>
          </a:ln>
        </p:spPr>
      </p:cxnSp>
      <p:cxnSp>
        <p:nvCxnSpPr>
          <p:cNvPr id="99" name="Connector 98"/>
          <p:cNvCxnSpPr/>
          <p:nvPr/>
        </p:nvCxnSpPr>
        <p:spPr>
          <a:xfrm>
            <a:off x="14319504" y="8723376"/>
            <a:ext cx="329184" cy="0"/>
          </a:xfrm>
          <a:prstGeom prst="line">
            <a:avLst/>
          </a:prstGeom>
          <a:ln w="25400">
            <a:solidFill>
              <a:srgbClr val="4F6B8A"/>
            </a:solidFill>
            <a:tailEnd type="triangle" w="med" len="med"/>
          </a:ln>
        </p:spPr>
      </p:cxnSp>
      <p:cxnSp>
        <p:nvCxnSpPr>
          <p:cNvPr id="100" name="Connector 99"/>
          <p:cNvCxnSpPr/>
          <p:nvPr/>
        </p:nvCxnSpPr>
        <p:spPr>
          <a:xfrm flipV="1">
            <a:off x="16779240" y="7790688"/>
            <a:ext cx="0" cy="384048"/>
          </a:xfrm>
          <a:prstGeom prst="line">
            <a:avLst/>
          </a:prstGeom>
          <a:ln w="25400">
            <a:solidFill>
              <a:srgbClr val="E4873B"/>
            </a:solidFill>
            <a:prstDash val="dash"/>
            <a:tailEnd type="triangle" w="med" len="med"/>
          </a:ln>
        </p:spPr>
      </p:cxnSp>
      <p:sp>
        <p:nvSpPr>
          <p:cNvPr id="101" name="TextBox 100"/>
          <p:cNvSpPr txBox="1"/>
          <p:nvPr/>
        </p:nvSpPr>
        <p:spPr>
          <a:xfrm>
            <a:off x="14721840" y="7790688"/>
            <a:ext cx="2011680" cy="256032"/>
          </a:xfrm>
          <a:prstGeom prst="rect">
            <a:avLst/>
          </a:prstGeom>
          <a:noFill/>
          <a:ln/>
        </p:spPr>
        <p:txBody>
          <a:bodyPr wrap="square" lIns="0" tIns="0" rIns="0" bIns="0" anchor="ctr">
            <a:noAutofit/>
          </a:bodyPr>
          <a:lstStyle/>
          <a:p>
            <a:pPr algn="r">
              <a:lnSpc>
                <a:spcPct val="112000"/>
              </a:lnSpc>
              <a:spcAft>
                <a:spcPts val="0"/>
              </a:spcAft>
            </a:pPr>
            <a:r>
              <a:rPr sz="900" b="0" i="0">
                <a:solidFill>
                  <a:srgbClr val="E4873B"/>
                </a:solidFill>
                <a:latin typeface="Segoe UI"/>
                <a:cs typeface="Segoe UI"/>
              </a:rPr>
              <a:t>decisions re-enter the case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rot="-5400000" flipV="1">
            <a:off x="17692731" y="-932307"/>
            <a:ext cx="1654414" cy="1516546"/>
          </a:xfrm>
          <a:custGeom>
            <a:avLst/>
            <a:gdLst/>
            <a:ahLst/>
            <a:cxnLst/>
            <a:rect l="l" t="t" r="r" b="b"/>
            <a:pathLst>
              <a:path w="3676477" h="3370104">
                <a:moveTo>
                  <a:pt x="0" y="3370104"/>
                </a:moveTo>
                <a:lnTo>
                  <a:pt x="3676476" y="3370104"/>
                </a:lnTo>
                <a:lnTo>
                  <a:pt x="3676476" y="0"/>
                </a:lnTo>
                <a:lnTo>
                  <a:pt x="0" y="0"/>
                </a:lnTo>
                <a:lnTo>
                  <a:pt x="0" y="337010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H="1">
            <a:off x="-846388" y="8793780"/>
            <a:ext cx="2367676" cy="2170370"/>
          </a:xfrm>
          <a:custGeom>
            <a:avLst/>
            <a:gdLst/>
            <a:ahLst/>
            <a:cxnLst/>
            <a:rect l="l" t="t" r="r" b="b"/>
            <a:pathLst>
              <a:path w="5261504" h="4823045">
                <a:moveTo>
                  <a:pt x="5261504" y="0"/>
                </a:moveTo>
                <a:lnTo>
                  <a:pt x="0" y="0"/>
                </a:lnTo>
                <a:lnTo>
                  <a:pt x="0" y="4823045"/>
                </a:lnTo>
                <a:lnTo>
                  <a:pt x="5261504" y="4823045"/>
                </a:lnTo>
                <a:lnTo>
                  <a:pt x="526150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5" name="TextBox 4"/>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lang="en-IN" sz="5000" dirty="0">
                <a:solidFill>
                  <a:srgbClr val="B96A1E"/>
                </a:solidFill>
                <a:latin typeface="League Spartan"/>
                <a:cs typeface="League Spartan"/>
              </a:rPr>
              <a:t>TECH USED</a:t>
            </a:r>
            <a:endParaRPr sz="5000" b="0" i="0" dirty="0">
              <a:solidFill>
                <a:srgbClr val="B96A1E"/>
              </a:solidFill>
              <a:latin typeface="League Spartan"/>
              <a:cs typeface="League Spartan"/>
            </a:endParaRPr>
          </a:p>
        </p:txBody>
      </p:sp>
      <p:sp>
        <p:nvSpPr>
          <p:cNvPr id="6" name="TextBox 5"/>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a:solidFill>
                  <a:srgbClr val="3D2410"/>
                </a:solidFill>
                <a:latin typeface="Segoe UI"/>
                <a:cs typeface="Segoe UI"/>
              </a:rPr>
              <a:t>Each sponsor tool does one job, and a local LLM steps in when one can’t</a:t>
            </a:r>
          </a:p>
        </p:txBody>
      </p:sp>
      <p:sp>
        <p:nvSpPr>
          <p:cNvPr id="7" name="TextBox 6"/>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0" i="0">
                <a:solidFill>
                  <a:srgbClr val="000000"/>
                </a:solidFill>
                <a:latin typeface="Segoe UI"/>
                <a:cs typeface="Segoe UI"/>
              </a:rPr>
              <a:t>The core needs no external service. Sponsor tools add voice, memory and workflow, and each one has a local fallback.</a:t>
            </a:r>
          </a:p>
        </p:txBody>
      </p:sp>
      <p:sp>
        <p:nvSpPr>
          <p:cNvPr id="8" name="TextBox 7"/>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dirty="0">
                <a:solidFill>
                  <a:srgbClr val="B96A1E"/>
                </a:solidFill>
                <a:latin typeface="Segoe UI Semibold"/>
                <a:cs typeface="Segoe UI Semibold"/>
              </a:rPr>
              <a:t>0</a:t>
            </a:r>
            <a:r>
              <a:rPr lang="en-IN" sz="1400" b="0" i="0" dirty="0">
                <a:solidFill>
                  <a:srgbClr val="B96A1E"/>
                </a:solidFill>
                <a:latin typeface="Segoe UI Semibold"/>
                <a:cs typeface="Segoe UI Semibold"/>
              </a:rPr>
              <a:t>9</a:t>
            </a:r>
            <a:r>
              <a:rPr sz="1200" b="0" i="0" dirty="0">
                <a:solidFill>
                  <a:srgbClr val="8A6F55"/>
                </a:solidFill>
                <a:latin typeface="Segoe UI"/>
                <a:cs typeface="Segoe UI"/>
              </a:rPr>
              <a:t>  Munim   Paytm Build for India, Track 3</a:t>
            </a:r>
          </a:p>
        </p:txBody>
      </p:sp>
      <p:sp>
        <p:nvSpPr>
          <p:cNvPr id="9" name="Rounded Rectangle 8"/>
          <p:cNvSpPr/>
          <p:nvPr/>
        </p:nvSpPr>
        <p:spPr>
          <a:xfrm>
            <a:off x="1188720" y="2468880"/>
            <a:ext cx="4572000" cy="4069080"/>
          </a:xfrm>
          <a:prstGeom prst="roundRect">
            <a:avLst>
              <a:gd name="adj" fmla="val 6000"/>
            </a:avLst>
          </a:prstGeom>
          <a:solidFill>
            <a:srgbClr val="FFFFFF"/>
          </a:solidFill>
          <a:ln w="25400">
            <a:solidFill>
              <a:srgbClr val="E4873B"/>
            </a:solidFill>
          </a:ln>
        </p:spPr>
        <p:txBody>
          <a:bodyPr rtlCol="0" anchor="ctr"/>
          <a:lstStyle/>
          <a:p>
            <a:endParaRPr/>
          </a:p>
        </p:txBody>
      </p:sp>
      <p:sp>
        <p:nvSpPr>
          <p:cNvPr id="10" name="TextBox 9"/>
          <p:cNvSpPr txBox="1"/>
          <p:nvPr/>
        </p:nvSpPr>
        <p:spPr>
          <a:xfrm>
            <a:off x="1463040" y="2651760"/>
            <a:ext cx="4114800" cy="502920"/>
          </a:xfrm>
          <a:prstGeom prst="rect">
            <a:avLst/>
          </a:prstGeom>
          <a:noFill/>
        </p:spPr>
        <p:txBody>
          <a:bodyPr wrap="square" lIns="0" tIns="0" rIns="0" bIns="0" anchor="ctr">
            <a:noAutofit/>
          </a:bodyPr>
          <a:lstStyle/>
          <a:p>
            <a:pPr algn="l">
              <a:lnSpc>
                <a:spcPct val="112000"/>
              </a:lnSpc>
              <a:spcAft>
                <a:spcPts val="0"/>
              </a:spcAft>
            </a:pPr>
            <a:r>
              <a:rPr sz="2600" b="0" i="0">
                <a:solidFill>
                  <a:srgbClr val="3D2410"/>
                </a:solidFill>
                <a:latin typeface="Segoe UI Semibold"/>
                <a:cs typeface="Segoe UI Semibold"/>
              </a:rPr>
              <a:t>Sarvam</a:t>
            </a:r>
            <a:r>
              <a:rPr sz="1400" b="0" i="0">
                <a:solidFill>
                  <a:srgbClr val="B96A1E"/>
                </a:solidFill>
                <a:latin typeface="Segoe UI Semibold"/>
                <a:cs typeface="Segoe UI Semibold"/>
              </a:rPr>
              <a:t>   the voice</a:t>
            </a:r>
          </a:p>
        </p:txBody>
      </p:sp>
      <p:sp>
        <p:nvSpPr>
          <p:cNvPr id="11" name="TextBox 10"/>
          <p:cNvSpPr txBox="1"/>
          <p:nvPr/>
        </p:nvSpPr>
        <p:spPr>
          <a:xfrm>
            <a:off x="1463040" y="3246120"/>
            <a:ext cx="4069080" cy="1463040"/>
          </a:xfrm>
          <a:prstGeom prst="rect">
            <a:avLst/>
          </a:prstGeom>
          <a:noFill/>
        </p:spPr>
        <p:txBody>
          <a:bodyPr wrap="square" lIns="0" tIns="0" rIns="0" bIns="0" anchor="t">
            <a:noAutofit/>
          </a:bodyPr>
          <a:lstStyle/>
          <a:p>
            <a:pPr algn="l">
              <a:lnSpc>
                <a:spcPct val="112000"/>
              </a:lnSpc>
              <a:spcAft>
                <a:spcPts val="0"/>
              </a:spcAft>
            </a:pPr>
            <a:r>
              <a:rPr sz="1250" b="0" i="0">
                <a:solidFill>
                  <a:srgbClr val="3D2410"/>
                </a:solidFill>
                <a:latin typeface="Segoe UI"/>
                <a:cs typeface="Segoe UI"/>
              </a:rPr>
              <a:t>Merchant chat in 12 Indian languages (sarvam-105b), translation, speech-to-text (saaras) and text-to-speech (bulbul). Guards reject invented figures, overclaims and wrong-language replies; it never asks for an OTP.</a:t>
            </a:r>
          </a:p>
        </p:txBody>
      </p:sp>
      <p:sp>
        <p:nvSpPr>
          <p:cNvPr id="12" name="Rounded Rectangle 11"/>
          <p:cNvSpPr/>
          <p:nvPr/>
        </p:nvSpPr>
        <p:spPr>
          <a:xfrm>
            <a:off x="1463040" y="4709160"/>
            <a:ext cx="64008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Chat</a:t>
            </a:r>
          </a:p>
        </p:txBody>
      </p:sp>
      <p:sp>
        <p:nvSpPr>
          <p:cNvPr id="13" name="Rounded Rectangle 12"/>
          <p:cNvSpPr/>
          <p:nvPr/>
        </p:nvSpPr>
        <p:spPr>
          <a:xfrm>
            <a:off x="2212848" y="4709160"/>
            <a:ext cx="109728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Translate</a:t>
            </a:r>
          </a:p>
        </p:txBody>
      </p:sp>
      <p:sp>
        <p:nvSpPr>
          <p:cNvPr id="14" name="Rounded Rectangle 13"/>
          <p:cNvSpPr/>
          <p:nvPr/>
        </p:nvSpPr>
        <p:spPr>
          <a:xfrm>
            <a:off x="3419856" y="4709160"/>
            <a:ext cx="100584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Voice in</a:t>
            </a:r>
          </a:p>
        </p:txBody>
      </p:sp>
      <p:sp>
        <p:nvSpPr>
          <p:cNvPr id="15" name="Rounded Rectangle 14"/>
          <p:cNvSpPr/>
          <p:nvPr/>
        </p:nvSpPr>
        <p:spPr>
          <a:xfrm>
            <a:off x="1463040" y="5166360"/>
            <a:ext cx="109728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Voice out</a:t>
            </a:r>
          </a:p>
        </p:txBody>
      </p:sp>
      <p:sp>
        <p:nvSpPr>
          <p:cNvPr id="16" name="Rounded Rectangle 15"/>
          <p:cNvSpPr/>
          <p:nvPr/>
        </p:nvSpPr>
        <p:spPr>
          <a:xfrm>
            <a:off x="2670048" y="5166360"/>
            <a:ext cx="137160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12 languages</a:t>
            </a:r>
          </a:p>
        </p:txBody>
      </p:sp>
      <p:sp>
        <p:nvSpPr>
          <p:cNvPr id="17" name="TextBox 16"/>
          <p:cNvSpPr txBox="1"/>
          <p:nvPr/>
        </p:nvSpPr>
        <p:spPr>
          <a:xfrm>
            <a:off x="1463040" y="5669280"/>
            <a:ext cx="4069080" cy="365760"/>
          </a:xfrm>
          <a:prstGeom prst="rect">
            <a:avLst/>
          </a:prstGeom>
          <a:noFill/>
        </p:spPr>
        <p:txBody>
          <a:bodyPr wrap="square" lIns="0" tIns="0" rIns="0" bIns="0" anchor="t">
            <a:noAutofit/>
          </a:bodyPr>
          <a:lstStyle/>
          <a:p>
            <a:pPr algn="l">
              <a:lnSpc>
                <a:spcPct val="112000"/>
              </a:lnSpc>
              <a:spcAft>
                <a:spcPts val="0"/>
              </a:spcAft>
            </a:pPr>
            <a:r>
              <a:rPr sz="1200" b="0" i="0">
                <a:solidFill>
                  <a:srgbClr val="2E7550"/>
                </a:solidFill>
                <a:latin typeface="Segoe UI Semibold"/>
                <a:cs typeface="Segoe UI Semibold"/>
              </a:rPr>
              <a:t>✓ </a:t>
            </a:r>
            <a:r>
              <a:rPr sz="1200" b="0" i="0">
                <a:solidFill>
                  <a:srgbClr val="3D2410"/>
                </a:solidFill>
                <a:latin typeface="Segoe UI"/>
                <a:cs typeface="Segoe UI"/>
              </a:rPr>
              <a:t>Request format checked against docs.sarvam.ai</a:t>
            </a:r>
          </a:p>
        </p:txBody>
      </p:sp>
      <p:sp>
        <p:nvSpPr>
          <p:cNvPr id="18" name="TextBox 17"/>
          <p:cNvSpPr txBox="1"/>
          <p:nvPr/>
        </p:nvSpPr>
        <p:spPr>
          <a:xfrm>
            <a:off x="1463040" y="6080760"/>
            <a:ext cx="4069080" cy="365760"/>
          </a:xfrm>
          <a:prstGeom prst="rect">
            <a:avLst/>
          </a:prstGeom>
          <a:noFill/>
        </p:spPr>
        <p:txBody>
          <a:bodyPr wrap="square" lIns="0" tIns="0" rIns="0" bIns="0" anchor="t">
            <a:noAutofit/>
          </a:bodyPr>
          <a:lstStyle/>
          <a:p>
            <a:pPr algn="l">
              <a:lnSpc>
                <a:spcPct val="112000"/>
              </a:lnSpc>
              <a:spcAft>
                <a:spcPts val="0"/>
              </a:spcAft>
            </a:pPr>
            <a:r>
              <a:rPr sz="1200" b="0" i="0">
                <a:solidFill>
                  <a:srgbClr val="B96A1E"/>
                </a:solidFill>
                <a:latin typeface="Segoe UI Semibold"/>
                <a:cs typeface="Segoe UI Semibold"/>
              </a:rPr>
              <a:t>Fallback  </a:t>
            </a:r>
            <a:r>
              <a:rPr sz="1200" b="0" i="0">
                <a:solidFill>
                  <a:srgbClr val="8A6F55"/>
                </a:solidFill>
                <a:latin typeface="Segoe UI"/>
                <a:cs typeface="Segoe UI"/>
              </a:rPr>
              <a:t>the local LLM below</a:t>
            </a:r>
          </a:p>
        </p:txBody>
      </p:sp>
      <p:sp>
        <p:nvSpPr>
          <p:cNvPr id="19" name="Rounded Rectangle 18"/>
          <p:cNvSpPr/>
          <p:nvPr/>
        </p:nvSpPr>
        <p:spPr>
          <a:xfrm>
            <a:off x="12527280" y="2468880"/>
            <a:ext cx="4572000" cy="4069080"/>
          </a:xfrm>
          <a:prstGeom prst="roundRect">
            <a:avLst>
              <a:gd name="adj" fmla="val 6000"/>
            </a:avLst>
          </a:prstGeom>
          <a:solidFill>
            <a:srgbClr val="FFFFFF"/>
          </a:solidFill>
          <a:ln w="25400">
            <a:solidFill>
              <a:srgbClr val="B96A1E"/>
            </a:solidFill>
          </a:ln>
        </p:spPr>
        <p:txBody>
          <a:bodyPr rtlCol="0" anchor="ctr"/>
          <a:lstStyle/>
          <a:p>
            <a:endParaRPr/>
          </a:p>
        </p:txBody>
      </p:sp>
      <p:sp>
        <p:nvSpPr>
          <p:cNvPr id="20" name="TextBox 19"/>
          <p:cNvSpPr txBox="1"/>
          <p:nvPr/>
        </p:nvSpPr>
        <p:spPr>
          <a:xfrm>
            <a:off x="12801600" y="2651760"/>
            <a:ext cx="4114800" cy="502920"/>
          </a:xfrm>
          <a:prstGeom prst="rect">
            <a:avLst/>
          </a:prstGeom>
          <a:noFill/>
        </p:spPr>
        <p:txBody>
          <a:bodyPr wrap="square" lIns="0" tIns="0" rIns="0" bIns="0" anchor="ctr">
            <a:noAutofit/>
          </a:bodyPr>
          <a:lstStyle/>
          <a:p>
            <a:pPr algn="l">
              <a:lnSpc>
                <a:spcPct val="112000"/>
              </a:lnSpc>
              <a:spcAft>
                <a:spcPts val="0"/>
              </a:spcAft>
            </a:pPr>
            <a:r>
              <a:rPr sz="2600" b="0" i="0">
                <a:solidFill>
                  <a:srgbClr val="3D2410"/>
                </a:solidFill>
                <a:latin typeface="Segoe UI Semibold"/>
                <a:cs typeface="Segoe UI Semibold"/>
              </a:rPr>
              <a:t>n8n</a:t>
            </a:r>
            <a:r>
              <a:rPr sz="1400" b="0" i="0">
                <a:solidFill>
                  <a:srgbClr val="B96A1E"/>
                </a:solidFill>
                <a:latin typeface="Segoe UI Semibold"/>
                <a:cs typeface="Segoe UI Semibold"/>
              </a:rPr>
              <a:t>   the hands</a:t>
            </a:r>
          </a:p>
        </p:txBody>
      </p:sp>
      <p:sp>
        <p:nvSpPr>
          <p:cNvPr id="21" name="TextBox 20"/>
          <p:cNvSpPr txBox="1"/>
          <p:nvPr/>
        </p:nvSpPr>
        <p:spPr>
          <a:xfrm>
            <a:off x="12801600" y="3246120"/>
            <a:ext cx="4069080" cy="1463040"/>
          </a:xfrm>
          <a:prstGeom prst="rect">
            <a:avLst/>
          </a:prstGeom>
          <a:noFill/>
        </p:spPr>
        <p:txBody>
          <a:bodyPr wrap="square" lIns="0" tIns="0" rIns="0" bIns="0" anchor="t">
            <a:noAutofit/>
          </a:bodyPr>
          <a:lstStyle/>
          <a:p>
            <a:pPr algn="l">
              <a:lnSpc>
                <a:spcPct val="112000"/>
              </a:lnSpc>
              <a:spcAft>
                <a:spcPts val="0"/>
              </a:spcAft>
            </a:pPr>
            <a:r>
              <a:rPr sz="1250" b="0" i="0">
                <a:solidFill>
                  <a:srgbClr val="3D2410"/>
                </a:solidFill>
                <a:latin typeface="Segoe UI"/>
                <a:cs typeface="Segoe UI"/>
              </a:rPr>
              <a:t>Runs each claim step with Paytm settlement ops. Retries and timers live in the workflow, not in the agents.</a:t>
            </a:r>
          </a:p>
        </p:txBody>
      </p:sp>
      <p:sp>
        <p:nvSpPr>
          <p:cNvPr id="22" name="Rounded Rectangle 21"/>
          <p:cNvSpPr/>
          <p:nvPr/>
        </p:nvSpPr>
        <p:spPr>
          <a:xfrm>
            <a:off x="12801600" y="4709160"/>
            <a:ext cx="82296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Submit</a:t>
            </a:r>
          </a:p>
        </p:txBody>
      </p:sp>
      <p:sp>
        <p:nvSpPr>
          <p:cNvPr id="23" name="Rounded Rectangle 22"/>
          <p:cNvSpPr/>
          <p:nvPr/>
        </p:nvSpPr>
        <p:spPr>
          <a:xfrm>
            <a:off x="13734288" y="4709160"/>
            <a:ext cx="73152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Check</a:t>
            </a:r>
          </a:p>
        </p:txBody>
      </p:sp>
      <p:sp>
        <p:nvSpPr>
          <p:cNvPr id="24" name="Rounded Rectangle 23"/>
          <p:cNvSpPr/>
          <p:nvPr/>
        </p:nvSpPr>
        <p:spPr>
          <a:xfrm>
            <a:off x="14575536" y="4709160"/>
            <a:ext cx="109728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Follow up</a:t>
            </a:r>
          </a:p>
        </p:txBody>
      </p:sp>
      <p:sp>
        <p:nvSpPr>
          <p:cNvPr id="25" name="Rounded Rectangle 24"/>
          <p:cNvSpPr/>
          <p:nvPr/>
        </p:nvSpPr>
        <p:spPr>
          <a:xfrm>
            <a:off x="12801600" y="5166360"/>
            <a:ext cx="118872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Re-present</a:t>
            </a:r>
          </a:p>
        </p:txBody>
      </p:sp>
      <p:sp>
        <p:nvSpPr>
          <p:cNvPr id="26" name="Rounded Rectangle 25"/>
          <p:cNvSpPr/>
          <p:nvPr/>
        </p:nvSpPr>
        <p:spPr>
          <a:xfrm>
            <a:off x="14100048" y="5166360"/>
            <a:ext cx="1005840"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200" b="0" i="0">
                <a:solidFill>
                  <a:srgbClr val="3D2410"/>
                </a:solidFill>
                <a:latin typeface="Segoe UI"/>
                <a:cs typeface="Segoe UI"/>
              </a:rPr>
              <a:t>Withdraw</a:t>
            </a:r>
          </a:p>
        </p:txBody>
      </p:sp>
      <p:sp>
        <p:nvSpPr>
          <p:cNvPr id="27" name="TextBox 26"/>
          <p:cNvSpPr txBox="1"/>
          <p:nvPr/>
        </p:nvSpPr>
        <p:spPr>
          <a:xfrm>
            <a:off x="12801600" y="5669280"/>
            <a:ext cx="4069080" cy="365760"/>
          </a:xfrm>
          <a:prstGeom prst="rect">
            <a:avLst/>
          </a:prstGeom>
          <a:noFill/>
        </p:spPr>
        <p:txBody>
          <a:bodyPr wrap="square" lIns="0" tIns="0" rIns="0" bIns="0" anchor="t">
            <a:noAutofit/>
          </a:bodyPr>
          <a:lstStyle/>
          <a:p>
            <a:pPr algn="l">
              <a:lnSpc>
                <a:spcPct val="112000"/>
              </a:lnSpc>
              <a:spcAft>
                <a:spcPts val="0"/>
              </a:spcAft>
            </a:pPr>
            <a:r>
              <a:rPr sz="1200" b="0" i="0">
                <a:solidFill>
                  <a:srgbClr val="2E7550"/>
                </a:solidFill>
                <a:latin typeface="Segoe UI Semibold"/>
                <a:cs typeface="Segoe UI Semibold"/>
              </a:rPr>
              <a:t>✓ </a:t>
            </a:r>
            <a:r>
              <a:rPr sz="1200" b="0" i="0">
                <a:solidFill>
                  <a:srgbClr val="3D2410"/>
                </a:solidFill>
                <a:latin typeface="Segoe UI"/>
                <a:cs typeface="Segoe UI"/>
              </a:rPr>
              <a:t>Live: n8n 2.39 ran every step, 0 fallbacks</a:t>
            </a:r>
          </a:p>
        </p:txBody>
      </p:sp>
      <p:sp>
        <p:nvSpPr>
          <p:cNvPr id="28" name="TextBox 27"/>
          <p:cNvSpPr txBox="1"/>
          <p:nvPr/>
        </p:nvSpPr>
        <p:spPr>
          <a:xfrm>
            <a:off x="12801600" y="6080760"/>
            <a:ext cx="4069080" cy="365760"/>
          </a:xfrm>
          <a:prstGeom prst="rect">
            <a:avLst/>
          </a:prstGeom>
          <a:noFill/>
        </p:spPr>
        <p:txBody>
          <a:bodyPr wrap="square" lIns="0" tIns="0" rIns="0" bIns="0" anchor="t">
            <a:noAutofit/>
          </a:bodyPr>
          <a:lstStyle/>
          <a:p>
            <a:pPr algn="l">
              <a:lnSpc>
                <a:spcPct val="112000"/>
              </a:lnSpc>
              <a:spcAft>
                <a:spcPts val="0"/>
              </a:spcAft>
            </a:pPr>
            <a:r>
              <a:rPr sz="1200" b="0" i="0">
                <a:solidFill>
                  <a:srgbClr val="B96A1E"/>
                </a:solidFill>
                <a:latin typeface="Segoe UI Semibold"/>
                <a:cs typeface="Segoe UI Semibold"/>
              </a:rPr>
              <a:t>Fallback  </a:t>
            </a:r>
            <a:r>
              <a:rPr sz="1200" b="0" i="0">
                <a:solidFill>
                  <a:srgbClr val="8A6F55"/>
                </a:solidFill>
                <a:latin typeface="Segoe UI"/>
                <a:cs typeface="Segoe UI"/>
              </a:rPr>
              <a:t>in-process workflow (logged)</a:t>
            </a:r>
          </a:p>
        </p:txBody>
      </p:sp>
      <p:sp>
        <p:nvSpPr>
          <p:cNvPr id="29" name="Rounded Rectangle 28"/>
          <p:cNvSpPr/>
          <p:nvPr/>
        </p:nvSpPr>
        <p:spPr>
          <a:xfrm>
            <a:off x="6355080" y="2468880"/>
            <a:ext cx="5577840" cy="4069080"/>
          </a:xfrm>
          <a:prstGeom prst="roundRect">
            <a:avLst>
              <a:gd name="adj" fmla="val 5000"/>
            </a:avLst>
          </a:prstGeom>
          <a:solidFill>
            <a:schemeClr val="accent1">
              <a:lumMod val="75000"/>
            </a:schemeClr>
          </a:solidFill>
          <a:ln>
            <a:noFill/>
          </a:ln>
        </p:spPr>
        <p:txBody>
          <a:bodyPr rtlCol="0" anchor="ctr"/>
          <a:lstStyle/>
          <a:p>
            <a:endParaRPr/>
          </a:p>
        </p:txBody>
      </p:sp>
      <p:sp>
        <p:nvSpPr>
          <p:cNvPr id="30" name="TextBox 29"/>
          <p:cNvSpPr txBox="1"/>
          <p:nvPr/>
        </p:nvSpPr>
        <p:spPr>
          <a:xfrm>
            <a:off x="6629400" y="2615184"/>
            <a:ext cx="5120640" cy="411480"/>
          </a:xfrm>
          <a:prstGeom prst="rect">
            <a:avLst/>
          </a:prstGeom>
          <a:noFill/>
        </p:spPr>
        <p:txBody>
          <a:bodyPr wrap="square" lIns="0" tIns="0" rIns="0" bIns="0" anchor="t">
            <a:noAutofit/>
          </a:bodyPr>
          <a:lstStyle/>
          <a:p>
            <a:pPr algn="ctr">
              <a:lnSpc>
                <a:spcPct val="112000"/>
              </a:lnSpc>
              <a:spcAft>
                <a:spcPts val="0"/>
              </a:spcAft>
            </a:pPr>
            <a:r>
              <a:rPr sz="1900" b="0" i="0">
                <a:solidFill>
                  <a:srgbClr val="F4C542"/>
                </a:solidFill>
                <a:latin typeface="Segoe UI Semibold"/>
                <a:cs typeface="Segoe UI Semibold"/>
              </a:rPr>
              <a:t>Munim core</a:t>
            </a:r>
          </a:p>
        </p:txBody>
      </p:sp>
      <p:sp>
        <p:nvSpPr>
          <p:cNvPr id="31" name="Rounded Rectangle 30"/>
          <p:cNvSpPr/>
          <p:nvPr/>
        </p:nvSpPr>
        <p:spPr>
          <a:xfrm>
            <a:off x="6629400" y="3127248"/>
            <a:ext cx="5029200" cy="1005840"/>
          </a:xfrm>
          <a:prstGeom prst="roundRect">
            <a:avLst>
              <a:gd name="adj" fmla="val 10000"/>
            </a:avLst>
          </a:prstGeom>
          <a:solidFill>
            <a:schemeClr val="tx2">
              <a:lumMod val="60000"/>
              <a:lumOff val="40000"/>
            </a:schemeClr>
          </a:solidFill>
          <a:ln>
            <a:noFill/>
          </a:ln>
        </p:spPr>
        <p:txBody>
          <a:bodyPr wrap="square" lIns="109728" tIns="73152" rIns="109728" bIns="73152" rtlCol="0" anchor="ctr">
            <a:noAutofit/>
          </a:bodyPr>
          <a:lstStyle/>
          <a:p>
            <a:pPr algn="ctr">
              <a:lnSpc>
                <a:spcPct val="112000"/>
              </a:lnSpc>
              <a:spcAft>
                <a:spcPts val="100"/>
              </a:spcAft>
            </a:pPr>
            <a:r>
              <a:rPr sz="1500" b="0" i="0" dirty="0">
                <a:solidFill>
                  <a:srgbClr val="FFFFFF"/>
                </a:solidFill>
                <a:latin typeface="Segoe UI Semibold"/>
                <a:cs typeface="Segoe UI Semibold"/>
              </a:rPr>
              <a:t>Three agents</a:t>
            </a:r>
          </a:p>
          <a:p>
            <a:pPr algn="ctr">
              <a:lnSpc>
                <a:spcPct val="112000"/>
              </a:lnSpc>
              <a:spcAft>
                <a:spcPts val="0"/>
              </a:spcAft>
            </a:pPr>
            <a:r>
              <a:rPr sz="1250" b="0" i="0" dirty="0">
                <a:solidFill>
                  <a:srgbClr val="E6D6BE"/>
                </a:solidFill>
                <a:latin typeface="Segoe UI"/>
                <a:cs typeface="Segoe UI"/>
              </a:rPr>
              <a:t>Monitor, Investigation, Follow-up</a:t>
            </a:r>
          </a:p>
        </p:txBody>
      </p:sp>
      <p:sp>
        <p:nvSpPr>
          <p:cNvPr id="32" name="Rounded Rectangle 31"/>
          <p:cNvSpPr/>
          <p:nvPr/>
        </p:nvSpPr>
        <p:spPr>
          <a:xfrm>
            <a:off x="6629400" y="4224528"/>
            <a:ext cx="5029200" cy="1005840"/>
          </a:xfrm>
          <a:prstGeom prst="roundRect">
            <a:avLst>
              <a:gd name="adj" fmla="val 10000"/>
            </a:avLst>
          </a:prstGeom>
          <a:solidFill>
            <a:schemeClr val="tx2">
              <a:lumMod val="40000"/>
              <a:lumOff val="60000"/>
            </a:schemeClr>
          </a:solidFill>
          <a:ln>
            <a:noFill/>
          </a:ln>
        </p:spPr>
        <p:txBody>
          <a:bodyPr wrap="square" lIns="109728" tIns="73152" rIns="109728" bIns="73152" rtlCol="0" anchor="ctr">
            <a:noAutofit/>
          </a:bodyPr>
          <a:lstStyle/>
          <a:p>
            <a:pPr algn="ctr">
              <a:lnSpc>
                <a:spcPct val="112000"/>
              </a:lnSpc>
              <a:spcAft>
                <a:spcPts val="100"/>
              </a:spcAft>
            </a:pPr>
            <a:r>
              <a:rPr sz="1500" b="0" i="0">
                <a:solidFill>
                  <a:srgbClr val="FFFFFF"/>
                </a:solidFill>
                <a:latin typeface="Segoe UI Semibold"/>
                <a:cs typeface="Segoe UI Semibold"/>
              </a:rPr>
              <a:t>Proof engine + rule book</a:t>
            </a:r>
          </a:p>
          <a:p>
            <a:pPr algn="ctr">
              <a:lnSpc>
                <a:spcPct val="112000"/>
              </a:lnSpc>
              <a:spcAft>
                <a:spcPts val="0"/>
              </a:spcAft>
            </a:pPr>
            <a:r>
              <a:rPr sz="1250" b="0" i="0">
                <a:solidFill>
                  <a:srgbClr val="E6D6BE"/>
                </a:solidFill>
                <a:latin typeface="Segoe UI"/>
                <a:cs typeface="Segoe UI"/>
              </a:rPr>
              <a:t>deterministic, dated, cited</a:t>
            </a:r>
          </a:p>
        </p:txBody>
      </p:sp>
      <p:sp>
        <p:nvSpPr>
          <p:cNvPr id="33" name="Rounded Rectangle 32"/>
          <p:cNvSpPr/>
          <p:nvPr/>
        </p:nvSpPr>
        <p:spPr>
          <a:xfrm>
            <a:off x="6629400" y="5321808"/>
            <a:ext cx="5029200" cy="1005840"/>
          </a:xfrm>
          <a:prstGeom prst="roundRect">
            <a:avLst>
              <a:gd name="adj" fmla="val 10000"/>
            </a:avLst>
          </a:prstGeom>
          <a:solidFill>
            <a:schemeClr val="tx2">
              <a:lumMod val="40000"/>
              <a:lumOff val="60000"/>
            </a:schemeClr>
          </a:solidFill>
          <a:ln>
            <a:noFill/>
          </a:ln>
        </p:spPr>
        <p:txBody>
          <a:bodyPr wrap="square" lIns="109728" tIns="73152" rIns="109728" bIns="73152" rtlCol="0" anchor="ctr">
            <a:noAutofit/>
          </a:bodyPr>
          <a:lstStyle/>
          <a:p>
            <a:pPr algn="ctr">
              <a:lnSpc>
                <a:spcPct val="112000"/>
              </a:lnSpc>
              <a:spcAft>
                <a:spcPts val="100"/>
              </a:spcAft>
            </a:pPr>
            <a:r>
              <a:rPr sz="1500" b="0" i="0">
                <a:solidFill>
                  <a:srgbClr val="FFFFFF"/>
                </a:solidFill>
                <a:latin typeface="Segoe UI Semibold"/>
                <a:cs typeface="Segoe UI Semibold"/>
              </a:rPr>
              <a:t>Reconciliation, case state machine</a:t>
            </a:r>
          </a:p>
          <a:p>
            <a:pPr algn="ctr">
              <a:lnSpc>
                <a:spcPct val="112000"/>
              </a:lnSpc>
              <a:spcAft>
                <a:spcPts val="0"/>
              </a:spcAft>
            </a:pPr>
            <a:r>
              <a:rPr sz="1250" b="0" i="0">
                <a:solidFill>
                  <a:srgbClr val="E6D6BE"/>
                </a:solidFill>
                <a:latin typeface="Segoe UI"/>
                <a:cs typeface="Segoe UI"/>
              </a:rPr>
              <a:t>money in integer paise, event log</a:t>
            </a:r>
          </a:p>
        </p:txBody>
      </p:sp>
      <p:cxnSp>
        <p:nvCxnSpPr>
          <p:cNvPr id="34" name="Connector 33"/>
          <p:cNvCxnSpPr/>
          <p:nvPr/>
        </p:nvCxnSpPr>
        <p:spPr>
          <a:xfrm>
            <a:off x="5806440" y="4526280"/>
            <a:ext cx="502920" cy="0"/>
          </a:xfrm>
          <a:prstGeom prst="line">
            <a:avLst/>
          </a:prstGeom>
          <a:ln w="31750">
            <a:solidFill>
              <a:srgbClr val="E4873B"/>
            </a:solidFill>
            <a:headEnd type="triangle" w="med" len="med"/>
            <a:tailEnd type="triangle" w="med" len="med"/>
          </a:ln>
        </p:spPr>
      </p:cxnSp>
      <p:cxnSp>
        <p:nvCxnSpPr>
          <p:cNvPr id="35" name="Connector 34"/>
          <p:cNvCxnSpPr/>
          <p:nvPr/>
        </p:nvCxnSpPr>
        <p:spPr>
          <a:xfrm>
            <a:off x="11978640" y="4526280"/>
            <a:ext cx="502920" cy="0"/>
          </a:xfrm>
          <a:prstGeom prst="line">
            <a:avLst/>
          </a:prstGeom>
          <a:ln w="31750">
            <a:solidFill>
              <a:srgbClr val="B96A1E"/>
            </a:solidFill>
            <a:headEnd type="triangle" w="med" len="med"/>
            <a:tailEnd type="triangle" w="med" len="med"/>
          </a:ln>
        </p:spPr>
      </p:cxnSp>
      <p:cxnSp>
        <p:nvCxnSpPr>
          <p:cNvPr id="36" name="Connector 35"/>
          <p:cNvCxnSpPr/>
          <p:nvPr/>
        </p:nvCxnSpPr>
        <p:spPr>
          <a:xfrm>
            <a:off x="9144000" y="6583680"/>
            <a:ext cx="0" cy="384048"/>
          </a:xfrm>
          <a:prstGeom prst="line">
            <a:avLst/>
          </a:prstGeom>
          <a:ln w="31750">
            <a:solidFill>
              <a:srgbClr val="B96A1E"/>
            </a:solidFill>
            <a:headEnd type="triangle" w="med" len="med"/>
            <a:tailEnd type="triangle" w="med" len="med"/>
          </a:ln>
        </p:spPr>
      </p:cxnSp>
      <p:cxnSp>
        <p:nvCxnSpPr>
          <p:cNvPr id="37" name="Connector 36"/>
          <p:cNvCxnSpPr/>
          <p:nvPr/>
        </p:nvCxnSpPr>
        <p:spPr>
          <a:xfrm>
            <a:off x="3474720" y="6583680"/>
            <a:ext cx="0" cy="384048"/>
          </a:xfrm>
          <a:prstGeom prst="line">
            <a:avLst/>
          </a:prstGeom>
          <a:ln w="31750">
            <a:solidFill>
              <a:srgbClr val="E4873B"/>
            </a:solidFill>
            <a:tailEnd type="triangle" w="med" len="med"/>
          </a:ln>
        </p:spPr>
      </p:cxnSp>
      <p:sp>
        <p:nvSpPr>
          <p:cNvPr id="38" name="TextBox 37"/>
          <p:cNvSpPr txBox="1"/>
          <p:nvPr/>
        </p:nvSpPr>
        <p:spPr>
          <a:xfrm>
            <a:off x="3611880" y="6565392"/>
            <a:ext cx="2103120" cy="411480"/>
          </a:xfrm>
          <a:prstGeom prst="rect">
            <a:avLst/>
          </a:prstGeom>
          <a:noFill/>
        </p:spPr>
        <p:txBody>
          <a:bodyPr wrap="square" lIns="0" tIns="0" rIns="0" bIns="0" anchor="ctr">
            <a:noAutofit/>
          </a:bodyPr>
          <a:lstStyle/>
          <a:p>
            <a:pPr algn="l">
              <a:lnSpc>
                <a:spcPct val="112000"/>
              </a:lnSpc>
              <a:spcAft>
                <a:spcPts val="0"/>
              </a:spcAft>
            </a:pPr>
            <a:r>
              <a:rPr sz="1100" b="0" i="0">
                <a:solidFill>
                  <a:srgbClr val="E4873B"/>
                </a:solidFill>
                <a:latin typeface="Segoe UI"/>
                <a:cs typeface="Segoe UI"/>
              </a:rPr>
              <a:t>if Sarvam is unavailable</a:t>
            </a:r>
          </a:p>
        </p:txBody>
      </p:sp>
      <p:sp>
        <p:nvSpPr>
          <p:cNvPr id="39" name="Rounded Rectangle 38"/>
          <p:cNvSpPr/>
          <p:nvPr/>
        </p:nvSpPr>
        <p:spPr>
          <a:xfrm>
            <a:off x="1188720" y="6995160"/>
            <a:ext cx="4572000" cy="2331720"/>
          </a:xfrm>
          <a:prstGeom prst="roundRect">
            <a:avLst>
              <a:gd name="adj" fmla="val 6000"/>
            </a:avLst>
          </a:prstGeom>
          <a:solidFill>
            <a:srgbClr val="FBE7D5"/>
          </a:solidFill>
          <a:ln w="25400">
            <a:solidFill>
              <a:srgbClr val="E4873B"/>
            </a:solidFill>
          </a:ln>
        </p:spPr>
        <p:txBody>
          <a:bodyPr rtlCol="0" anchor="ctr"/>
          <a:lstStyle/>
          <a:p>
            <a:endParaRPr/>
          </a:p>
        </p:txBody>
      </p:sp>
      <p:sp>
        <p:nvSpPr>
          <p:cNvPr id="40" name="TextBox 39"/>
          <p:cNvSpPr txBox="1"/>
          <p:nvPr/>
        </p:nvSpPr>
        <p:spPr>
          <a:xfrm>
            <a:off x="1463040" y="7132320"/>
            <a:ext cx="4114800" cy="502920"/>
          </a:xfrm>
          <a:prstGeom prst="rect">
            <a:avLst/>
          </a:prstGeom>
          <a:noFill/>
        </p:spPr>
        <p:txBody>
          <a:bodyPr wrap="square" lIns="0" tIns="0" rIns="0" bIns="0" anchor="ctr">
            <a:noAutofit/>
          </a:bodyPr>
          <a:lstStyle/>
          <a:p>
            <a:pPr algn="l">
              <a:lnSpc>
                <a:spcPct val="112000"/>
              </a:lnSpc>
              <a:spcAft>
                <a:spcPts val="0"/>
              </a:spcAft>
            </a:pPr>
            <a:r>
              <a:rPr sz="2400" b="0" i="0">
                <a:solidFill>
                  <a:srgbClr val="3D2410"/>
                </a:solidFill>
                <a:latin typeface="Segoe UI Semibold"/>
                <a:cs typeface="Segoe UI Semibold"/>
              </a:rPr>
              <a:t>Local LLM</a:t>
            </a:r>
            <a:r>
              <a:rPr sz="1400" b="0" i="0">
                <a:solidFill>
                  <a:srgbClr val="B96A1E"/>
                </a:solidFill>
                <a:latin typeface="Segoe UI Semibold"/>
                <a:cs typeface="Segoe UI Semibold"/>
              </a:rPr>
              <a:t>   the backup</a:t>
            </a:r>
          </a:p>
        </p:txBody>
      </p:sp>
      <p:sp>
        <p:nvSpPr>
          <p:cNvPr id="41" name="TextBox 40"/>
          <p:cNvSpPr txBox="1"/>
          <p:nvPr/>
        </p:nvSpPr>
        <p:spPr>
          <a:xfrm>
            <a:off x="1463040" y="7662672"/>
            <a:ext cx="4069080" cy="914400"/>
          </a:xfrm>
          <a:prstGeom prst="rect">
            <a:avLst/>
          </a:prstGeom>
          <a:noFill/>
        </p:spPr>
        <p:txBody>
          <a:bodyPr wrap="square" lIns="0" tIns="0" rIns="0" bIns="0" anchor="t">
            <a:noAutofit/>
          </a:bodyPr>
          <a:lstStyle/>
          <a:p>
            <a:pPr algn="l">
              <a:lnSpc>
                <a:spcPct val="112000"/>
              </a:lnSpc>
              <a:spcAft>
                <a:spcPts val="0"/>
              </a:spcAft>
            </a:pPr>
            <a:r>
              <a:rPr sz="1250" b="0" i="0">
                <a:solidFill>
                  <a:srgbClr val="3D2410"/>
                </a:solidFill>
                <a:latin typeface="Segoe UI"/>
                <a:cs typeface="Segoe UI"/>
              </a:rPr>
              <a:t>Gemma 3 4B on Ollama, on-device. Keeps the chat alive without Sarvam or internet: reads any wording, writes the reply, translates.</a:t>
            </a:r>
          </a:p>
        </p:txBody>
      </p:sp>
      <p:sp>
        <p:nvSpPr>
          <p:cNvPr id="42" name="Rounded Rectangle 41"/>
          <p:cNvSpPr/>
          <p:nvPr/>
        </p:nvSpPr>
        <p:spPr>
          <a:xfrm>
            <a:off x="1417320" y="8732520"/>
            <a:ext cx="786384" cy="365760"/>
          </a:xfrm>
          <a:prstGeom prst="roundRect">
            <a:avLst>
              <a:gd name="adj" fmla="val 50000"/>
            </a:avLst>
          </a:prstGeom>
          <a:solidFill>
            <a:srgbClr val="F4C542"/>
          </a:solidFill>
          <a:ln w="12700">
            <a:solidFill>
              <a:srgbClr val="D9B99A"/>
            </a:solidFill>
          </a:ln>
        </p:spPr>
        <p:txBody>
          <a:bodyPr wrap="square" lIns="0" tIns="0" rIns="0" bIns="0" rtlCol="0" anchor="ctr">
            <a:noAutofit/>
          </a:bodyPr>
          <a:lstStyle/>
          <a:p>
            <a:pPr algn="ctr">
              <a:lnSpc>
                <a:spcPct val="112000"/>
              </a:lnSpc>
              <a:spcAft>
                <a:spcPts val="0"/>
              </a:spcAft>
            </a:pPr>
            <a:r>
              <a:rPr sz="1100" b="0" i="0">
                <a:solidFill>
                  <a:srgbClr val="3D2410"/>
                </a:solidFill>
                <a:latin typeface="Segoe UI"/>
                <a:cs typeface="Segoe UI"/>
              </a:rPr>
              <a:t>Sarvam</a:t>
            </a:r>
          </a:p>
        </p:txBody>
      </p:sp>
      <p:cxnSp>
        <p:nvCxnSpPr>
          <p:cNvPr id="43" name="Connector 42"/>
          <p:cNvCxnSpPr/>
          <p:nvPr/>
        </p:nvCxnSpPr>
        <p:spPr>
          <a:xfrm>
            <a:off x="2231136" y="8915400"/>
            <a:ext cx="219456" cy="0"/>
          </a:xfrm>
          <a:prstGeom prst="line">
            <a:avLst/>
          </a:prstGeom>
          <a:ln w="19050">
            <a:solidFill>
              <a:srgbClr val="E4873B"/>
            </a:solidFill>
            <a:tailEnd type="triangle" w="med" len="med"/>
          </a:ln>
        </p:spPr>
      </p:cxnSp>
      <p:sp>
        <p:nvSpPr>
          <p:cNvPr id="44" name="Rounded Rectangle 43"/>
          <p:cNvSpPr/>
          <p:nvPr/>
        </p:nvSpPr>
        <p:spPr>
          <a:xfrm>
            <a:off x="2478024" y="8732520"/>
            <a:ext cx="1330452" cy="365760"/>
          </a:xfrm>
          <a:prstGeom prst="roundRect">
            <a:avLst>
              <a:gd name="adj" fmla="val 50000"/>
            </a:avLst>
          </a:prstGeom>
          <a:solidFill>
            <a:srgbClr val="FFFFFF"/>
          </a:solidFill>
          <a:ln w="12700">
            <a:solidFill>
              <a:srgbClr val="D9B99A"/>
            </a:solidFill>
          </a:ln>
        </p:spPr>
        <p:txBody>
          <a:bodyPr wrap="square" lIns="0" tIns="0" rIns="0" bIns="0" rtlCol="0" anchor="ctr">
            <a:noAutofit/>
          </a:bodyPr>
          <a:lstStyle/>
          <a:p>
            <a:pPr algn="ctr">
              <a:lnSpc>
                <a:spcPct val="112000"/>
              </a:lnSpc>
              <a:spcAft>
                <a:spcPts val="0"/>
              </a:spcAft>
            </a:pPr>
            <a:r>
              <a:rPr sz="1100" b="0" i="0">
                <a:solidFill>
                  <a:srgbClr val="3D2410"/>
                </a:solidFill>
                <a:latin typeface="Segoe UI"/>
                <a:cs typeface="Segoe UI"/>
              </a:rPr>
              <a:t>Gemma 3 local</a:t>
            </a:r>
          </a:p>
        </p:txBody>
      </p:sp>
      <p:cxnSp>
        <p:nvCxnSpPr>
          <p:cNvPr id="45" name="Connector 44"/>
          <p:cNvCxnSpPr/>
          <p:nvPr/>
        </p:nvCxnSpPr>
        <p:spPr>
          <a:xfrm>
            <a:off x="3835908" y="8915400"/>
            <a:ext cx="219456" cy="0"/>
          </a:xfrm>
          <a:prstGeom prst="line">
            <a:avLst/>
          </a:prstGeom>
          <a:ln w="19050">
            <a:solidFill>
              <a:srgbClr val="E4873B"/>
            </a:solidFill>
            <a:tailEnd type="triangle" w="med" len="med"/>
          </a:ln>
        </p:spPr>
      </p:cxnSp>
      <p:sp>
        <p:nvSpPr>
          <p:cNvPr id="46" name="Rounded Rectangle 45"/>
          <p:cNvSpPr/>
          <p:nvPr/>
        </p:nvSpPr>
        <p:spPr>
          <a:xfrm>
            <a:off x="4082796" y="8732520"/>
            <a:ext cx="1408176" cy="365760"/>
          </a:xfrm>
          <a:prstGeom prst="roundRect">
            <a:avLst>
              <a:gd name="adj" fmla="val 50000"/>
            </a:avLst>
          </a:prstGeom>
          <a:solidFill>
            <a:srgbClr val="F3F0EB"/>
          </a:solidFill>
          <a:ln w="12700">
            <a:solidFill>
              <a:srgbClr val="D9B99A"/>
            </a:solidFill>
          </a:ln>
        </p:spPr>
        <p:txBody>
          <a:bodyPr wrap="square" lIns="0" tIns="0" rIns="0" bIns="0" rtlCol="0" anchor="ctr">
            <a:noAutofit/>
          </a:bodyPr>
          <a:lstStyle/>
          <a:p>
            <a:pPr algn="ctr">
              <a:lnSpc>
                <a:spcPct val="112000"/>
              </a:lnSpc>
              <a:spcAft>
                <a:spcPts val="0"/>
              </a:spcAft>
            </a:pPr>
            <a:r>
              <a:rPr sz="1100" b="0" i="0">
                <a:solidFill>
                  <a:srgbClr val="3D2410"/>
                </a:solidFill>
                <a:latin typeface="Segoe UI"/>
                <a:cs typeface="Segoe UI"/>
              </a:rPr>
              <a:t>checked answer</a:t>
            </a:r>
          </a:p>
        </p:txBody>
      </p:sp>
      <p:sp>
        <p:nvSpPr>
          <p:cNvPr id="47" name="Rounded Rectangle 46"/>
          <p:cNvSpPr/>
          <p:nvPr/>
        </p:nvSpPr>
        <p:spPr>
          <a:xfrm>
            <a:off x="6355080" y="6995160"/>
            <a:ext cx="5577840" cy="2331720"/>
          </a:xfrm>
          <a:prstGeom prst="roundRect">
            <a:avLst>
              <a:gd name="adj" fmla="val 6000"/>
            </a:avLst>
          </a:prstGeom>
          <a:solidFill>
            <a:srgbClr val="FFFFFF"/>
          </a:solidFill>
          <a:ln w="28575">
            <a:solidFill>
              <a:srgbClr val="F4C542"/>
            </a:solidFill>
          </a:ln>
        </p:spPr>
        <p:txBody>
          <a:bodyPr rtlCol="0" anchor="ctr"/>
          <a:lstStyle/>
          <a:p>
            <a:endParaRPr/>
          </a:p>
        </p:txBody>
      </p:sp>
      <p:sp>
        <p:nvSpPr>
          <p:cNvPr id="48" name="TextBox 47"/>
          <p:cNvSpPr txBox="1"/>
          <p:nvPr/>
        </p:nvSpPr>
        <p:spPr>
          <a:xfrm>
            <a:off x="6629400" y="7132320"/>
            <a:ext cx="5120640" cy="502920"/>
          </a:xfrm>
          <a:prstGeom prst="rect">
            <a:avLst/>
          </a:prstGeom>
          <a:noFill/>
        </p:spPr>
        <p:txBody>
          <a:bodyPr wrap="square" lIns="0" tIns="0" rIns="0" bIns="0" anchor="ctr">
            <a:noAutofit/>
          </a:bodyPr>
          <a:lstStyle/>
          <a:p>
            <a:pPr algn="l">
              <a:lnSpc>
                <a:spcPct val="112000"/>
              </a:lnSpc>
              <a:spcAft>
                <a:spcPts val="0"/>
              </a:spcAft>
            </a:pPr>
            <a:r>
              <a:rPr sz="2600" b="0" i="0">
                <a:solidFill>
                  <a:srgbClr val="3D2410"/>
                </a:solidFill>
                <a:latin typeface="Segoe UI Semibold"/>
                <a:cs typeface="Segoe UI Semibold"/>
              </a:rPr>
              <a:t>Cognee</a:t>
            </a:r>
            <a:r>
              <a:rPr sz="1400" b="0" i="0">
                <a:solidFill>
                  <a:srgbClr val="B96A1E"/>
                </a:solidFill>
                <a:latin typeface="Segoe UI Semibold"/>
                <a:cs typeface="Segoe UI Semibold"/>
              </a:rPr>
              <a:t>   the memory</a:t>
            </a:r>
          </a:p>
        </p:txBody>
      </p:sp>
      <p:sp>
        <p:nvSpPr>
          <p:cNvPr id="49" name="TextBox 48"/>
          <p:cNvSpPr txBox="1"/>
          <p:nvPr/>
        </p:nvSpPr>
        <p:spPr>
          <a:xfrm>
            <a:off x="6629400" y="7680960"/>
            <a:ext cx="5120640" cy="914400"/>
          </a:xfrm>
          <a:prstGeom prst="rect">
            <a:avLst/>
          </a:prstGeom>
          <a:noFill/>
        </p:spPr>
        <p:txBody>
          <a:bodyPr wrap="square" lIns="0" tIns="0" rIns="0" bIns="0" anchor="t">
            <a:noAutofit/>
          </a:bodyPr>
          <a:lstStyle/>
          <a:p>
            <a:pPr algn="l">
              <a:lnSpc>
                <a:spcPct val="115000"/>
              </a:lnSpc>
              <a:spcAft>
                <a:spcPts val="0"/>
              </a:spcAft>
            </a:pPr>
            <a:r>
              <a:rPr sz="1350" b="0" i="0">
                <a:solidFill>
                  <a:srgbClr val="3D2410"/>
                </a:solidFill>
                <a:latin typeface="Segoe UI"/>
                <a:cs typeface="Segoe UI"/>
              </a:rPr>
              <a:t>Case graph: precedent, which evidence overturned a rejection, each merchant’s history.</a:t>
            </a:r>
          </a:p>
        </p:txBody>
      </p:sp>
      <p:sp>
        <p:nvSpPr>
          <p:cNvPr id="50" name="TextBox 49"/>
          <p:cNvSpPr txBox="1"/>
          <p:nvPr/>
        </p:nvSpPr>
        <p:spPr>
          <a:xfrm>
            <a:off x="6629400" y="8778240"/>
            <a:ext cx="5120640" cy="411480"/>
          </a:xfrm>
          <a:prstGeom prst="rect">
            <a:avLst/>
          </a:prstGeom>
          <a:noFill/>
        </p:spPr>
        <p:txBody>
          <a:bodyPr wrap="square" lIns="0" tIns="0" rIns="0" bIns="0" anchor="t">
            <a:noAutofit/>
          </a:bodyPr>
          <a:lstStyle/>
          <a:p>
            <a:pPr algn="l">
              <a:lnSpc>
                <a:spcPct val="112000"/>
              </a:lnSpc>
              <a:spcAft>
                <a:spcPts val="0"/>
              </a:spcAft>
            </a:pPr>
            <a:r>
              <a:rPr sz="1200" b="0" i="0">
                <a:solidFill>
                  <a:srgbClr val="B96A1E"/>
                </a:solidFill>
                <a:latin typeface="Segoe UI Semibold"/>
                <a:cs typeface="Segoe UI Semibold"/>
              </a:rPr>
              <a:t>Fallback  </a:t>
            </a:r>
            <a:r>
              <a:rPr sz="1200" b="0" i="0">
                <a:solidFill>
                  <a:srgbClr val="8A6F55"/>
                </a:solidFill>
                <a:latin typeface="Segoe UI"/>
                <a:cs typeface="Segoe UI"/>
              </a:rPr>
              <a:t>local SQLite memory</a:t>
            </a:r>
          </a:p>
        </p:txBody>
      </p:sp>
      <p:sp>
        <p:nvSpPr>
          <p:cNvPr id="51" name="Rounded Rectangle 50"/>
          <p:cNvSpPr/>
          <p:nvPr/>
        </p:nvSpPr>
        <p:spPr>
          <a:xfrm>
            <a:off x="12527280" y="6995160"/>
            <a:ext cx="4572000" cy="2331720"/>
          </a:xfrm>
          <a:prstGeom prst="roundRect">
            <a:avLst>
              <a:gd name="adj" fmla="val 6000"/>
            </a:avLst>
          </a:prstGeom>
          <a:solidFill>
            <a:srgbClr val="FDF3D2"/>
          </a:solidFill>
          <a:ln>
            <a:noFill/>
          </a:ln>
        </p:spPr>
        <p:txBody>
          <a:bodyPr wrap="square" lIns="274320" tIns="182880" rIns="182880" bIns="91440" rtlCol="0" anchor="t">
            <a:noAutofit/>
          </a:bodyPr>
          <a:lstStyle/>
          <a:p>
            <a:pPr algn="l">
              <a:lnSpc>
                <a:spcPct val="112000"/>
              </a:lnSpc>
              <a:spcAft>
                <a:spcPts val="500"/>
              </a:spcAft>
            </a:pPr>
            <a:r>
              <a:rPr sz="1500" b="0" i="0">
                <a:solidFill>
                  <a:srgbClr val="B96A1E"/>
                </a:solidFill>
                <a:latin typeface="Segoe UI Semibold"/>
                <a:cs typeface="Segoe UI Semibold"/>
              </a:rPr>
              <a:t>Engineering, and it runs offline</a:t>
            </a:r>
          </a:p>
          <a:p>
            <a:pPr algn="l">
              <a:lnSpc>
                <a:spcPct val="112000"/>
              </a:lnSpc>
              <a:spcAft>
                <a:spcPts val="500"/>
              </a:spcAft>
            </a:pPr>
            <a:r>
              <a:rPr sz="1300" b="0" i="0">
                <a:solidFill>
                  <a:srgbClr val="3D2410"/>
                </a:solidFill>
                <a:latin typeface="Segoe UI"/>
                <a:cs typeface="Segoe UI"/>
              </a:rPr>
              <a:t>Python 3.13, FastAPI, Pydantic v2, 219 tests, firewall checks, a Docker image and CI/CD on GitHub Actions.</a:t>
            </a:r>
          </a:p>
          <a:p>
            <a:pPr algn="l">
              <a:lnSpc>
                <a:spcPct val="112000"/>
              </a:lnSpc>
              <a:spcAft>
                <a:spcPts val="0"/>
              </a:spcAft>
            </a:pPr>
            <a:r>
              <a:rPr sz="1300" b="0" i="0">
                <a:solidFill>
                  <a:srgbClr val="3D2410"/>
                </a:solidFill>
                <a:latin typeface="Segoe UI"/>
                <a:cs typeface="Segoe UI"/>
              </a:rPr>
              <a:t>Every integration is optional: a test blocks all network and the full demo still runs.</a:t>
            </a:r>
          </a:p>
        </p:txBody>
      </p:sp>
      <p:pic>
        <p:nvPicPr>
          <p:cNvPr id="52" name="Picture 51" descr="n8n logo"/>
          <p:cNvPicPr>
            <a:picLocks noChangeAspect="1"/>
          </p:cNvPicPr>
          <p:nvPr/>
        </p:nvPicPr>
        <p:blipFill>
          <a:blip r:embed="rId4"/>
          <a:stretch>
            <a:fillRect/>
          </a:stretch>
        </p:blipFill>
        <p:spPr>
          <a:xfrm>
            <a:off x="16413480" y="2633472"/>
            <a:ext cx="502920" cy="502920"/>
          </a:xfrm>
          <a:prstGeom prst="rect">
            <a:avLst/>
          </a:prstGeom>
        </p:spPr>
      </p:pic>
      <p:pic>
        <p:nvPicPr>
          <p:cNvPr id="53" name="Picture 52" descr="Ollama logo"/>
          <p:cNvPicPr>
            <a:picLocks noChangeAspect="1"/>
          </p:cNvPicPr>
          <p:nvPr/>
        </p:nvPicPr>
        <p:blipFill>
          <a:blip r:embed="rId5"/>
          <a:stretch>
            <a:fillRect/>
          </a:stretch>
        </p:blipFill>
        <p:spPr>
          <a:xfrm>
            <a:off x="5029200" y="7132320"/>
            <a:ext cx="502920" cy="502920"/>
          </a:xfrm>
          <a:prstGeom prst="rect">
            <a:avLst/>
          </a:prstGeom>
        </p:spPr>
      </p:pic>
      <p:pic>
        <p:nvPicPr>
          <p:cNvPr id="54" name="Picture 53" descr="SQLite logo"/>
          <p:cNvPicPr>
            <a:picLocks noChangeAspect="1"/>
          </p:cNvPicPr>
          <p:nvPr/>
        </p:nvPicPr>
        <p:blipFill>
          <a:blip r:embed="rId6"/>
          <a:stretch>
            <a:fillRect/>
          </a:stretch>
        </p:blipFill>
        <p:spPr>
          <a:xfrm>
            <a:off x="11384280" y="8778240"/>
            <a:ext cx="365760" cy="365760"/>
          </a:xfrm>
          <a:prstGeom prst="rect">
            <a:avLst/>
          </a:prstGeom>
        </p:spPr>
      </p:pic>
      <p:sp>
        <p:nvSpPr>
          <p:cNvPr id="55" name="Oval 54"/>
          <p:cNvSpPr/>
          <p:nvPr/>
        </p:nvSpPr>
        <p:spPr>
          <a:xfrm>
            <a:off x="10268712" y="2587752"/>
            <a:ext cx="457200" cy="457200"/>
          </a:xfrm>
          <a:prstGeom prst="ellipse">
            <a:avLst/>
          </a:prstGeom>
          <a:solidFill>
            <a:srgbClr val="FFFFFF"/>
          </a:solidFill>
          <a:ln>
            <a:noFill/>
          </a:ln>
        </p:spPr>
        <p:txBody>
          <a:bodyPr rtlCol="0" anchor="ctr"/>
          <a:lstStyle/>
          <a:p>
            <a:pPr algn="ctr"/>
            <a:endParaRPr/>
          </a:p>
        </p:txBody>
      </p:sp>
      <p:pic>
        <p:nvPicPr>
          <p:cNvPr id="56" name="Picture 55" descr="Python logo"/>
          <p:cNvPicPr>
            <a:picLocks noChangeAspect="1"/>
          </p:cNvPicPr>
          <p:nvPr/>
        </p:nvPicPr>
        <p:blipFill>
          <a:blip r:embed="rId7"/>
          <a:stretch>
            <a:fillRect/>
          </a:stretch>
        </p:blipFill>
        <p:spPr>
          <a:xfrm>
            <a:off x="10332720" y="2651760"/>
            <a:ext cx="329184" cy="329184"/>
          </a:xfrm>
          <a:prstGeom prst="rect">
            <a:avLst/>
          </a:prstGeom>
        </p:spPr>
      </p:pic>
      <p:sp>
        <p:nvSpPr>
          <p:cNvPr id="57" name="Oval 56"/>
          <p:cNvSpPr/>
          <p:nvPr/>
        </p:nvSpPr>
        <p:spPr>
          <a:xfrm>
            <a:off x="10744200" y="2587752"/>
            <a:ext cx="457200" cy="457200"/>
          </a:xfrm>
          <a:prstGeom prst="ellipse">
            <a:avLst/>
          </a:prstGeom>
          <a:solidFill>
            <a:srgbClr val="FFFFFF"/>
          </a:solidFill>
          <a:ln>
            <a:noFill/>
          </a:ln>
        </p:spPr>
        <p:txBody>
          <a:bodyPr rtlCol="0" anchor="ctr"/>
          <a:lstStyle/>
          <a:p>
            <a:pPr algn="ctr"/>
            <a:endParaRPr/>
          </a:p>
        </p:txBody>
      </p:sp>
      <p:pic>
        <p:nvPicPr>
          <p:cNvPr id="58" name="Picture 57" descr="FastAPI logo"/>
          <p:cNvPicPr>
            <a:picLocks noChangeAspect="1"/>
          </p:cNvPicPr>
          <p:nvPr/>
        </p:nvPicPr>
        <p:blipFill>
          <a:blip r:embed="rId8"/>
          <a:stretch>
            <a:fillRect/>
          </a:stretch>
        </p:blipFill>
        <p:spPr>
          <a:xfrm>
            <a:off x="10808208" y="2651760"/>
            <a:ext cx="329184" cy="329184"/>
          </a:xfrm>
          <a:prstGeom prst="rect">
            <a:avLst/>
          </a:prstGeom>
        </p:spPr>
      </p:pic>
      <p:sp>
        <p:nvSpPr>
          <p:cNvPr id="59" name="Oval 58"/>
          <p:cNvSpPr/>
          <p:nvPr/>
        </p:nvSpPr>
        <p:spPr>
          <a:xfrm>
            <a:off x="11219688" y="2587752"/>
            <a:ext cx="457200" cy="457200"/>
          </a:xfrm>
          <a:prstGeom prst="ellipse">
            <a:avLst/>
          </a:prstGeom>
          <a:solidFill>
            <a:srgbClr val="FFFFFF"/>
          </a:solidFill>
          <a:ln>
            <a:noFill/>
          </a:ln>
        </p:spPr>
        <p:txBody>
          <a:bodyPr rtlCol="0" anchor="ctr"/>
          <a:lstStyle/>
          <a:p>
            <a:pPr algn="ctr"/>
            <a:endParaRPr/>
          </a:p>
        </p:txBody>
      </p:sp>
      <p:pic>
        <p:nvPicPr>
          <p:cNvPr id="60" name="Picture 59" descr="Pydantic logo"/>
          <p:cNvPicPr>
            <a:picLocks noChangeAspect="1"/>
          </p:cNvPicPr>
          <p:nvPr/>
        </p:nvPicPr>
        <p:blipFill>
          <a:blip r:embed="rId9"/>
          <a:stretch>
            <a:fillRect/>
          </a:stretch>
        </p:blipFill>
        <p:spPr>
          <a:xfrm>
            <a:off x="11283696" y="2651760"/>
            <a:ext cx="329184" cy="329184"/>
          </a:xfrm>
          <a:prstGeom prst="rect">
            <a:avLst/>
          </a:prstGeom>
        </p:spPr>
      </p:pic>
      <p:pic>
        <p:nvPicPr>
          <p:cNvPr id="61" name="Picture 60" descr="Python logo"/>
          <p:cNvPicPr>
            <a:picLocks noChangeAspect="1"/>
          </p:cNvPicPr>
          <p:nvPr/>
        </p:nvPicPr>
        <p:blipFill>
          <a:blip r:embed="rId7"/>
          <a:stretch>
            <a:fillRect/>
          </a:stretch>
        </p:blipFill>
        <p:spPr>
          <a:xfrm>
            <a:off x="12801600" y="8796528"/>
            <a:ext cx="384048" cy="384048"/>
          </a:xfrm>
          <a:prstGeom prst="rect">
            <a:avLst/>
          </a:prstGeom>
        </p:spPr>
      </p:pic>
      <p:pic>
        <p:nvPicPr>
          <p:cNvPr id="62" name="Picture 61" descr="FastAPI logo"/>
          <p:cNvPicPr>
            <a:picLocks noChangeAspect="1"/>
          </p:cNvPicPr>
          <p:nvPr/>
        </p:nvPicPr>
        <p:blipFill>
          <a:blip r:embed="rId8"/>
          <a:stretch>
            <a:fillRect/>
          </a:stretch>
        </p:blipFill>
        <p:spPr>
          <a:xfrm>
            <a:off x="13368528" y="8796528"/>
            <a:ext cx="384048" cy="384048"/>
          </a:xfrm>
          <a:prstGeom prst="rect">
            <a:avLst/>
          </a:prstGeom>
        </p:spPr>
      </p:pic>
      <p:pic>
        <p:nvPicPr>
          <p:cNvPr id="63" name="Picture 62" descr="Pydantic logo"/>
          <p:cNvPicPr>
            <a:picLocks noChangeAspect="1"/>
          </p:cNvPicPr>
          <p:nvPr/>
        </p:nvPicPr>
        <p:blipFill>
          <a:blip r:embed="rId9"/>
          <a:stretch>
            <a:fillRect/>
          </a:stretch>
        </p:blipFill>
        <p:spPr>
          <a:xfrm>
            <a:off x="13935456" y="8796528"/>
            <a:ext cx="384048" cy="384048"/>
          </a:xfrm>
          <a:prstGeom prst="rect">
            <a:avLst/>
          </a:prstGeom>
        </p:spPr>
      </p:pic>
      <p:pic>
        <p:nvPicPr>
          <p:cNvPr id="64" name="Picture 63" descr="Pytest logo"/>
          <p:cNvPicPr>
            <a:picLocks noChangeAspect="1"/>
          </p:cNvPicPr>
          <p:nvPr/>
        </p:nvPicPr>
        <p:blipFill>
          <a:blip r:embed="rId10"/>
          <a:stretch>
            <a:fillRect/>
          </a:stretch>
        </p:blipFill>
        <p:spPr>
          <a:xfrm>
            <a:off x="14502384" y="8796528"/>
            <a:ext cx="384048" cy="384048"/>
          </a:xfrm>
          <a:prstGeom prst="rect">
            <a:avLst/>
          </a:prstGeom>
        </p:spPr>
      </p:pic>
      <p:pic>
        <p:nvPicPr>
          <p:cNvPr id="65" name="Picture 64" descr="Docker logo"/>
          <p:cNvPicPr>
            <a:picLocks noChangeAspect="1"/>
          </p:cNvPicPr>
          <p:nvPr/>
        </p:nvPicPr>
        <p:blipFill>
          <a:blip r:embed="rId11"/>
          <a:stretch>
            <a:fillRect/>
          </a:stretch>
        </p:blipFill>
        <p:spPr>
          <a:xfrm>
            <a:off x="15069312" y="8796528"/>
            <a:ext cx="384048" cy="3840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16257701" y="-446605"/>
            <a:ext cx="2475974" cy="2481143"/>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sp>
        <p:nvSpPr>
          <p:cNvPr id="4" name="Freeform 4"/>
          <p:cNvSpPr/>
          <p:nvPr/>
        </p:nvSpPr>
        <p:spPr>
          <a:xfrm flipV="1">
            <a:off x="17380895" y="9039441"/>
            <a:ext cx="1838238" cy="168505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5" name="Freeform 5"/>
          <p:cNvSpPr/>
          <p:nvPr/>
        </p:nvSpPr>
        <p:spPr>
          <a:xfrm flipH="1">
            <a:off x="-1143994" y="-324222"/>
            <a:ext cx="1838238" cy="1685052"/>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6" name="TextBox 5"/>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FEASIBILITY AND VIABILITY</a:t>
            </a:r>
          </a:p>
        </p:txBody>
      </p:sp>
      <p:sp>
        <p:nvSpPr>
          <p:cNvPr id="7" name="TextBox 6"/>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a:solidFill>
                  <a:srgbClr val="3D2410"/>
                </a:solidFill>
                <a:latin typeface="Segoe UI"/>
                <a:cs typeface="Segoe UI"/>
              </a:rPr>
              <a:t>What it found, and why you can believe it</a:t>
            </a:r>
          </a:p>
        </p:txBody>
      </p:sp>
      <p:sp>
        <p:nvSpPr>
          <p:cNvPr id="8" name="TextBox 7"/>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0" i="0">
                <a:solidFill>
                  <a:srgbClr val="000000"/>
                </a:solidFill>
                <a:latin typeface="Segoe UI"/>
                <a:cs typeface="Segoe UI"/>
              </a:rPr>
              <a:t>We generated 12 months of ledgers, planted known errors, and scored the agents against an answer key they never saw.</a:t>
            </a:r>
          </a:p>
        </p:txBody>
      </p:sp>
      <p:sp>
        <p:nvSpPr>
          <p:cNvPr id="9" name="TextBox 8"/>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dirty="0">
                <a:solidFill>
                  <a:srgbClr val="B96A1E"/>
                </a:solidFill>
                <a:latin typeface="Segoe UI Semibold"/>
                <a:cs typeface="Segoe UI Semibold"/>
              </a:rPr>
              <a:t/>
            </a:r>
            <a:r>
              <a:rPr lang="en-IN" sz="1400" b="0" i="0" dirty="0">
                <a:solidFill>
                  <a:srgbClr val="B96A1E"/>
                </a:solidFill>
                <a:latin typeface="Segoe UI Semibold"/>
                <a:cs typeface="Segoe UI Semibold"/>
              </a:rPr>
              <a:t>10</a:t>
            </a:r>
            <a:r>
              <a:rPr sz="1200" b="0" i="0" dirty="0">
                <a:solidFill>
                  <a:srgbClr val="8A6F55"/>
                </a:solidFill>
                <a:latin typeface="Segoe UI"/>
                <a:cs typeface="Segoe UI"/>
              </a:rPr>
              <a:t>   Munim   Paytm Build for India, Track 3</a:t>
            </a:r>
          </a:p>
        </p:txBody>
      </p:sp>
      <p:sp>
        <p:nvSpPr>
          <p:cNvPr id="10" name="Rounded Rectangle 9"/>
          <p:cNvSpPr/>
          <p:nvPr/>
        </p:nvSpPr>
        <p:spPr>
          <a:xfrm>
            <a:off x="1188720" y="2468880"/>
            <a:ext cx="7589520" cy="6080760"/>
          </a:xfrm>
          <a:prstGeom prst="roundRect">
            <a:avLst>
              <a:gd name="adj" fmla="val 4000"/>
            </a:avLst>
          </a:prstGeom>
          <a:solidFill>
            <a:srgbClr val="FFFFFF"/>
          </a:solidFill>
          <a:ln w="12700">
            <a:solidFill>
              <a:schemeClr val="tx1"/>
            </a:solidFill>
          </a:ln>
        </p:spPr>
        <p:txBody>
          <a:bodyPr rtlCol="0" anchor="ctr"/>
          <a:lstStyle/>
          <a:p>
            <a:endParaRPr/>
          </a:p>
        </p:txBody>
      </p:sp>
      <p:sp>
        <p:nvSpPr>
          <p:cNvPr id="11" name="TextBox 10"/>
          <p:cNvSpPr txBox="1"/>
          <p:nvPr/>
        </p:nvSpPr>
        <p:spPr>
          <a:xfrm>
            <a:off x="1508760" y="2651760"/>
            <a:ext cx="6400800" cy="411480"/>
          </a:xfrm>
          <a:prstGeom prst="rect">
            <a:avLst/>
          </a:prstGeom>
          <a:noFill/>
        </p:spPr>
        <p:txBody>
          <a:bodyPr wrap="square" lIns="0" tIns="0" rIns="0" bIns="0" anchor="t">
            <a:noAutofit/>
          </a:bodyPr>
          <a:lstStyle/>
          <a:p>
            <a:pPr algn="l">
              <a:lnSpc>
                <a:spcPct val="112000"/>
              </a:lnSpc>
              <a:spcAft>
                <a:spcPts val="0"/>
              </a:spcAft>
            </a:pPr>
            <a:r>
              <a:rPr sz="1600" b="0" i="0">
                <a:solidFill>
                  <a:srgbClr val="B96A1E"/>
                </a:solidFill>
                <a:latin typeface="Segoe UI Semibold"/>
                <a:cs typeface="Segoe UI Semibold"/>
              </a:rPr>
              <a:t>Money, across 25 merchants and 12 months</a:t>
            </a:r>
          </a:p>
        </p:txBody>
      </p:sp>
      <p:sp>
        <p:nvSpPr>
          <p:cNvPr id="12" name="TextBox 11"/>
          <p:cNvSpPr txBox="1"/>
          <p:nvPr/>
        </p:nvSpPr>
        <p:spPr>
          <a:xfrm>
            <a:off x="1508760" y="3246120"/>
            <a:ext cx="4389120" cy="384048"/>
          </a:xfrm>
          <a:prstGeom prst="rect">
            <a:avLst/>
          </a:prstGeom>
          <a:noFill/>
        </p:spPr>
        <p:txBody>
          <a:bodyPr wrap="square" lIns="0" tIns="0" rIns="0" bIns="0" anchor="t">
            <a:noAutofit/>
          </a:bodyPr>
          <a:lstStyle/>
          <a:p>
            <a:pPr algn="l">
              <a:lnSpc>
                <a:spcPct val="112000"/>
              </a:lnSpc>
              <a:spcAft>
                <a:spcPts val="0"/>
              </a:spcAft>
            </a:pPr>
            <a:r>
              <a:rPr sz="1500" b="0" i="0">
                <a:solidFill>
                  <a:srgbClr val="3D2410"/>
                </a:solidFill>
                <a:latin typeface="Segoe UI"/>
                <a:cs typeface="Segoe UI"/>
              </a:rPr>
              <a:t>Found and proven, unprompted</a:t>
            </a:r>
          </a:p>
        </p:txBody>
      </p:sp>
      <p:sp>
        <p:nvSpPr>
          <p:cNvPr id="13" name="TextBox 12"/>
          <p:cNvSpPr txBox="1"/>
          <p:nvPr/>
        </p:nvSpPr>
        <p:spPr>
          <a:xfrm>
            <a:off x="4663440" y="3108960"/>
            <a:ext cx="3840480" cy="548640"/>
          </a:xfrm>
          <a:prstGeom prst="rect">
            <a:avLst/>
          </a:prstGeom>
          <a:noFill/>
        </p:spPr>
        <p:txBody>
          <a:bodyPr wrap="square" lIns="0" tIns="0" rIns="0" bIns="0" anchor="t">
            <a:noAutofit/>
          </a:bodyPr>
          <a:lstStyle/>
          <a:p>
            <a:pPr algn="r">
              <a:lnSpc>
                <a:spcPct val="112000"/>
              </a:lnSpc>
              <a:spcAft>
                <a:spcPts val="0"/>
              </a:spcAft>
            </a:pPr>
            <a:r>
              <a:rPr sz="2800" b="0" i="0">
                <a:solidFill>
                  <a:srgbClr val="E4873B"/>
                </a:solidFill>
                <a:latin typeface="Segoe UI Semibold"/>
                <a:cs typeface="Segoe UI Semibold"/>
              </a:rPr>
              <a:t>₹1,67,681.80</a:t>
            </a:r>
          </a:p>
        </p:txBody>
      </p:sp>
      <p:sp>
        <p:nvSpPr>
          <p:cNvPr id="14" name="Rounded Rectangle 13"/>
          <p:cNvSpPr/>
          <p:nvPr/>
        </p:nvSpPr>
        <p:spPr>
          <a:xfrm>
            <a:off x="1508760" y="3721608"/>
            <a:ext cx="6949440" cy="384048"/>
          </a:xfrm>
          <a:prstGeom prst="roundRect">
            <a:avLst>
              <a:gd name="adj" fmla="val 50000"/>
            </a:avLst>
          </a:prstGeom>
          <a:solidFill>
            <a:srgbClr val="F3F0EB"/>
          </a:solidFill>
          <a:ln>
            <a:noFill/>
          </a:ln>
        </p:spPr>
        <p:txBody>
          <a:bodyPr rtlCol="0" anchor="ctr"/>
          <a:lstStyle/>
          <a:p>
            <a:endParaRPr/>
          </a:p>
        </p:txBody>
      </p:sp>
      <p:sp>
        <p:nvSpPr>
          <p:cNvPr id="15" name="Rounded Rectangle 14"/>
          <p:cNvSpPr/>
          <p:nvPr/>
        </p:nvSpPr>
        <p:spPr>
          <a:xfrm>
            <a:off x="1508760" y="3721608"/>
            <a:ext cx="6949440" cy="384048"/>
          </a:xfrm>
          <a:prstGeom prst="roundRect">
            <a:avLst>
              <a:gd name="adj" fmla="val 50000"/>
            </a:avLst>
          </a:prstGeom>
          <a:solidFill>
            <a:srgbClr val="E4873B"/>
          </a:solidFill>
          <a:ln>
            <a:noFill/>
          </a:ln>
        </p:spPr>
        <p:txBody>
          <a:bodyPr rtlCol="0" anchor="ctr"/>
          <a:lstStyle/>
          <a:p>
            <a:endParaRPr/>
          </a:p>
        </p:txBody>
      </p:sp>
      <p:sp>
        <p:nvSpPr>
          <p:cNvPr id="16" name="TextBox 15"/>
          <p:cNvSpPr txBox="1"/>
          <p:nvPr/>
        </p:nvSpPr>
        <p:spPr>
          <a:xfrm>
            <a:off x="1508760" y="4507992"/>
            <a:ext cx="4389120" cy="384048"/>
          </a:xfrm>
          <a:prstGeom prst="rect">
            <a:avLst/>
          </a:prstGeom>
          <a:noFill/>
        </p:spPr>
        <p:txBody>
          <a:bodyPr wrap="square" lIns="0" tIns="0" rIns="0" bIns="0" anchor="t">
            <a:noAutofit/>
          </a:bodyPr>
          <a:lstStyle/>
          <a:p>
            <a:pPr algn="l">
              <a:lnSpc>
                <a:spcPct val="112000"/>
              </a:lnSpc>
              <a:spcAft>
                <a:spcPts val="0"/>
              </a:spcAft>
            </a:pPr>
            <a:r>
              <a:rPr sz="1500" b="0" i="0">
                <a:solidFill>
                  <a:srgbClr val="3D2410"/>
                </a:solidFill>
                <a:latin typeface="Segoe UI"/>
                <a:cs typeface="Segoe UI"/>
              </a:rPr>
              <a:t>Returned to merchants’ banks</a:t>
            </a:r>
          </a:p>
        </p:txBody>
      </p:sp>
      <p:sp>
        <p:nvSpPr>
          <p:cNvPr id="17" name="TextBox 16"/>
          <p:cNvSpPr txBox="1"/>
          <p:nvPr/>
        </p:nvSpPr>
        <p:spPr>
          <a:xfrm>
            <a:off x="4663440" y="4370831"/>
            <a:ext cx="3840480" cy="548640"/>
          </a:xfrm>
          <a:prstGeom prst="rect">
            <a:avLst/>
          </a:prstGeom>
          <a:noFill/>
        </p:spPr>
        <p:txBody>
          <a:bodyPr wrap="square" lIns="0" tIns="0" rIns="0" bIns="0" anchor="t">
            <a:noAutofit/>
          </a:bodyPr>
          <a:lstStyle/>
          <a:p>
            <a:pPr algn="r">
              <a:lnSpc>
                <a:spcPct val="112000"/>
              </a:lnSpc>
              <a:spcAft>
                <a:spcPts val="0"/>
              </a:spcAft>
            </a:pPr>
            <a:r>
              <a:rPr sz="2800" b="0" i="0">
                <a:solidFill>
                  <a:srgbClr val="2E7550"/>
                </a:solidFill>
                <a:latin typeface="Segoe UI Semibold"/>
                <a:cs typeface="Segoe UI Semibold"/>
              </a:rPr>
              <a:t>₹1,26,618.33</a:t>
            </a:r>
          </a:p>
        </p:txBody>
      </p:sp>
      <p:sp>
        <p:nvSpPr>
          <p:cNvPr id="18" name="Rounded Rectangle 17"/>
          <p:cNvSpPr/>
          <p:nvPr/>
        </p:nvSpPr>
        <p:spPr>
          <a:xfrm>
            <a:off x="1508760" y="4983479"/>
            <a:ext cx="6949440" cy="384048"/>
          </a:xfrm>
          <a:prstGeom prst="roundRect">
            <a:avLst>
              <a:gd name="adj" fmla="val 50000"/>
            </a:avLst>
          </a:prstGeom>
          <a:solidFill>
            <a:srgbClr val="F3F0EB"/>
          </a:solidFill>
          <a:ln>
            <a:noFill/>
          </a:ln>
        </p:spPr>
        <p:txBody>
          <a:bodyPr rtlCol="0" anchor="ctr"/>
          <a:lstStyle/>
          <a:p>
            <a:endParaRPr/>
          </a:p>
        </p:txBody>
      </p:sp>
      <p:sp>
        <p:nvSpPr>
          <p:cNvPr id="19" name="Rounded Rectangle 18"/>
          <p:cNvSpPr/>
          <p:nvPr/>
        </p:nvSpPr>
        <p:spPr>
          <a:xfrm>
            <a:off x="1508760" y="4983479"/>
            <a:ext cx="5247722" cy="384048"/>
          </a:xfrm>
          <a:prstGeom prst="roundRect">
            <a:avLst>
              <a:gd name="adj" fmla="val 50000"/>
            </a:avLst>
          </a:prstGeom>
          <a:solidFill>
            <a:srgbClr val="2E7550"/>
          </a:solidFill>
          <a:ln>
            <a:noFill/>
          </a:ln>
        </p:spPr>
        <p:txBody>
          <a:bodyPr rtlCol="0" anchor="ctr"/>
          <a:lstStyle/>
          <a:p>
            <a:endParaRPr/>
          </a:p>
        </p:txBody>
      </p:sp>
      <p:sp>
        <p:nvSpPr>
          <p:cNvPr id="20" name="TextBox 19"/>
          <p:cNvSpPr txBox="1"/>
          <p:nvPr/>
        </p:nvSpPr>
        <p:spPr>
          <a:xfrm>
            <a:off x="1508760" y="5769864"/>
            <a:ext cx="4389120" cy="384048"/>
          </a:xfrm>
          <a:prstGeom prst="rect">
            <a:avLst/>
          </a:prstGeom>
          <a:noFill/>
        </p:spPr>
        <p:txBody>
          <a:bodyPr wrap="square" lIns="0" tIns="0" rIns="0" bIns="0" anchor="t">
            <a:noAutofit/>
          </a:bodyPr>
          <a:lstStyle/>
          <a:p>
            <a:pPr algn="l">
              <a:lnSpc>
                <a:spcPct val="112000"/>
              </a:lnSpc>
              <a:spcAft>
                <a:spcPts val="0"/>
              </a:spcAft>
            </a:pPr>
            <a:r>
              <a:rPr sz="1500" b="0" i="0">
                <a:solidFill>
                  <a:srgbClr val="3D2410"/>
                </a:solidFill>
                <a:latin typeface="Segoe UI"/>
                <a:cs typeface="Segoe UI"/>
              </a:rPr>
              <a:t>Future leakage stopped at the root</a:t>
            </a:r>
          </a:p>
        </p:txBody>
      </p:sp>
      <p:sp>
        <p:nvSpPr>
          <p:cNvPr id="21" name="TextBox 20"/>
          <p:cNvSpPr txBox="1"/>
          <p:nvPr/>
        </p:nvSpPr>
        <p:spPr>
          <a:xfrm>
            <a:off x="4663440" y="5632703"/>
            <a:ext cx="3840480" cy="548640"/>
          </a:xfrm>
          <a:prstGeom prst="rect">
            <a:avLst/>
          </a:prstGeom>
          <a:noFill/>
        </p:spPr>
        <p:txBody>
          <a:bodyPr wrap="square" lIns="0" tIns="0" rIns="0" bIns="0" anchor="t">
            <a:noAutofit/>
          </a:bodyPr>
          <a:lstStyle/>
          <a:p>
            <a:pPr algn="r">
              <a:lnSpc>
                <a:spcPct val="112000"/>
              </a:lnSpc>
              <a:spcAft>
                <a:spcPts val="0"/>
              </a:spcAft>
            </a:pPr>
            <a:r>
              <a:rPr sz="2800" b="0" i="0">
                <a:solidFill>
                  <a:srgbClr val="B96A1E"/>
                </a:solidFill>
                <a:latin typeface="Segoe UI Semibold"/>
                <a:cs typeface="Segoe UI Semibold"/>
              </a:rPr>
              <a:t>₹1,22,033.05</a:t>
            </a:r>
          </a:p>
        </p:txBody>
      </p:sp>
      <p:sp>
        <p:nvSpPr>
          <p:cNvPr id="22" name="Rounded Rectangle 21"/>
          <p:cNvSpPr/>
          <p:nvPr/>
        </p:nvSpPr>
        <p:spPr>
          <a:xfrm>
            <a:off x="1508760" y="6245352"/>
            <a:ext cx="6949440" cy="384048"/>
          </a:xfrm>
          <a:prstGeom prst="roundRect">
            <a:avLst>
              <a:gd name="adj" fmla="val 50000"/>
            </a:avLst>
          </a:prstGeom>
          <a:solidFill>
            <a:srgbClr val="F3F0EB"/>
          </a:solidFill>
          <a:ln>
            <a:noFill/>
          </a:ln>
        </p:spPr>
        <p:txBody>
          <a:bodyPr rtlCol="0" anchor="ctr"/>
          <a:lstStyle/>
          <a:p>
            <a:endParaRPr/>
          </a:p>
        </p:txBody>
      </p:sp>
      <p:sp>
        <p:nvSpPr>
          <p:cNvPr id="23" name="Rounded Rectangle 22"/>
          <p:cNvSpPr/>
          <p:nvPr/>
        </p:nvSpPr>
        <p:spPr>
          <a:xfrm>
            <a:off x="1508760" y="6245352"/>
            <a:ext cx="5057491" cy="384048"/>
          </a:xfrm>
          <a:prstGeom prst="roundRect">
            <a:avLst>
              <a:gd name="adj" fmla="val 50000"/>
            </a:avLst>
          </a:prstGeom>
          <a:solidFill>
            <a:srgbClr val="B96A1E"/>
          </a:solidFill>
          <a:ln>
            <a:noFill/>
          </a:ln>
        </p:spPr>
        <p:txBody>
          <a:bodyPr rtlCol="0" anchor="ctr"/>
          <a:lstStyle/>
          <a:p>
            <a:endParaRPr/>
          </a:p>
        </p:txBody>
      </p:sp>
      <p:sp>
        <p:nvSpPr>
          <p:cNvPr id="24" name="Rounded Rectangle 23"/>
          <p:cNvSpPr/>
          <p:nvPr/>
        </p:nvSpPr>
        <p:spPr>
          <a:xfrm>
            <a:off x="1508760" y="7086600"/>
            <a:ext cx="6949440" cy="1234440"/>
          </a:xfrm>
          <a:prstGeom prst="roundRect">
            <a:avLst>
              <a:gd name="adj" fmla="val 8000"/>
            </a:avLst>
          </a:prstGeom>
          <a:solidFill>
            <a:srgbClr val="FDF3D2"/>
          </a:solidFill>
          <a:ln>
            <a:noFill/>
          </a:ln>
        </p:spPr>
        <p:txBody>
          <a:bodyPr wrap="square" lIns="182880" rIns="137160" rtlCol="0" anchor="ctr">
            <a:noAutofit/>
          </a:bodyPr>
          <a:lstStyle/>
          <a:p>
            <a:pPr algn="l">
              <a:lnSpc>
                <a:spcPct val="112000"/>
              </a:lnSpc>
              <a:spcAft>
                <a:spcPts val="300"/>
              </a:spcAft>
            </a:pPr>
            <a:r>
              <a:rPr sz="1300" b="0" i="0">
                <a:solidFill>
                  <a:srgbClr val="B96A1E"/>
                </a:solidFill>
                <a:latin typeface="Segoe UI Semibold"/>
                <a:cs typeface="Segoe UI Semibold"/>
              </a:rPr>
              <a:t>One merchant: Shree Ganesh Supermart</a:t>
            </a:r>
          </a:p>
          <a:p>
            <a:pPr algn="l">
              <a:lnSpc>
                <a:spcPct val="112000"/>
              </a:lnSpc>
              <a:spcAft>
                <a:spcPts val="0"/>
              </a:spcAft>
            </a:pPr>
            <a:r>
              <a:rPr sz="1400" b="0" i="0">
                <a:solidFill>
                  <a:srgbClr val="3D2410"/>
                </a:solidFill>
                <a:latin typeface="Segoe UI Semibold"/>
                <a:cs typeface="Segoe UI Semibold"/>
              </a:rPr>
              <a:t>₹25,712.17</a:t>
            </a:r>
            <a:r>
              <a:rPr sz="1400" b="0" i="0">
                <a:solidFill>
                  <a:srgbClr val="3D2410"/>
                </a:solidFill>
                <a:latin typeface="Segoe UI"/>
                <a:cs typeface="Segoe UI"/>
              </a:rPr>
              <a:t> found without being asked, </a:t>
            </a:r>
            <a:r>
              <a:rPr sz="1400" b="0" i="0">
                <a:solidFill>
                  <a:srgbClr val="3D2410"/>
                </a:solidFill>
                <a:latin typeface="Segoe UI Semibold"/>
                <a:cs typeface="Segoe UI Semibold"/>
              </a:rPr>
              <a:t>₹23,252.93</a:t>
            </a:r>
            <a:r>
              <a:rPr sz="1400" b="0" i="0">
                <a:solidFill>
                  <a:srgbClr val="3D2410"/>
                </a:solidFill>
                <a:latin typeface="Segoe UI"/>
                <a:cs typeface="Segoe UI"/>
              </a:rPr>
              <a:t> back in the bank, 7 cases sent for the merchant’s decision.</a:t>
            </a:r>
          </a:p>
        </p:txBody>
      </p:sp>
      <p:sp>
        <p:nvSpPr>
          <p:cNvPr id="25" name="Rounded Rectangle 24"/>
          <p:cNvSpPr/>
          <p:nvPr/>
        </p:nvSpPr>
        <p:spPr>
          <a:xfrm>
            <a:off x="9144000" y="2468880"/>
            <a:ext cx="7955279" cy="6080760"/>
          </a:xfrm>
          <a:prstGeom prst="roundRect">
            <a:avLst>
              <a:gd name="adj" fmla="val 4000"/>
            </a:avLst>
          </a:prstGeom>
          <a:solidFill>
            <a:schemeClr val="accent1">
              <a:lumMod val="50000"/>
            </a:schemeClr>
          </a:solidFill>
          <a:ln>
            <a:noFill/>
          </a:ln>
        </p:spPr>
        <p:txBody>
          <a:bodyPr rtlCol="0" anchor="ctr"/>
          <a:lstStyle/>
          <a:p>
            <a:endParaRPr/>
          </a:p>
        </p:txBody>
      </p:sp>
      <p:sp>
        <p:nvSpPr>
          <p:cNvPr id="26" name="TextBox 25"/>
          <p:cNvSpPr txBox="1"/>
          <p:nvPr/>
        </p:nvSpPr>
        <p:spPr>
          <a:xfrm>
            <a:off x="9464040" y="2651760"/>
            <a:ext cx="7315200" cy="411480"/>
          </a:xfrm>
          <a:prstGeom prst="rect">
            <a:avLst/>
          </a:prstGeom>
          <a:noFill/>
        </p:spPr>
        <p:txBody>
          <a:bodyPr wrap="square" lIns="0" tIns="0" rIns="0" bIns="0" anchor="t">
            <a:noAutofit/>
          </a:bodyPr>
          <a:lstStyle/>
          <a:p>
            <a:pPr algn="l">
              <a:lnSpc>
                <a:spcPct val="112000"/>
              </a:lnSpc>
              <a:spcAft>
                <a:spcPts val="0"/>
              </a:spcAft>
            </a:pPr>
            <a:r>
              <a:rPr sz="1600" b="0" i="0">
                <a:solidFill>
                  <a:srgbClr val="F4C542"/>
                </a:solidFill>
                <a:latin typeface="Segoe UI Semibold"/>
                <a:cs typeface="Segoe UI Semibold"/>
              </a:rPr>
              <a:t>Checked against an answer key the agents never saw</a:t>
            </a:r>
          </a:p>
        </p:txBody>
      </p:sp>
      <p:sp>
        <p:nvSpPr>
          <p:cNvPr id="27" name="TextBox 26"/>
          <p:cNvSpPr txBox="1"/>
          <p:nvPr/>
        </p:nvSpPr>
        <p:spPr>
          <a:xfrm>
            <a:off x="9464040" y="3200400"/>
            <a:ext cx="2377440" cy="731520"/>
          </a:xfrm>
          <a:prstGeom prst="rect">
            <a:avLst/>
          </a:prstGeom>
          <a:noFill/>
        </p:spPr>
        <p:txBody>
          <a:bodyPr wrap="square" lIns="0" tIns="0" rIns="0" bIns="0" anchor="ctr">
            <a:noAutofit/>
          </a:bodyPr>
          <a:lstStyle/>
          <a:p>
            <a:pPr algn="l">
              <a:lnSpc>
                <a:spcPct val="112000"/>
              </a:lnSpc>
              <a:spcAft>
                <a:spcPts val="0"/>
              </a:spcAft>
            </a:pPr>
            <a:r>
              <a:rPr sz="2600" b="0" i="0">
                <a:solidFill>
                  <a:srgbClr val="F4C542"/>
                </a:solidFill>
                <a:latin typeface="Segoe UI Semibold"/>
                <a:cs typeface="Segoe UI Semibold"/>
              </a:rPr>
              <a:t>0 / 389</a:t>
            </a:r>
          </a:p>
        </p:txBody>
      </p:sp>
      <p:sp>
        <p:nvSpPr>
          <p:cNvPr id="28" name="TextBox 27"/>
          <p:cNvSpPr txBox="1"/>
          <p:nvPr/>
        </p:nvSpPr>
        <p:spPr>
          <a:xfrm>
            <a:off x="11932920" y="3200400"/>
            <a:ext cx="3108960" cy="731520"/>
          </a:xfrm>
          <a:prstGeom prst="rect">
            <a:avLst/>
          </a:prstGeom>
          <a:noFill/>
        </p:spPr>
        <p:txBody>
          <a:bodyPr wrap="square" lIns="0" tIns="0" rIns="0" bIns="0" anchor="ctr">
            <a:noAutofit/>
          </a:bodyPr>
          <a:lstStyle/>
          <a:p>
            <a:pPr algn="l">
              <a:lnSpc>
                <a:spcPct val="105000"/>
              </a:lnSpc>
              <a:spcAft>
                <a:spcPts val="0"/>
              </a:spcAft>
            </a:pPr>
            <a:r>
              <a:rPr sz="1350" b="0" i="0">
                <a:solidFill>
                  <a:srgbClr val="E6D6BE"/>
                </a:solidFill>
                <a:latin typeface="Segoe UI"/>
                <a:cs typeface="Segoe UI"/>
              </a:rPr>
              <a:t>false corrections filed</a:t>
            </a:r>
          </a:p>
        </p:txBody>
      </p:sp>
      <p:sp>
        <p:nvSpPr>
          <p:cNvPr id="29" name="Rounded Rectangle 28"/>
          <p:cNvSpPr/>
          <p:nvPr/>
        </p:nvSpPr>
        <p:spPr>
          <a:xfrm>
            <a:off x="15133320" y="3474720"/>
            <a:ext cx="1691640" cy="182880"/>
          </a:xfrm>
          <a:prstGeom prst="roundRect">
            <a:avLst>
              <a:gd name="adj" fmla="val 50000"/>
            </a:avLst>
          </a:prstGeom>
          <a:solidFill>
            <a:schemeClr val="tx2">
              <a:lumMod val="20000"/>
              <a:lumOff val="80000"/>
            </a:schemeClr>
          </a:solidFill>
          <a:ln>
            <a:noFill/>
          </a:ln>
        </p:spPr>
        <p:txBody>
          <a:bodyPr rtlCol="0" anchor="ctr"/>
          <a:lstStyle/>
          <a:p>
            <a:endParaRPr/>
          </a:p>
        </p:txBody>
      </p:sp>
      <p:sp>
        <p:nvSpPr>
          <p:cNvPr id="30" name="Oval 29"/>
          <p:cNvSpPr/>
          <p:nvPr/>
        </p:nvSpPr>
        <p:spPr>
          <a:xfrm>
            <a:off x="15087600" y="3429000"/>
            <a:ext cx="274320" cy="274320"/>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endParaRPr/>
          </a:p>
        </p:txBody>
      </p:sp>
      <p:sp>
        <p:nvSpPr>
          <p:cNvPr id="31" name="TextBox 30"/>
          <p:cNvSpPr txBox="1"/>
          <p:nvPr/>
        </p:nvSpPr>
        <p:spPr>
          <a:xfrm>
            <a:off x="9464040" y="4069080"/>
            <a:ext cx="2377440" cy="731520"/>
          </a:xfrm>
          <a:prstGeom prst="rect">
            <a:avLst/>
          </a:prstGeom>
          <a:noFill/>
        </p:spPr>
        <p:txBody>
          <a:bodyPr wrap="square" lIns="0" tIns="0" rIns="0" bIns="0" anchor="ctr">
            <a:noAutofit/>
          </a:bodyPr>
          <a:lstStyle/>
          <a:p>
            <a:pPr algn="l">
              <a:lnSpc>
                <a:spcPct val="112000"/>
              </a:lnSpc>
              <a:spcAft>
                <a:spcPts val="0"/>
              </a:spcAft>
            </a:pPr>
            <a:r>
              <a:rPr sz="2600" b="0" i="0">
                <a:solidFill>
                  <a:srgbClr val="F4C542"/>
                </a:solidFill>
                <a:latin typeface="Segoe UI Semibold"/>
                <a:cs typeface="Segoe UI Semibold"/>
              </a:rPr>
              <a:t>0 / 23,819</a:t>
            </a:r>
          </a:p>
        </p:txBody>
      </p:sp>
      <p:sp>
        <p:nvSpPr>
          <p:cNvPr id="32" name="TextBox 31"/>
          <p:cNvSpPr txBox="1"/>
          <p:nvPr/>
        </p:nvSpPr>
        <p:spPr>
          <a:xfrm>
            <a:off x="11932920" y="4069080"/>
            <a:ext cx="3108960" cy="731520"/>
          </a:xfrm>
          <a:prstGeom prst="rect">
            <a:avLst/>
          </a:prstGeom>
          <a:noFill/>
        </p:spPr>
        <p:txBody>
          <a:bodyPr wrap="square" lIns="0" tIns="0" rIns="0" bIns="0" anchor="ctr">
            <a:noAutofit/>
          </a:bodyPr>
          <a:lstStyle/>
          <a:p>
            <a:pPr algn="l">
              <a:lnSpc>
                <a:spcPct val="105000"/>
              </a:lnSpc>
              <a:spcAft>
                <a:spcPts val="0"/>
              </a:spcAft>
            </a:pPr>
            <a:r>
              <a:rPr sz="1350" b="0" i="0">
                <a:solidFill>
                  <a:srgbClr val="E6D6BE"/>
                </a:solidFill>
                <a:latin typeface="Segoe UI"/>
                <a:cs typeface="Segoe UI"/>
              </a:rPr>
              <a:t>legitimate lookalikes flagged</a:t>
            </a:r>
          </a:p>
        </p:txBody>
      </p:sp>
      <p:sp>
        <p:nvSpPr>
          <p:cNvPr id="33" name="Rounded Rectangle 32"/>
          <p:cNvSpPr/>
          <p:nvPr/>
        </p:nvSpPr>
        <p:spPr>
          <a:xfrm>
            <a:off x="15133320" y="4343400"/>
            <a:ext cx="1691640" cy="182880"/>
          </a:xfrm>
          <a:prstGeom prst="roundRect">
            <a:avLst>
              <a:gd name="adj" fmla="val 50000"/>
            </a:avLst>
          </a:prstGeom>
          <a:solidFill>
            <a:schemeClr val="tx2">
              <a:lumMod val="20000"/>
              <a:lumOff val="80000"/>
            </a:schemeClr>
          </a:solidFill>
          <a:ln>
            <a:noFill/>
          </a:ln>
        </p:spPr>
        <p:txBody>
          <a:bodyPr rtlCol="0" anchor="ctr"/>
          <a:lstStyle/>
          <a:p>
            <a:endParaRPr/>
          </a:p>
        </p:txBody>
      </p:sp>
      <p:sp>
        <p:nvSpPr>
          <p:cNvPr id="34" name="Oval 33"/>
          <p:cNvSpPr/>
          <p:nvPr/>
        </p:nvSpPr>
        <p:spPr>
          <a:xfrm>
            <a:off x="15087600" y="4297680"/>
            <a:ext cx="274320" cy="274320"/>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endParaRPr/>
          </a:p>
        </p:txBody>
      </p:sp>
      <p:sp>
        <p:nvSpPr>
          <p:cNvPr id="35" name="TextBox 34"/>
          <p:cNvSpPr txBox="1"/>
          <p:nvPr/>
        </p:nvSpPr>
        <p:spPr>
          <a:xfrm>
            <a:off x="9464040" y="4937760"/>
            <a:ext cx="2377440" cy="731520"/>
          </a:xfrm>
          <a:prstGeom prst="rect">
            <a:avLst/>
          </a:prstGeom>
          <a:noFill/>
        </p:spPr>
        <p:txBody>
          <a:bodyPr wrap="square" lIns="0" tIns="0" rIns="0" bIns="0" anchor="ctr">
            <a:noAutofit/>
          </a:bodyPr>
          <a:lstStyle/>
          <a:p>
            <a:pPr algn="l">
              <a:lnSpc>
                <a:spcPct val="112000"/>
              </a:lnSpc>
              <a:spcAft>
                <a:spcPts val="0"/>
              </a:spcAft>
            </a:pPr>
            <a:r>
              <a:rPr sz="2600" b="0" i="0">
                <a:solidFill>
                  <a:srgbClr val="FFFFFF"/>
                </a:solidFill>
                <a:latin typeface="Segoe UI Semibold"/>
                <a:cs typeface="Segoe UI Semibold"/>
              </a:rPr>
              <a:t>32 / 32</a:t>
            </a:r>
          </a:p>
        </p:txBody>
      </p:sp>
      <p:sp>
        <p:nvSpPr>
          <p:cNvPr id="36" name="TextBox 35"/>
          <p:cNvSpPr txBox="1"/>
          <p:nvPr/>
        </p:nvSpPr>
        <p:spPr>
          <a:xfrm>
            <a:off x="11932920" y="4937760"/>
            <a:ext cx="3108960" cy="731520"/>
          </a:xfrm>
          <a:prstGeom prst="rect">
            <a:avLst/>
          </a:prstGeom>
          <a:noFill/>
        </p:spPr>
        <p:txBody>
          <a:bodyPr wrap="square" lIns="0" tIns="0" rIns="0" bIns="0" anchor="ctr">
            <a:noAutofit/>
          </a:bodyPr>
          <a:lstStyle/>
          <a:p>
            <a:pPr algn="l">
              <a:lnSpc>
                <a:spcPct val="105000"/>
              </a:lnSpc>
              <a:spcAft>
                <a:spcPts val="0"/>
              </a:spcAft>
            </a:pPr>
            <a:r>
              <a:rPr sz="1350" b="0" i="0">
                <a:solidFill>
                  <a:srgbClr val="E6D6BE"/>
                </a:solidFill>
                <a:latin typeface="Segoe UI"/>
                <a:cs typeface="Segoe UI"/>
              </a:rPr>
              <a:t>red-team attacks handled correctly</a:t>
            </a:r>
          </a:p>
        </p:txBody>
      </p:sp>
      <p:sp>
        <p:nvSpPr>
          <p:cNvPr id="37" name="Rounded Rectangle 36"/>
          <p:cNvSpPr/>
          <p:nvPr/>
        </p:nvSpPr>
        <p:spPr>
          <a:xfrm>
            <a:off x="15133320" y="5212080"/>
            <a:ext cx="1691640" cy="182880"/>
          </a:xfrm>
          <a:prstGeom prst="roundRect">
            <a:avLst>
              <a:gd name="adj" fmla="val 50000"/>
            </a:avLst>
          </a:prstGeom>
          <a:solidFill>
            <a:srgbClr val="5A4028"/>
          </a:solidFill>
          <a:ln>
            <a:noFill/>
          </a:ln>
        </p:spPr>
        <p:txBody>
          <a:bodyPr rtlCol="0" anchor="ctr"/>
          <a:lstStyle/>
          <a:p>
            <a:endParaRPr/>
          </a:p>
        </p:txBody>
      </p:sp>
      <p:sp>
        <p:nvSpPr>
          <p:cNvPr id="38" name="Rounded Rectangle 37"/>
          <p:cNvSpPr/>
          <p:nvPr/>
        </p:nvSpPr>
        <p:spPr>
          <a:xfrm>
            <a:off x="15133320" y="5212080"/>
            <a:ext cx="1691640" cy="182880"/>
          </a:xfrm>
          <a:prstGeom prst="roundRect">
            <a:avLst>
              <a:gd name="adj" fmla="val 50000"/>
            </a:avLst>
          </a:prstGeom>
          <a:solidFill>
            <a:srgbClr val="00B050"/>
          </a:solidFill>
          <a:ln>
            <a:noFill/>
          </a:ln>
        </p:spPr>
        <p:txBody>
          <a:bodyPr rtlCol="0" anchor="ctr"/>
          <a:lstStyle/>
          <a:p>
            <a:endParaRPr/>
          </a:p>
        </p:txBody>
      </p:sp>
      <p:sp>
        <p:nvSpPr>
          <p:cNvPr id="39" name="TextBox 38"/>
          <p:cNvSpPr txBox="1"/>
          <p:nvPr/>
        </p:nvSpPr>
        <p:spPr>
          <a:xfrm>
            <a:off x="9464040" y="5806440"/>
            <a:ext cx="2377440" cy="731520"/>
          </a:xfrm>
          <a:prstGeom prst="rect">
            <a:avLst/>
          </a:prstGeom>
          <a:noFill/>
        </p:spPr>
        <p:txBody>
          <a:bodyPr wrap="square" lIns="0" tIns="0" rIns="0" bIns="0" anchor="ctr">
            <a:noAutofit/>
          </a:bodyPr>
          <a:lstStyle/>
          <a:p>
            <a:pPr algn="l">
              <a:lnSpc>
                <a:spcPct val="112000"/>
              </a:lnSpc>
              <a:spcAft>
                <a:spcPts val="0"/>
              </a:spcAft>
            </a:pPr>
            <a:r>
              <a:rPr sz="2600" b="0" i="0">
                <a:solidFill>
                  <a:srgbClr val="FFFFFF"/>
                </a:solidFill>
                <a:latin typeface="Segoe UI Semibold"/>
                <a:cs typeface="Segoe UI Semibold"/>
              </a:rPr>
              <a:t>388 / 389</a:t>
            </a:r>
          </a:p>
        </p:txBody>
      </p:sp>
      <p:sp>
        <p:nvSpPr>
          <p:cNvPr id="40" name="TextBox 39"/>
          <p:cNvSpPr txBox="1"/>
          <p:nvPr/>
        </p:nvSpPr>
        <p:spPr>
          <a:xfrm>
            <a:off x="11932920" y="5806440"/>
            <a:ext cx="3108960" cy="731520"/>
          </a:xfrm>
          <a:prstGeom prst="rect">
            <a:avLst/>
          </a:prstGeom>
          <a:noFill/>
        </p:spPr>
        <p:txBody>
          <a:bodyPr wrap="square" lIns="0" tIns="0" rIns="0" bIns="0" anchor="ctr">
            <a:noAutofit/>
          </a:bodyPr>
          <a:lstStyle/>
          <a:p>
            <a:pPr algn="l">
              <a:lnSpc>
                <a:spcPct val="105000"/>
              </a:lnSpc>
              <a:spcAft>
                <a:spcPts val="0"/>
              </a:spcAft>
            </a:pPr>
            <a:r>
              <a:rPr sz="1350" b="0" i="0">
                <a:solidFill>
                  <a:srgbClr val="E6D6BE"/>
                </a:solidFill>
                <a:latin typeface="Segoe UI"/>
                <a:cs typeface="Segoe UI"/>
              </a:rPr>
              <a:t>claims exact to the paise</a:t>
            </a:r>
          </a:p>
        </p:txBody>
      </p:sp>
      <p:sp>
        <p:nvSpPr>
          <p:cNvPr id="41" name="Rounded Rectangle 40"/>
          <p:cNvSpPr/>
          <p:nvPr/>
        </p:nvSpPr>
        <p:spPr>
          <a:xfrm>
            <a:off x="15133320" y="6080760"/>
            <a:ext cx="1691640" cy="182880"/>
          </a:xfrm>
          <a:prstGeom prst="roundRect">
            <a:avLst>
              <a:gd name="adj" fmla="val 50000"/>
            </a:avLst>
          </a:prstGeom>
          <a:solidFill>
            <a:srgbClr val="5A4028"/>
          </a:solidFill>
          <a:ln>
            <a:noFill/>
          </a:ln>
        </p:spPr>
        <p:txBody>
          <a:bodyPr rtlCol="0" anchor="ctr"/>
          <a:lstStyle/>
          <a:p>
            <a:endParaRPr/>
          </a:p>
        </p:txBody>
      </p:sp>
      <p:sp>
        <p:nvSpPr>
          <p:cNvPr id="42" name="Rounded Rectangle 41"/>
          <p:cNvSpPr/>
          <p:nvPr/>
        </p:nvSpPr>
        <p:spPr>
          <a:xfrm>
            <a:off x="15133320" y="6080760"/>
            <a:ext cx="1687291" cy="182880"/>
          </a:xfrm>
          <a:prstGeom prst="roundRect">
            <a:avLst>
              <a:gd name="adj" fmla="val 50000"/>
            </a:avLst>
          </a:prstGeom>
          <a:solidFill>
            <a:srgbClr val="00B050"/>
          </a:solidFill>
          <a:ln>
            <a:noFill/>
          </a:ln>
        </p:spPr>
        <p:txBody>
          <a:bodyPr rtlCol="0" anchor="ctr"/>
          <a:lstStyle/>
          <a:p>
            <a:endParaRPr/>
          </a:p>
        </p:txBody>
      </p:sp>
      <p:sp>
        <p:nvSpPr>
          <p:cNvPr id="43" name="TextBox 42"/>
          <p:cNvSpPr txBox="1"/>
          <p:nvPr/>
        </p:nvSpPr>
        <p:spPr>
          <a:xfrm>
            <a:off x="9464040" y="6675120"/>
            <a:ext cx="2377440" cy="731520"/>
          </a:xfrm>
          <a:prstGeom prst="rect">
            <a:avLst/>
          </a:prstGeom>
          <a:noFill/>
        </p:spPr>
        <p:txBody>
          <a:bodyPr wrap="square" lIns="0" tIns="0" rIns="0" bIns="0" anchor="ctr">
            <a:noAutofit/>
          </a:bodyPr>
          <a:lstStyle/>
          <a:p>
            <a:pPr algn="l">
              <a:lnSpc>
                <a:spcPct val="112000"/>
              </a:lnSpc>
              <a:spcAft>
                <a:spcPts val="0"/>
              </a:spcAft>
            </a:pPr>
            <a:r>
              <a:rPr sz="2600" b="0" i="0">
                <a:solidFill>
                  <a:srgbClr val="FFFFFF"/>
                </a:solidFill>
                <a:latin typeface="Segoe UI Semibold"/>
                <a:cs typeface="Segoe UI Semibold"/>
              </a:rPr>
              <a:t>120 / 120</a:t>
            </a:r>
          </a:p>
        </p:txBody>
      </p:sp>
      <p:sp>
        <p:nvSpPr>
          <p:cNvPr id="44" name="TextBox 43"/>
          <p:cNvSpPr txBox="1"/>
          <p:nvPr/>
        </p:nvSpPr>
        <p:spPr>
          <a:xfrm>
            <a:off x="11932920" y="6675120"/>
            <a:ext cx="3108960" cy="731520"/>
          </a:xfrm>
          <a:prstGeom prst="rect">
            <a:avLst/>
          </a:prstGeom>
          <a:noFill/>
        </p:spPr>
        <p:txBody>
          <a:bodyPr wrap="square" lIns="0" tIns="0" rIns="0" bIns="0" anchor="ctr">
            <a:noAutofit/>
          </a:bodyPr>
          <a:lstStyle/>
          <a:p>
            <a:pPr algn="l">
              <a:lnSpc>
                <a:spcPct val="105000"/>
              </a:lnSpc>
              <a:spcAft>
                <a:spcPts val="0"/>
              </a:spcAft>
            </a:pPr>
            <a:r>
              <a:rPr sz="1350" b="0" i="0">
                <a:solidFill>
                  <a:srgbClr val="E6D6BE"/>
                </a:solidFill>
                <a:latin typeface="Segoe UI"/>
                <a:cs typeface="Segoe UI"/>
              </a:rPr>
              <a:t>ambiguous charges sent to a person</a:t>
            </a:r>
          </a:p>
        </p:txBody>
      </p:sp>
      <p:sp>
        <p:nvSpPr>
          <p:cNvPr id="45" name="Rounded Rectangle 44"/>
          <p:cNvSpPr/>
          <p:nvPr/>
        </p:nvSpPr>
        <p:spPr>
          <a:xfrm>
            <a:off x="15133320" y="6949440"/>
            <a:ext cx="1691640" cy="182880"/>
          </a:xfrm>
          <a:prstGeom prst="roundRect">
            <a:avLst>
              <a:gd name="adj" fmla="val 50000"/>
            </a:avLst>
          </a:prstGeom>
          <a:solidFill>
            <a:srgbClr val="5A4028"/>
          </a:solidFill>
          <a:ln>
            <a:noFill/>
          </a:ln>
        </p:spPr>
        <p:txBody>
          <a:bodyPr rtlCol="0" anchor="ctr"/>
          <a:lstStyle/>
          <a:p>
            <a:endParaRPr/>
          </a:p>
        </p:txBody>
      </p:sp>
      <p:sp>
        <p:nvSpPr>
          <p:cNvPr id="46" name="Rounded Rectangle 45"/>
          <p:cNvSpPr/>
          <p:nvPr/>
        </p:nvSpPr>
        <p:spPr>
          <a:xfrm>
            <a:off x="15133320" y="6949440"/>
            <a:ext cx="1691640" cy="182880"/>
          </a:xfrm>
          <a:prstGeom prst="roundRect">
            <a:avLst>
              <a:gd name="adj" fmla="val 50000"/>
            </a:avLst>
          </a:prstGeom>
          <a:solidFill>
            <a:srgbClr val="00B050"/>
          </a:solidFill>
          <a:ln>
            <a:noFill/>
          </a:ln>
        </p:spPr>
        <p:txBody>
          <a:bodyPr rtlCol="0" anchor="ctr"/>
          <a:lstStyle/>
          <a:p>
            <a:endParaRPr/>
          </a:p>
        </p:txBody>
      </p:sp>
      <p:sp>
        <p:nvSpPr>
          <p:cNvPr id="47" name="TextBox 46"/>
          <p:cNvSpPr txBox="1"/>
          <p:nvPr/>
        </p:nvSpPr>
        <p:spPr>
          <a:xfrm>
            <a:off x="9464040" y="7543800"/>
            <a:ext cx="2377440" cy="731520"/>
          </a:xfrm>
          <a:prstGeom prst="rect">
            <a:avLst/>
          </a:prstGeom>
          <a:noFill/>
        </p:spPr>
        <p:txBody>
          <a:bodyPr wrap="square" lIns="0" tIns="0" rIns="0" bIns="0" anchor="ctr">
            <a:noAutofit/>
          </a:bodyPr>
          <a:lstStyle/>
          <a:p>
            <a:pPr algn="l">
              <a:lnSpc>
                <a:spcPct val="112000"/>
              </a:lnSpc>
              <a:spcAft>
                <a:spcPts val="0"/>
              </a:spcAft>
            </a:pPr>
            <a:r>
              <a:rPr sz="2600" b="0" i="0">
                <a:solidFill>
                  <a:srgbClr val="F4C542"/>
                </a:solidFill>
                <a:latin typeface="Segoe UI Semibold"/>
                <a:cs typeface="Segoe UI Semibold"/>
              </a:rPr>
              <a:t>0</a:t>
            </a:r>
          </a:p>
        </p:txBody>
      </p:sp>
      <p:sp>
        <p:nvSpPr>
          <p:cNvPr id="48" name="TextBox 47"/>
          <p:cNvSpPr txBox="1"/>
          <p:nvPr/>
        </p:nvSpPr>
        <p:spPr>
          <a:xfrm>
            <a:off x="11932920" y="7543800"/>
            <a:ext cx="3108960" cy="731520"/>
          </a:xfrm>
          <a:prstGeom prst="rect">
            <a:avLst/>
          </a:prstGeom>
          <a:noFill/>
        </p:spPr>
        <p:txBody>
          <a:bodyPr wrap="square" lIns="0" tIns="0" rIns="0" bIns="0" anchor="ctr">
            <a:noAutofit/>
          </a:bodyPr>
          <a:lstStyle/>
          <a:p>
            <a:pPr algn="l">
              <a:lnSpc>
                <a:spcPct val="105000"/>
              </a:lnSpc>
              <a:spcAft>
                <a:spcPts val="0"/>
              </a:spcAft>
            </a:pPr>
            <a:r>
              <a:rPr sz="1350" b="0" i="0">
                <a:solidFill>
                  <a:srgbClr val="E6D6BE"/>
                </a:solidFill>
                <a:latin typeface="Segoe UI"/>
                <a:cs typeface="Segoe UI"/>
              </a:rPr>
              <a:t>found on the clean ledger (nothing planted)</a:t>
            </a:r>
          </a:p>
        </p:txBody>
      </p:sp>
      <p:sp>
        <p:nvSpPr>
          <p:cNvPr id="49" name="Rounded Rectangle 48"/>
          <p:cNvSpPr/>
          <p:nvPr/>
        </p:nvSpPr>
        <p:spPr>
          <a:xfrm>
            <a:off x="15133320" y="7818120"/>
            <a:ext cx="1691640" cy="182880"/>
          </a:xfrm>
          <a:prstGeom prst="roundRect">
            <a:avLst>
              <a:gd name="adj" fmla="val 50000"/>
            </a:avLst>
          </a:prstGeom>
          <a:solidFill>
            <a:schemeClr val="tx2">
              <a:lumMod val="20000"/>
              <a:lumOff val="80000"/>
            </a:schemeClr>
          </a:solidFill>
          <a:ln>
            <a:noFill/>
          </a:ln>
        </p:spPr>
        <p:txBody>
          <a:bodyPr rtlCol="0" anchor="ctr"/>
          <a:lstStyle/>
          <a:p>
            <a:endParaRPr/>
          </a:p>
        </p:txBody>
      </p:sp>
      <p:sp>
        <p:nvSpPr>
          <p:cNvPr id="50" name="Oval 49"/>
          <p:cNvSpPr/>
          <p:nvPr/>
        </p:nvSpPr>
        <p:spPr>
          <a:xfrm>
            <a:off x="15087600" y="7772400"/>
            <a:ext cx="274320" cy="274320"/>
          </a:xfrm>
          <a:prstGeom prst="ellipse">
            <a:avLst/>
          </a:prstGeom>
          <a:solidFill>
            <a:srgbClr val="F4C542"/>
          </a:solidFill>
          <a:ln>
            <a:noFill/>
          </a:ln>
        </p:spPr>
        <p:txBody>
          <a:bodyPr wrap="square" lIns="0" tIns="18288" rIns="0" bIns="0" rtlCol="0" anchor="ctr">
            <a:noAutofit/>
          </a:bodyPr>
          <a:lstStyle/>
          <a:p>
            <a:pPr algn="ctr">
              <a:lnSpc>
                <a:spcPct val="112000"/>
              </a:lnSpc>
              <a:spcAft>
                <a:spcPts val="0"/>
              </a:spcAft>
            </a:pPr>
            <a:endParaRPr/>
          </a:p>
        </p:txBody>
      </p:sp>
      <p:sp>
        <p:nvSpPr>
          <p:cNvPr id="51" name="TextBox 50"/>
          <p:cNvSpPr txBox="1"/>
          <p:nvPr/>
        </p:nvSpPr>
        <p:spPr>
          <a:xfrm>
            <a:off x="1188720" y="8732520"/>
            <a:ext cx="15910559" cy="640080"/>
          </a:xfrm>
          <a:prstGeom prst="rect">
            <a:avLst/>
          </a:prstGeom>
          <a:noFill/>
        </p:spPr>
        <p:txBody>
          <a:bodyPr wrap="square" lIns="0" tIns="0" rIns="0" bIns="0" anchor="t">
            <a:noAutofit/>
          </a:bodyPr>
          <a:lstStyle/>
          <a:p>
            <a:pPr algn="l">
              <a:lnSpc>
                <a:spcPct val="115000"/>
              </a:lnSpc>
              <a:spcAft>
                <a:spcPts val="0"/>
              </a:spcAft>
            </a:pPr>
            <a:r>
              <a:rPr sz="1300" b="0" i="0" dirty="0">
                <a:solidFill>
                  <a:srgbClr val="B96A1E"/>
                </a:solidFill>
                <a:latin typeface="Segoe UI Semibold"/>
                <a:cs typeface="Segoe UI Semibold"/>
              </a:rPr>
              <a:t>Honest scope: </a:t>
            </a:r>
            <a:r>
              <a:rPr lang="en-IN" sz="1400" b="1" dirty="0">
                <a:solidFill>
                  <a:srgbClr val="000000"/>
                </a:solidFill>
                <a:latin typeface="Segoe UI"/>
                <a:cs typeface="Segoe UI"/>
              </a:rPr>
              <a:t>S</a:t>
            </a:r>
            <a:r>
              <a:rPr sz="1400" b="1" i="0" dirty="0" err="1">
                <a:solidFill>
                  <a:srgbClr val="000000"/>
                </a:solidFill>
                <a:latin typeface="Segoe UI"/>
                <a:cs typeface="Segoe UI"/>
              </a:rPr>
              <a:t>ynthetic</a:t>
            </a:r>
            <a:r>
              <a:rPr sz="1400" b="1" i="0" dirty="0">
                <a:solidFill>
                  <a:srgbClr val="000000"/>
                </a:solidFill>
                <a:latin typeface="Segoe UI"/>
                <a:cs typeface="Segoe UI"/>
              </a:rPr>
              <a:t> data </a:t>
            </a:r>
            <a:r>
              <a:rPr sz="1300" b="1" i="0" dirty="0">
                <a:solidFill>
                  <a:srgbClr val="000000"/>
                </a:solidFill>
                <a:latin typeface="Segoe UI"/>
                <a:cs typeface="Segoe UI"/>
              </a:rPr>
              <a:t>(seed 42, 25 merchants, 12 months, 3,94,974 transactions) and simulated settlement ops. Every figure is recomputed by evaluate.py; none is typed in. </a:t>
            </a:r>
            <a:r>
              <a:rPr sz="1300" b="1" i="0" dirty="0">
                <a:solidFill>
                  <a:srgbClr val="B96A1E"/>
                </a:solidFill>
                <a:latin typeface="Segoe UI"/>
                <a:cs typeface="Segoe UI"/>
              </a:rPr>
              <a:t>A fresh random dataset regenerates in about 35 seconds, live, so nothing is pre-built.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flipH="1">
            <a:off x="16257701" y="-446605"/>
            <a:ext cx="2475974" cy="2481143"/>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V="1">
            <a:off x="17380895" y="9039441"/>
            <a:ext cx="1838238" cy="168505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5" name="Freeform 5"/>
          <p:cNvSpPr/>
          <p:nvPr/>
        </p:nvSpPr>
        <p:spPr>
          <a:xfrm flipH="1">
            <a:off x="-1143994" y="-324222"/>
            <a:ext cx="1838238" cy="1685052"/>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TextBox 5"/>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IMPACT AND BENEFITS</a:t>
            </a:r>
          </a:p>
        </p:txBody>
      </p:sp>
      <p:sp>
        <p:nvSpPr>
          <p:cNvPr id="7" name="TextBox 6"/>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a:solidFill>
                  <a:srgbClr val="3D2410"/>
                </a:solidFill>
                <a:latin typeface="Segoe UI"/>
                <a:cs typeface="Segoe UI"/>
              </a:rPr>
              <a:t>The best support ticket is the one nobody had to raise</a:t>
            </a:r>
          </a:p>
        </p:txBody>
      </p:sp>
      <p:sp>
        <p:nvSpPr>
          <p:cNvPr id="8" name="TextBox 7"/>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0" i="0">
                <a:solidFill>
                  <a:srgbClr val="000000"/>
                </a:solidFill>
                <a:latin typeface="Segoe UI"/>
                <a:cs typeface="Segoe UI"/>
              </a:rPr>
              <a:t>A merchant who never had to complain keeps taking digital payments. Earning that trust, one settlement at a time, is what Munim is for.</a:t>
            </a:r>
          </a:p>
        </p:txBody>
      </p:sp>
      <p:sp>
        <p:nvSpPr>
          <p:cNvPr id="9" name="TextBox 8"/>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11</a:t>
            </a:r>
            <a:r>
              <a:rPr sz="1200" b="0" i="0">
                <a:solidFill>
                  <a:srgbClr val="8A6F55"/>
                </a:solidFill>
                <a:latin typeface="Segoe UI"/>
                <a:cs typeface="Segoe UI"/>
              </a:rPr>
              <a:t>   Munim   Paytm Build for India, Track 3</a:t>
            </a:r>
          </a:p>
        </p:txBody>
      </p:sp>
      <p:sp>
        <p:nvSpPr>
          <p:cNvPr id="10" name="Rounded Rectangle 9"/>
          <p:cNvSpPr/>
          <p:nvPr/>
        </p:nvSpPr>
        <p:spPr>
          <a:xfrm>
            <a:off x="1188720" y="2487168"/>
            <a:ext cx="10698480" cy="987552"/>
          </a:xfrm>
          <a:prstGeom prst="roundRect">
            <a:avLst>
              <a:gd name="adj" fmla="val 12000"/>
            </a:avLst>
          </a:prstGeom>
          <a:solidFill>
            <a:schemeClr val="tx2">
              <a:lumMod val="20000"/>
              <a:lumOff val="80000"/>
            </a:schemeClr>
          </a:solidFill>
          <a:ln>
            <a:noFill/>
          </a:ln>
        </p:spPr>
        <p:txBody>
          <a:bodyPr rtlCol="0" anchor="ctr"/>
          <a:lstStyle/>
          <a:p>
            <a:endParaRPr/>
          </a:p>
        </p:txBody>
      </p:sp>
      <p:sp>
        <p:nvSpPr>
          <p:cNvPr id="11" name="TextBox 10"/>
          <p:cNvSpPr txBox="1"/>
          <p:nvPr/>
        </p:nvSpPr>
        <p:spPr>
          <a:xfrm>
            <a:off x="1417320" y="2487168"/>
            <a:ext cx="2011680" cy="987552"/>
          </a:xfrm>
          <a:prstGeom prst="rect">
            <a:avLst/>
          </a:prstGeom>
          <a:noFill/>
        </p:spPr>
        <p:txBody>
          <a:bodyPr wrap="square" lIns="0" tIns="0" rIns="0" bIns="0" anchor="ctr">
            <a:noAutofit/>
          </a:bodyPr>
          <a:lstStyle/>
          <a:p>
            <a:pPr algn="l">
              <a:lnSpc>
                <a:spcPct val="112000"/>
              </a:lnSpc>
              <a:spcAft>
                <a:spcPts val="0"/>
              </a:spcAft>
            </a:pPr>
            <a:r>
              <a:rPr sz="1700" b="0" i="0" dirty="0">
                <a:solidFill>
                  <a:srgbClr val="8A6F55"/>
                </a:solidFill>
                <a:latin typeface="Segoe UI Semibold"/>
                <a:cs typeface="Segoe UI Semibold"/>
              </a:rPr>
              <a:t>TODAY</a:t>
            </a:r>
          </a:p>
        </p:txBody>
      </p:sp>
      <p:sp>
        <p:nvSpPr>
          <p:cNvPr id="12" name="Rounded Rectangle 11"/>
          <p:cNvSpPr/>
          <p:nvPr/>
        </p:nvSpPr>
        <p:spPr>
          <a:xfrm>
            <a:off x="3520440" y="2670048"/>
            <a:ext cx="1783080" cy="621792"/>
          </a:xfrm>
          <a:prstGeom prst="roundRect">
            <a:avLst>
              <a:gd name="adj" fmla="val 30000"/>
            </a:avLst>
          </a:prstGeom>
          <a:solidFill>
            <a:srgbClr val="FFFFFF"/>
          </a:solidFill>
          <a:ln>
            <a:solidFill>
              <a:schemeClr val="accent2"/>
            </a:solidFill>
          </a:ln>
        </p:spPr>
        <p:txBody>
          <a:bodyPr wrap="square" lIns="45720" tIns="0" rIns="45720" bIns="0" rtlCol="0" anchor="ctr">
            <a:noAutofit/>
          </a:bodyPr>
          <a:lstStyle/>
          <a:p>
            <a:pPr algn="ctr">
              <a:lnSpc>
                <a:spcPct val="112000"/>
              </a:lnSpc>
              <a:spcAft>
                <a:spcPts val="0"/>
              </a:spcAft>
            </a:pPr>
            <a:r>
              <a:rPr sz="1250" b="0" i="0">
                <a:solidFill>
                  <a:srgbClr val="3D2410"/>
                </a:solidFill>
                <a:latin typeface="Segoe UI"/>
                <a:cs typeface="Segoe UI"/>
              </a:rPr>
              <a:t>Merchant notices</a:t>
            </a:r>
          </a:p>
        </p:txBody>
      </p:sp>
      <p:cxnSp>
        <p:nvCxnSpPr>
          <p:cNvPr id="13" name="Connector 12"/>
          <p:cNvCxnSpPr/>
          <p:nvPr/>
        </p:nvCxnSpPr>
        <p:spPr>
          <a:xfrm>
            <a:off x="5321808" y="2980944"/>
            <a:ext cx="283464" cy="0"/>
          </a:xfrm>
          <a:prstGeom prst="line">
            <a:avLst/>
          </a:prstGeom>
          <a:ln w="22225">
            <a:solidFill>
              <a:srgbClr val="8A6F55"/>
            </a:solidFill>
            <a:tailEnd type="triangle" w="med" len="med"/>
          </a:ln>
        </p:spPr>
      </p:cxnSp>
      <p:sp>
        <p:nvSpPr>
          <p:cNvPr id="14" name="Rounded Rectangle 13"/>
          <p:cNvSpPr/>
          <p:nvPr/>
        </p:nvSpPr>
        <p:spPr>
          <a:xfrm>
            <a:off x="5623560" y="2670048"/>
            <a:ext cx="1783080" cy="621792"/>
          </a:xfrm>
          <a:prstGeom prst="roundRect">
            <a:avLst>
              <a:gd name="adj" fmla="val 30000"/>
            </a:avLst>
          </a:prstGeom>
          <a:solidFill>
            <a:srgbClr val="FFFFFF"/>
          </a:solidFill>
          <a:ln>
            <a:solidFill>
              <a:srgbClr val="FF0000"/>
            </a:solidFill>
          </a:ln>
        </p:spPr>
        <p:txBody>
          <a:bodyPr wrap="square" lIns="45720" tIns="0" rIns="45720" bIns="0" rtlCol="0" anchor="ctr">
            <a:noAutofit/>
          </a:bodyPr>
          <a:lstStyle/>
          <a:p>
            <a:pPr algn="ctr">
              <a:lnSpc>
                <a:spcPct val="112000"/>
              </a:lnSpc>
              <a:spcAft>
                <a:spcPts val="0"/>
              </a:spcAft>
            </a:pPr>
            <a:r>
              <a:rPr sz="1250" b="0" i="0" dirty="0">
                <a:solidFill>
                  <a:srgbClr val="3D2410"/>
                </a:solidFill>
                <a:latin typeface="Segoe UI"/>
                <a:cs typeface="Segoe UI"/>
              </a:rPr>
              <a:t>raises a ticket</a:t>
            </a:r>
          </a:p>
        </p:txBody>
      </p:sp>
      <p:cxnSp>
        <p:nvCxnSpPr>
          <p:cNvPr id="15" name="Connector 14"/>
          <p:cNvCxnSpPr/>
          <p:nvPr/>
        </p:nvCxnSpPr>
        <p:spPr>
          <a:xfrm>
            <a:off x="7424928" y="2980944"/>
            <a:ext cx="283464" cy="0"/>
          </a:xfrm>
          <a:prstGeom prst="line">
            <a:avLst/>
          </a:prstGeom>
          <a:ln w="22225">
            <a:solidFill>
              <a:srgbClr val="8A6F55"/>
            </a:solidFill>
            <a:tailEnd type="triangle" w="med" len="med"/>
          </a:ln>
        </p:spPr>
      </p:cxnSp>
      <p:sp>
        <p:nvSpPr>
          <p:cNvPr id="16" name="Rounded Rectangle 15"/>
          <p:cNvSpPr/>
          <p:nvPr/>
        </p:nvSpPr>
        <p:spPr>
          <a:xfrm>
            <a:off x="7726679" y="2670048"/>
            <a:ext cx="1783080" cy="621792"/>
          </a:xfrm>
          <a:prstGeom prst="roundRect">
            <a:avLst>
              <a:gd name="adj" fmla="val 30000"/>
            </a:avLst>
          </a:prstGeom>
          <a:solidFill>
            <a:srgbClr val="FFFFFF"/>
          </a:solidFill>
          <a:ln>
            <a:solidFill>
              <a:srgbClr val="FF0000"/>
            </a:solidFill>
          </a:ln>
        </p:spPr>
        <p:txBody>
          <a:bodyPr wrap="square" lIns="45720" tIns="0" rIns="45720" bIns="0" rtlCol="0" anchor="ctr">
            <a:noAutofit/>
          </a:bodyPr>
          <a:lstStyle/>
          <a:p>
            <a:pPr algn="ctr">
              <a:lnSpc>
                <a:spcPct val="112000"/>
              </a:lnSpc>
              <a:spcAft>
                <a:spcPts val="0"/>
              </a:spcAft>
            </a:pPr>
            <a:r>
              <a:rPr sz="1250" b="0" i="0">
                <a:solidFill>
                  <a:srgbClr val="3D2410"/>
                </a:solidFill>
                <a:latin typeface="Segoe UI"/>
                <a:cs typeface="Segoe UI"/>
              </a:rPr>
              <a:t>argues</a:t>
            </a:r>
          </a:p>
        </p:txBody>
      </p:sp>
      <p:cxnSp>
        <p:nvCxnSpPr>
          <p:cNvPr id="17" name="Connector 16"/>
          <p:cNvCxnSpPr/>
          <p:nvPr/>
        </p:nvCxnSpPr>
        <p:spPr>
          <a:xfrm>
            <a:off x="9528048" y="2980944"/>
            <a:ext cx="283463" cy="0"/>
          </a:xfrm>
          <a:prstGeom prst="line">
            <a:avLst/>
          </a:prstGeom>
          <a:ln w="22225">
            <a:solidFill>
              <a:srgbClr val="8A6F55"/>
            </a:solidFill>
            <a:tailEnd type="triangle" w="med" len="med"/>
          </a:ln>
        </p:spPr>
      </p:cxnSp>
      <p:sp>
        <p:nvSpPr>
          <p:cNvPr id="18" name="Rounded Rectangle 17"/>
          <p:cNvSpPr/>
          <p:nvPr/>
        </p:nvSpPr>
        <p:spPr>
          <a:xfrm>
            <a:off x="9829800" y="2670048"/>
            <a:ext cx="1783080" cy="621792"/>
          </a:xfrm>
          <a:prstGeom prst="roundRect">
            <a:avLst>
              <a:gd name="adj" fmla="val 30000"/>
            </a:avLst>
          </a:prstGeom>
          <a:solidFill>
            <a:srgbClr val="FFFFFF"/>
          </a:solidFill>
          <a:ln>
            <a:solidFill>
              <a:srgbClr val="FF0000"/>
            </a:solidFill>
          </a:ln>
        </p:spPr>
        <p:txBody>
          <a:bodyPr wrap="square" lIns="45720" tIns="0" rIns="45720" bIns="0" rtlCol="0" anchor="ctr">
            <a:noAutofit/>
          </a:bodyPr>
          <a:lstStyle/>
          <a:p>
            <a:pPr algn="ctr">
              <a:lnSpc>
                <a:spcPct val="112000"/>
              </a:lnSpc>
              <a:spcAft>
                <a:spcPts val="0"/>
              </a:spcAft>
            </a:pPr>
            <a:r>
              <a:rPr sz="1250" b="0" i="0">
                <a:solidFill>
                  <a:srgbClr val="3D2410"/>
                </a:solidFill>
                <a:latin typeface="Segoe UI"/>
                <a:cs typeface="Segoe UI"/>
              </a:rPr>
              <a:t>maybe a refund</a:t>
            </a:r>
          </a:p>
        </p:txBody>
      </p:sp>
      <p:sp>
        <p:nvSpPr>
          <p:cNvPr id="19" name="Rounded Rectangle 18"/>
          <p:cNvSpPr/>
          <p:nvPr/>
        </p:nvSpPr>
        <p:spPr>
          <a:xfrm>
            <a:off x="1188720" y="3630168"/>
            <a:ext cx="10698480" cy="987552"/>
          </a:xfrm>
          <a:prstGeom prst="roundRect">
            <a:avLst>
              <a:gd name="adj" fmla="val 12000"/>
            </a:avLst>
          </a:prstGeom>
          <a:solidFill>
            <a:srgbClr val="F4C542"/>
          </a:solidFill>
          <a:ln>
            <a:noFill/>
          </a:ln>
        </p:spPr>
        <p:txBody>
          <a:bodyPr rtlCol="0" anchor="ctr"/>
          <a:lstStyle/>
          <a:p>
            <a:endParaRPr/>
          </a:p>
        </p:txBody>
      </p:sp>
      <p:sp>
        <p:nvSpPr>
          <p:cNvPr id="20" name="TextBox 19"/>
          <p:cNvSpPr txBox="1"/>
          <p:nvPr/>
        </p:nvSpPr>
        <p:spPr>
          <a:xfrm>
            <a:off x="1417320" y="3630168"/>
            <a:ext cx="2011680" cy="987552"/>
          </a:xfrm>
          <a:prstGeom prst="rect">
            <a:avLst/>
          </a:prstGeom>
          <a:noFill/>
        </p:spPr>
        <p:txBody>
          <a:bodyPr wrap="square" lIns="0" tIns="0" rIns="0" bIns="0" anchor="ctr">
            <a:noAutofit/>
          </a:bodyPr>
          <a:lstStyle/>
          <a:p>
            <a:pPr algn="l">
              <a:lnSpc>
                <a:spcPct val="112000"/>
              </a:lnSpc>
              <a:spcAft>
                <a:spcPts val="0"/>
              </a:spcAft>
            </a:pPr>
            <a:r>
              <a:rPr sz="1700" b="0" i="0">
                <a:solidFill>
                  <a:srgbClr val="3D2410"/>
                </a:solidFill>
                <a:latin typeface="Segoe UI Semibold"/>
                <a:cs typeface="Segoe UI Semibold"/>
              </a:rPr>
              <a:t>WITH MUNIM</a:t>
            </a:r>
          </a:p>
        </p:txBody>
      </p:sp>
      <p:sp>
        <p:nvSpPr>
          <p:cNvPr id="21" name="Rounded Rectangle 20"/>
          <p:cNvSpPr/>
          <p:nvPr/>
        </p:nvSpPr>
        <p:spPr>
          <a:xfrm>
            <a:off x="3520440" y="3813048"/>
            <a:ext cx="1783080" cy="621792"/>
          </a:xfrm>
          <a:prstGeom prst="roundRect">
            <a:avLst>
              <a:gd name="adj" fmla="val 30000"/>
            </a:avLst>
          </a:prstGeom>
          <a:solidFill>
            <a:srgbClr val="FFFFFF"/>
          </a:solidFill>
          <a:ln>
            <a:noFill/>
          </a:ln>
        </p:spPr>
        <p:txBody>
          <a:bodyPr wrap="square" lIns="45720" tIns="0" rIns="45720" bIns="0" rtlCol="0" anchor="ctr">
            <a:noAutofit/>
          </a:bodyPr>
          <a:lstStyle/>
          <a:p>
            <a:pPr algn="ctr">
              <a:lnSpc>
                <a:spcPct val="112000"/>
              </a:lnSpc>
              <a:spcAft>
                <a:spcPts val="0"/>
              </a:spcAft>
            </a:pPr>
            <a:r>
              <a:rPr sz="1250" b="0" i="0">
                <a:solidFill>
                  <a:srgbClr val="3D2410"/>
                </a:solidFill>
                <a:latin typeface="Segoe UI"/>
                <a:cs typeface="Segoe UI"/>
              </a:rPr>
              <a:t>Paytm notices</a:t>
            </a:r>
          </a:p>
        </p:txBody>
      </p:sp>
      <p:cxnSp>
        <p:nvCxnSpPr>
          <p:cNvPr id="22" name="Connector 21"/>
          <p:cNvCxnSpPr/>
          <p:nvPr/>
        </p:nvCxnSpPr>
        <p:spPr>
          <a:xfrm>
            <a:off x="5321808" y="4123944"/>
            <a:ext cx="283464" cy="0"/>
          </a:xfrm>
          <a:prstGeom prst="line">
            <a:avLst/>
          </a:prstGeom>
          <a:ln w="22225">
            <a:solidFill>
              <a:srgbClr val="B96A1E"/>
            </a:solidFill>
            <a:tailEnd type="triangle" w="med" len="med"/>
          </a:ln>
        </p:spPr>
      </p:cxnSp>
      <p:sp>
        <p:nvSpPr>
          <p:cNvPr id="23" name="Rounded Rectangle 22"/>
          <p:cNvSpPr/>
          <p:nvPr/>
        </p:nvSpPr>
        <p:spPr>
          <a:xfrm>
            <a:off x="5623560" y="3813048"/>
            <a:ext cx="1783080" cy="621792"/>
          </a:xfrm>
          <a:prstGeom prst="roundRect">
            <a:avLst>
              <a:gd name="adj" fmla="val 30000"/>
            </a:avLst>
          </a:prstGeom>
          <a:solidFill>
            <a:srgbClr val="FFFFFF"/>
          </a:solidFill>
          <a:ln>
            <a:noFill/>
          </a:ln>
        </p:spPr>
        <p:txBody>
          <a:bodyPr wrap="square" lIns="45720" tIns="0" rIns="45720" bIns="0" rtlCol="0" anchor="ctr">
            <a:noAutofit/>
          </a:bodyPr>
          <a:lstStyle/>
          <a:p>
            <a:pPr algn="ctr">
              <a:lnSpc>
                <a:spcPct val="112000"/>
              </a:lnSpc>
              <a:spcAft>
                <a:spcPts val="0"/>
              </a:spcAft>
            </a:pPr>
            <a:r>
              <a:rPr sz="1250" b="0" i="0">
                <a:solidFill>
                  <a:srgbClr val="3D2410"/>
                </a:solidFill>
                <a:latin typeface="Segoe UI"/>
                <a:cs typeface="Segoe UI"/>
              </a:rPr>
              <a:t>proves it</a:t>
            </a:r>
          </a:p>
        </p:txBody>
      </p:sp>
      <p:cxnSp>
        <p:nvCxnSpPr>
          <p:cNvPr id="24" name="Connector 23"/>
          <p:cNvCxnSpPr/>
          <p:nvPr/>
        </p:nvCxnSpPr>
        <p:spPr>
          <a:xfrm>
            <a:off x="7424928" y="4123944"/>
            <a:ext cx="283464" cy="0"/>
          </a:xfrm>
          <a:prstGeom prst="line">
            <a:avLst/>
          </a:prstGeom>
          <a:ln w="22225">
            <a:solidFill>
              <a:srgbClr val="B96A1E"/>
            </a:solidFill>
            <a:tailEnd type="triangle" w="med" len="med"/>
          </a:ln>
        </p:spPr>
      </p:cxnSp>
      <p:sp>
        <p:nvSpPr>
          <p:cNvPr id="25" name="Rounded Rectangle 24"/>
          <p:cNvSpPr/>
          <p:nvPr/>
        </p:nvSpPr>
        <p:spPr>
          <a:xfrm>
            <a:off x="7726679" y="3813048"/>
            <a:ext cx="1783080" cy="621792"/>
          </a:xfrm>
          <a:prstGeom prst="roundRect">
            <a:avLst>
              <a:gd name="adj" fmla="val 30000"/>
            </a:avLst>
          </a:prstGeom>
          <a:solidFill>
            <a:srgbClr val="FFFFFF"/>
          </a:solidFill>
          <a:ln>
            <a:noFill/>
          </a:ln>
        </p:spPr>
        <p:txBody>
          <a:bodyPr wrap="square" lIns="45720" tIns="0" rIns="45720" bIns="0" rtlCol="0" anchor="ctr">
            <a:noAutofit/>
          </a:bodyPr>
          <a:lstStyle/>
          <a:p>
            <a:pPr algn="ctr">
              <a:lnSpc>
                <a:spcPct val="112000"/>
              </a:lnSpc>
              <a:spcAft>
                <a:spcPts val="0"/>
              </a:spcAft>
            </a:pPr>
            <a:r>
              <a:rPr sz="1250" b="0" i="0">
                <a:solidFill>
                  <a:srgbClr val="3D2410"/>
                </a:solidFill>
                <a:latin typeface="Segoe UI"/>
                <a:cs typeface="Segoe UI"/>
              </a:rPr>
              <a:t>returns the money</a:t>
            </a:r>
          </a:p>
        </p:txBody>
      </p:sp>
      <p:cxnSp>
        <p:nvCxnSpPr>
          <p:cNvPr id="26" name="Connector 25"/>
          <p:cNvCxnSpPr/>
          <p:nvPr/>
        </p:nvCxnSpPr>
        <p:spPr>
          <a:xfrm>
            <a:off x="9528048" y="4123944"/>
            <a:ext cx="283463" cy="0"/>
          </a:xfrm>
          <a:prstGeom prst="line">
            <a:avLst/>
          </a:prstGeom>
          <a:ln w="22225">
            <a:solidFill>
              <a:srgbClr val="B96A1E"/>
            </a:solidFill>
            <a:tailEnd type="triangle" w="med" len="med"/>
          </a:ln>
        </p:spPr>
      </p:cxnSp>
      <p:sp>
        <p:nvSpPr>
          <p:cNvPr id="27" name="Rounded Rectangle 26"/>
          <p:cNvSpPr/>
          <p:nvPr/>
        </p:nvSpPr>
        <p:spPr>
          <a:xfrm>
            <a:off x="9829800" y="3813048"/>
            <a:ext cx="1783080" cy="621792"/>
          </a:xfrm>
          <a:prstGeom prst="roundRect">
            <a:avLst>
              <a:gd name="adj" fmla="val 30000"/>
            </a:avLst>
          </a:prstGeom>
          <a:solidFill>
            <a:srgbClr val="FFFFFF"/>
          </a:solidFill>
          <a:ln>
            <a:noFill/>
          </a:ln>
        </p:spPr>
        <p:txBody>
          <a:bodyPr wrap="square" lIns="45720" tIns="0" rIns="45720" bIns="0" rtlCol="0" anchor="ctr">
            <a:noAutofit/>
          </a:bodyPr>
          <a:lstStyle/>
          <a:p>
            <a:pPr algn="ctr">
              <a:lnSpc>
                <a:spcPct val="112000"/>
              </a:lnSpc>
              <a:spcAft>
                <a:spcPts val="0"/>
              </a:spcAft>
            </a:pPr>
            <a:r>
              <a:rPr sz="1250" b="0" i="0">
                <a:solidFill>
                  <a:srgbClr val="3D2410"/>
                </a:solidFill>
                <a:latin typeface="Segoe UI Semibold"/>
                <a:cs typeface="Segoe UI Semibold"/>
              </a:rPr>
              <a:t>tells the merchant</a:t>
            </a:r>
          </a:p>
        </p:txBody>
      </p:sp>
      <p:sp>
        <p:nvSpPr>
          <p:cNvPr id="28" name="Rounded Rectangle 27"/>
          <p:cNvSpPr/>
          <p:nvPr/>
        </p:nvSpPr>
        <p:spPr>
          <a:xfrm>
            <a:off x="1188720" y="4892040"/>
            <a:ext cx="3401568" cy="4069080"/>
          </a:xfrm>
          <a:prstGeom prst="roundRect">
            <a:avLst>
              <a:gd name="adj" fmla="val 6000"/>
            </a:avLst>
          </a:prstGeom>
          <a:solidFill>
            <a:schemeClr val="bg1">
              <a:lumMod val="85000"/>
            </a:schemeClr>
          </a:solidFill>
          <a:ln w="12700">
            <a:solidFill>
              <a:srgbClr val="E9DDC7"/>
            </a:solidFill>
          </a:ln>
        </p:spPr>
        <p:txBody>
          <a:bodyPr rtlCol="0" anchor="ctr"/>
          <a:lstStyle/>
          <a:p>
            <a:endParaRPr/>
          </a:p>
        </p:txBody>
      </p:sp>
      <p:sp>
        <p:nvSpPr>
          <p:cNvPr id="29" name="TextBox 28"/>
          <p:cNvSpPr txBox="1"/>
          <p:nvPr/>
        </p:nvSpPr>
        <p:spPr>
          <a:xfrm>
            <a:off x="1417320" y="5047488"/>
            <a:ext cx="3017520" cy="365760"/>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For merchants</a:t>
            </a:r>
          </a:p>
        </p:txBody>
      </p:sp>
      <p:sp>
        <p:nvSpPr>
          <p:cNvPr id="30" name="TextBox 29"/>
          <p:cNvSpPr txBox="1"/>
          <p:nvPr/>
        </p:nvSpPr>
        <p:spPr>
          <a:xfrm>
            <a:off x="1417320" y="5413248"/>
            <a:ext cx="3017520" cy="685800"/>
          </a:xfrm>
          <a:prstGeom prst="rect">
            <a:avLst/>
          </a:prstGeom>
          <a:noFill/>
        </p:spPr>
        <p:txBody>
          <a:bodyPr wrap="square" lIns="0" tIns="0" rIns="0" bIns="0" anchor="ctr">
            <a:noAutofit/>
          </a:bodyPr>
          <a:lstStyle/>
          <a:p>
            <a:pPr algn="l">
              <a:lnSpc>
                <a:spcPct val="112000"/>
              </a:lnSpc>
              <a:spcAft>
                <a:spcPts val="0"/>
              </a:spcAft>
            </a:pPr>
            <a:r>
              <a:rPr sz="3400" b="0" i="0">
                <a:solidFill>
                  <a:srgbClr val="3D2410"/>
                </a:solidFill>
                <a:latin typeface="Segoe UI Semibold"/>
                <a:cs typeface="Segoe UI Semibold"/>
              </a:rPr>
              <a:t>₹25,712</a:t>
            </a:r>
          </a:p>
        </p:txBody>
      </p:sp>
      <p:sp>
        <p:nvSpPr>
          <p:cNvPr id="31" name="TextBox 30"/>
          <p:cNvSpPr txBox="1"/>
          <p:nvPr/>
        </p:nvSpPr>
        <p:spPr>
          <a:xfrm>
            <a:off x="1417320" y="6108192"/>
            <a:ext cx="3017520" cy="640080"/>
          </a:xfrm>
          <a:prstGeom prst="rect">
            <a:avLst/>
          </a:prstGeom>
          <a:noFill/>
        </p:spPr>
        <p:txBody>
          <a:bodyPr wrap="square" lIns="0" tIns="0" rIns="0" bIns="0" anchor="t">
            <a:noAutofit/>
          </a:bodyPr>
          <a:lstStyle/>
          <a:p>
            <a:pPr algn="l">
              <a:lnSpc>
                <a:spcPct val="105000"/>
              </a:lnSpc>
              <a:spcAft>
                <a:spcPts val="0"/>
              </a:spcAft>
            </a:pPr>
            <a:r>
              <a:rPr sz="1200" b="0" i="0">
                <a:solidFill>
                  <a:srgbClr val="8A6F55"/>
                </a:solidFill>
                <a:latin typeface="Segoe UI"/>
                <a:cs typeface="Segoe UI"/>
              </a:rPr>
              <a:t>found for one supermarket in a year, without being asked</a:t>
            </a:r>
          </a:p>
        </p:txBody>
      </p:sp>
      <p:sp>
        <p:nvSpPr>
          <p:cNvPr id="32" name="TextBox 31"/>
          <p:cNvSpPr txBox="1"/>
          <p:nvPr/>
        </p:nvSpPr>
        <p:spPr>
          <a:xfrm>
            <a:off x="1417320" y="6903720"/>
            <a:ext cx="3017520" cy="2377440"/>
          </a:xfrm>
          <a:prstGeom prst="rect">
            <a:avLst/>
          </a:prstGeom>
          <a:noFill/>
        </p:spPr>
        <p:txBody>
          <a:bodyPr wrap="square" lIns="0" tIns="0" rIns="0" bIns="0" anchor="t">
            <a:noAutofit/>
          </a:bodyPr>
          <a:lstStyle/>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Money back without a complaint</a:t>
            </a:r>
          </a:p>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Answers in their language, by voice</a:t>
            </a:r>
          </a:p>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Decides edge cases from the chat</a:t>
            </a:r>
          </a:p>
        </p:txBody>
      </p:sp>
      <p:sp>
        <p:nvSpPr>
          <p:cNvPr id="33" name="Rounded Rectangle 32"/>
          <p:cNvSpPr/>
          <p:nvPr/>
        </p:nvSpPr>
        <p:spPr>
          <a:xfrm>
            <a:off x="4818888" y="4892040"/>
            <a:ext cx="3401568" cy="4069080"/>
          </a:xfrm>
          <a:prstGeom prst="roundRect">
            <a:avLst>
              <a:gd name="adj" fmla="val 6000"/>
            </a:avLst>
          </a:prstGeom>
          <a:solidFill>
            <a:schemeClr val="bg1">
              <a:lumMod val="85000"/>
            </a:schemeClr>
          </a:solidFill>
          <a:ln w="12700">
            <a:solidFill>
              <a:srgbClr val="E9DDC7"/>
            </a:solidFill>
          </a:ln>
        </p:spPr>
        <p:txBody>
          <a:bodyPr rtlCol="0" anchor="ctr"/>
          <a:lstStyle/>
          <a:p>
            <a:endParaRPr/>
          </a:p>
        </p:txBody>
      </p:sp>
      <p:sp>
        <p:nvSpPr>
          <p:cNvPr id="34" name="TextBox 33"/>
          <p:cNvSpPr txBox="1"/>
          <p:nvPr/>
        </p:nvSpPr>
        <p:spPr>
          <a:xfrm>
            <a:off x="5047488" y="5047488"/>
            <a:ext cx="3017520" cy="365760"/>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For Paytm</a:t>
            </a:r>
          </a:p>
        </p:txBody>
      </p:sp>
      <p:sp>
        <p:nvSpPr>
          <p:cNvPr id="35" name="TextBox 34"/>
          <p:cNvSpPr txBox="1"/>
          <p:nvPr/>
        </p:nvSpPr>
        <p:spPr>
          <a:xfrm>
            <a:off x="5047488" y="5413248"/>
            <a:ext cx="3017520" cy="685800"/>
          </a:xfrm>
          <a:prstGeom prst="rect">
            <a:avLst/>
          </a:prstGeom>
          <a:noFill/>
        </p:spPr>
        <p:txBody>
          <a:bodyPr wrap="square" lIns="0" tIns="0" rIns="0" bIns="0" anchor="ctr">
            <a:noAutofit/>
          </a:bodyPr>
          <a:lstStyle/>
          <a:p>
            <a:pPr algn="l">
              <a:lnSpc>
                <a:spcPct val="112000"/>
              </a:lnSpc>
              <a:spcAft>
                <a:spcPts val="0"/>
              </a:spcAft>
            </a:pPr>
            <a:r>
              <a:rPr sz="3400" b="0" i="0">
                <a:solidFill>
                  <a:srgbClr val="3D2410"/>
                </a:solidFill>
                <a:latin typeface="Segoe UI Semibold"/>
                <a:cs typeface="Segoe UI Semibold"/>
              </a:rPr>
              <a:t>₹1.22 L</a:t>
            </a:r>
          </a:p>
        </p:txBody>
      </p:sp>
      <p:sp>
        <p:nvSpPr>
          <p:cNvPr id="36" name="TextBox 35"/>
          <p:cNvSpPr txBox="1"/>
          <p:nvPr/>
        </p:nvSpPr>
        <p:spPr>
          <a:xfrm>
            <a:off x="5047488" y="6108192"/>
            <a:ext cx="3017520" cy="640080"/>
          </a:xfrm>
          <a:prstGeom prst="rect">
            <a:avLst/>
          </a:prstGeom>
          <a:noFill/>
        </p:spPr>
        <p:txBody>
          <a:bodyPr wrap="square" lIns="0" tIns="0" rIns="0" bIns="0" anchor="t">
            <a:noAutofit/>
          </a:bodyPr>
          <a:lstStyle/>
          <a:p>
            <a:pPr algn="l">
              <a:lnSpc>
                <a:spcPct val="105000"/>
              </a:lnSpc>
              <a:spcAft>
                <a:spcPts val="0"/>
              </a:spcAft>
            </a:pPr>
            <a:r>
              <a:rPr sz="1200" b="0" i="0">
                <a:solidFill>
                  <a:srgbClr val="8A6F55"/>
                </a:solidFill>
                <a:latin typeface="Segoe UI"/>
                <a:cs typeface="Segoe UI"/>
              </a:rPr>
              <a:t>of future leakage stopped at the root</a:t>
            </a:r>
          </a:p>
        </p:txBody>
      </p:sp>
      <p:sp>
        <p:nvSpPr>
          <p:cNvPr id="37" name="TextBox 36"/>
          <p:cNvSpPr txBox="1"/>
          <p:nvPr/>
        </p:nvSpPr>
        <p:spPr>
          <a:xfrm>
            <a:off x="5047488" y="6903720"/>
            <a:ext cx="3017520" cy="2377440"/>
          </a:xfrm>
          <a:prstGeom prst="rect">
            <a:avLst/>
          </a:prstGeom>
          <a:noFill/>
        </p:spPr>
        <p:txBody>
          <a:bodyPr wrap="square" lIns="0" tIns="0" rIns="0" bIns="0" anchor="t">
            <a:noAutofit/>
          </a:bodyPr>
          <a:lstStyle/>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Fewer settlement tickets</a:t>
            </a:r>
          </a:p>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Ops handles only the exceptions</a:t>
            </a:r>
          </a:p>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Spots one fault hitting many merchants, sharing no merchant’s data</a:t>
            </a:r>
          </a:p>
        </p:txBody>
      </p:sp>
      <p:sp>
        <p:nvSpPr>
          <p:cNvPr id="38" name="Rounded Rectangle 37"/>
          <p:cNvSpPr/>
          <p:nvPr/>
        </p:nvSpPr>
        <p:spPr>
          <a:xfrm>
            <a:off x="8449056" y="4892040"/>
            <a:ext cx="3401568" cy="4069080"/>
          </a:xfrm>
          <a:prstGeom prst="roundRect">
            <a:avLst>
              <a:gd name="adj" fmla="val 6000"/>
            </a:avLst>
          </a:prstGeom>
          <a:solidFill>
            <a:schemeClr val="bg1">
              <a:lumMod val="85000"/>
            </a:schemeClr>
          </a:solidFill>
          <a:ln w="12700">
            <a:solidFill>
              <a:srgbClr val="E9DDC7"/>
            </a:solidFill>
          </a:ln>
        </p:spPr>
        <p:txBody>
          <a:bodyPr rtlCol="0" anchor="ctr"/>
          <a:lstStyle/>
          <a:p>
            <a:endParaRPr/>
          </a:p>
        </p:txBody>
      </p:sp>
      <p:sp>
        <p:nvSpPr>
          <p:cNvPr id="39" name="TextBox 38"/>
          <p:cNvSpPr txBox="1"/>
          <p:nvPr/>
        </p:nvSpPr>
        <p:spPr>
          <a:xfrm>
            <a:off x="8677656" y="5047488"/>
            <a:ext cx="3017520" cy="365760"/>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For digital India</a:t>
            </a:r>
          </a:p>
        </p:txBody>
      </p:sp>
      <p:sp>
        <p:nvSpPr>
          <p:cNvPr id="40" name="TextBox 39"/>
          <p:cNvSpPr txBox="1"/>
          <p:nvPr/>
        </p:nvSpPr>
        <p:spPr>
          <a:xfrm>
            <a:off x="8677656" y="5413248"/>
            <a:ext cx="3017520" cy="685800"/>
          </a:xfrm>
          <a:prstGeom prst="rect">
            <a:avLst/>
          </a:prstGeom>
          <a:noFill/>
        </p:spPr>
        <p:txBody>
          <a:bodyPr wrap="square" lIns="0" tIns="0" rIns="0" bIns="0" anchor="ctr">
            <a:noAutofit/>
          </a:bodyPr>
          <a:lstStyle/>
          <a:p>
            <a:pPr algn="l">
              <a:lnSpc>
                <a:spcPct val="112000"/>
              </a:lnSpc>
              <a:spcAft>
                <a:spcPts val="0"/>
              </a:spcAft>
            </a:pPr>
            <a:r>
              <a:rPr sz="3400" b="0" i="0" dirty="0">
                <a:solidFill>
                  <a:srgbClr val="3D2410"/>
                </a:solidFill>
                <a:latin typeface="Segoe UI Semibold"/>
                <a:cs typeface="Segoe UI Semibold"/>
              </a:rPr>
              <a:t>0 </a:t>
            </a:r>
            <a:r>
              <a:rPr lang="en-IN" sz="3400" b="0" i="0" dirty="0">
                <a:solidFill>
                  <a:srgbClr val="3D2410"/>
                </a:solidFill>
                <a:latin typeface="Segoe UI Semibold"/>
                <a:cs typeface="Segoe UI Semibold"/>
              </a:rPr>
              <a:t>F</a:t>
            </a:r>
            <a:r>
              <a:rPr sz="3400" b="0" i="0" dirty="0" err="1">
                <a:solidFill>
                  <a:srgbClr val="3D2410"/>
                </a:solidFill>
                <a:latin typeface="Segoe UI Semibold"/>
                <a:cs typeface="Segoe UI Semibold"/>
              </a:rPr>
              <a:t>alse</a:t>
            </a:r>
            <a:endParaRPr sz="3400" b="0" i="0" dirty="0">
              <a:solidFill>
                <a:srgbClr val="3D2410"/>
              </a:solidFill>
              <a:latin typeface="League Spartan"/>
              <a:cs typeface="League Spartan"/>
            </a:endParaRPr>
          </a:p>
        </p:txBody>
      </p:sp>
      <p:sp>
        <p:nvSpPr>
          <p:cNvPr id="41" name="TextBox 40"/>
          <p:cNvSpPr txBox="1"/>
          <p:nvPr/>
        </p:nvSpPr>
        <p:spPr>
          <a:xfrm>
            <a:off x="8677656" y="6108192"/>
            <a:ext cx="3017520" cy="640080"/>
          </a:xfrm>
          <a:prstGeom prst="rect">
            <a:avLst/>
          </a:prstGeom>
          <a:noFill/>
        </p:spPr>
        <p:txBody>
          <a:bodyPr wrap="square" lIns="0" tIns="0" rIns="0" bIns="0" anchor="t">
            <a:noAutofit/>
          </a:bodyPr>
          <a:lstStyle/>
          <a:p>
            <a:pPr algn="l">
              <a:lnSpc>
                <a:spcPct val="105000"/>
              </a:lnSpc>
              <a:spcAft>
                <a:spcPts val="0"/>
              </a:spcAft>
            </a:pPr>
            <a:r>
              <a:rPr sz="1200" b="0" i="0">
                <a:solidFill>
                  <a:srgbClr val="8A6F55"/>
                </a:solidFill>
                <a:latin typeface="Segoe UI"/>
                <a:cs typeface="Segoe UI"/>
              </a:rPr>
              <a:t>false corrections, so it is safe to run for every merchant</a:t>
            </a:r>
          </a:p>
        </p:txBody>
      </p:sp>
      <p:sp>
        <p:nvSpPr>
          <p:cNvPr id="42" name="TextBox 41"/>
          <p:cNvSpPr txBox="1"/>
          <p:nvPr/>
        </p:nvSpPr>
        <p:spPr>
          <a:xfrm>
            <a:off x="8677656" y="6903720"/>
            <a:ext cx="3017520" cy="2377440"/>
          </a:xfrm>
          <a:prstGeom prst="rect">
            <a:avLst/>
          </a:prstGeom>
          <a:noFill/>
        </p:spPr>
        <p:txBody>
          <a:bodyPr wrap="square" lIns="0" tIns="0" rIns="0" bIns="0" anchor="t">
            <a:noAutofit/>
          </a:bodyPr>
          <a:lstStyle/>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Small merchants keep the nil-charge protection the law gives them</a:t>
            </a:r>
          </a:p>
          <a:p>
            <a:pPr algn="l">
              <a:lnSpc>
                <a:spcPct val="110000"/>
              </a:lnSpc>
              <a:spcAft>
                <a:spcPts val="1000"/>
              </a:spcAft>
            </a:pPr>
            <a:r>
              <a:rPr sz="1000" b="0" i="0">
                <a:solidFill>
                  <a:srgbClr val="E4873B"/>
                </a:solidFill>
                <a:latin typeface="Segoe UI"/>
                <a:cs typeface="Segoe UI"/>
              </a:rPr>
              <a:t>●  </a:t>
            </a:r>
            <a:r>
              <a:rPr sz="1450" b="0" i="0">
                <a:solidFill>
                  <a:srgbClr val="3D2410"/>
                </a:solidFill>
                <a:latin typeface="Segoe UI"/>
                <a:cs typeface="Segoe UI"/>
              </a:rPr>
              <a:t>More shops trust digital payments</a:t>
            </a:r>
          </a:p>
        </p:txBody>
      </p:sp>
      <p:sp>
        <p:nvSpPr>
          <p:cNvPr id="43" name="Rounded Rectangle 42"/>
          <p:cNvSpPr/>
          <p:nvPr/>
        </p:nvSpPr>
        <p:spPr>
          <a:xfrm>
            <a:off x="12573000" y="2395728"/>
            <a:ext cx="3520440" cy="6812280"/>
          </a:xfrm>
          <a:prstGeom prst="roundRect">
            <a:avLst>
              <a:gd name="adj" fmla="val 10000"/>
            </a:avLst>
          </a:prstGeom>
          <a:solidFill>
            <a:srgbClr val="1B1B1F"/>
          </a:solidFill>
          <a:ln>
            <a:noFill/>
          </a:ln>
        </p:spPr>
        <p:txBody>
          <a:bodyPr rtlCol="0" anchor="ctr"/>
          <a:lstStyle/>
          <a:p>
            <a:endParaRPr/>
          </a:p>
        </p:txBody>
      </p:sp>
      <p:pic>
        <p:nvPicPr>
          <p:cNvPr id="63" name="Picture 62" descr="Screenshot of the Munim merchant chat in the Paytm Business app: Paytm's first message, in Hinglish, says Rs 23,252.93 of the Rs 25,712.17 deducted in error is back in the merchant's account, followed by cards for cases that need the merchant's decision"/>
          <p:cNvPicPr>
            <a:picLocks noChangeAspect="1"/>
          </p:cNvPicPr>
          <p:nvPr/>
        </p:nvPicPr>
        <p:blipFill>
          <a:blip r:embed="rId5"/>
          <a:stretch>
            <a:fillRect/>
          </a:stretch>
        </p:blipFill>
        <p:spPr>
          <a:xfrm>
            <a:off x="12798778" y="2523744"/>
            <a:ext cx="3068882" cy="6556248"/>
          </a:xfrm>
          <a:prstGeom prst="rect">
            <a:avLst/>
          </a:prstGeom>
        </p:spPr>
      </p:pic>
      <p:sp>
        <p:nvSpPr>
          <p:cNvPr id="62" name="TextBox 61"/>
          <p:cNvSpPr txBox="1"/>
          <p:nvPr/>
        </p:nvSpPr>
        <p:spPr>
          <a:xfrm>
            <a:off x="12161520" y="9308592"/>
            <a:ext cx="4389120" cy="365760"/>
          </a:xfrm>
          <a:prstGeom prst="rect">
            <a:avLst/>
          </a:prstGeom>
          <a:noFill/>
        </p:spPr>
        <p:txBody>
          <a:bodyPr wrap="square" lIns="0" tIns="0" rIns="0" bIns="0" anchor="t">
            <a:noAutofit/>
          </a:bodyPr>
          <a:lstStyle/>
          <a:p>
            <a:pPr algn="ctr">
              <a:lnSpc>
                <a:spcPct val="112000"/>
              </a:lnSpc>
              <a:spcAft>
                <a:spcPts val="0"/>
              </a:spcAft>
            </a:pPr>
            <a:r>
              <a:rPr sz="1250" b="1" i="0" dirty="0">
                <a:solidFill>
                  <a:srgbClr val="B96A1E"/>
                </a:solidFill>
                <a:latin typeface="Segoe UI"/>
                <a:cs typeface="Segoe UI"/>
              </a:rPr>
              <a:t>The one message the merchant didn’t ask for.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rot="-5400000" flipV="1">
            <a:off x="17692731" y="-932307"/>
            <a:ext cx="1654414" cy="1516546"/>
          </a:xfrm>
          <a:custGeom>
            <a:avLst/>
            <a:gdLst/>
            <a:ahLst/>
            <a:cxnLst/>
            <a:rect l="l" t="t" r="r" b="b"/>
            <a:pathLst>
              <a:path w="3676477" h="3370104">
                <a:moveTo>
                  <a:pt x="0" y="3370104"/>
                </a:moveTo>
                <a:lnTo>
                  <a:pt x="3676476" y="3370104"/>
                </a:lnTo>
                <a:lnTo>
                  <a:pt x="3676476" y="0"/>
                </a:lnTo>
                <a:lnTo>
                  <a:pt x="0" y="0"/>
                </a:lnTo>
                <a:lnTo>
                  <a:pt x="0" y="337010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H="1">
            <a:off x="-846388" y="8793780"/>
            <a:ext cx="2367676" cy="2170370"/>
          </a:xfrm>
          <a:custGeom>
            <a:avLst/>
            <a:gdLst/>
            <a:ahLst/>
            <a:cxnLst/>
            <a:rect l="l" t="t" r="r" b="b"/>
            <a:pathLst>
              <a:path w="5261504" h="4823045">
                <a:moveTo>
                  <a:pt x="5261504" y="0"/>
                </a:moveTo>
                <a:lnTo>
                  <a:pt x="0" y="0"/>
                </a:lnTo>
                <a:lnTo>
                  <a:pt x="0" y="4823045"/>
                </a:lnTo>
                <a:lnTo>
                  <a:pt x="5261504" y="4823045"/>
                </a:lnTo>
                <a:lnTo>
                  <a:pt x="526150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5" name="TextBox 4"/>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RESEARCH AND REFERENCES</a:t>
            </a:r>
          </a:p>
        </p:txBody>
      </p:sp>
      <p:sp>
        <p:nvSpPr>
          <p:cNvPr id="6" name="TextBox 5"/>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a:solidFill>
                  <a:srgbClr val="3D2410"/>
                </a:solidFill>
                <a:latin typeface="Segoe UI"/>
                <a:cs typeface="Segoe UI"/>
              </a:rPr>
              <a:t>Every rate in the engine comes from a source you can check</a:t>
            </a:r>
          </a:p>
        </p:txBody>
      </p:sp>
      <p:sp>
        <p:nvSpPr>
          <p:cNvPr id="7" name="TextBox 6"/>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0" i="0">
                <a:solidFill>
                  <a:srgbClr val="000000"/>
                </a:solidFill>
                <a:latin typeface="Segoe UI"/>
                <a:cs typeface="Segoe UI"/>
              </a:rPr>
              <a:t>We read regulator documents directly where we could, and graded every other source so that a weak one can never trigger a claim.</a:t>
            </a:r>
          </a:p>
        </p:txBody>
      </p:sp>
      <p:sp>
        <p:nvSpPr>
          <p:cNvPr id="8" name="TextBox 7"/>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13</a:t>
            </a:r>
            <a:r>
              <a:rPr sz="1200" b="0" i="0">
                <a:solidFill>
                  <a:srgbClr val="8A6F55"/>
                </a:solidFill>
                <a:latin typeface="Segoe UI"/>
                <a:cs typeface="Segoe UI"/>
              </a:rPr>
              <a:t>   Munim   Paytm Build for India, Track 3</a:t>
            </a:r>
          </a:p>
        </p:txBody>
      </p:sp>
      <p:sp>
        <p:nvSpPr>
          <p:cNvPr id="9" name="Rounded Rectangle 8"/>
          <p:cNvSpPr/>
          <p:nvPr/>
        </p:nvSpPr>
        <p:spPr>
          <a:xfrm>
            <a:off x="1188720" y="2468880"/>
            <a:ext cx="7772400" cy="3246120"/>
          </a:xfrm>
          <a:prstGeom prst="roundRect">
            <a:avLst>
              <a:gd name="adj" fmla="val 5000"/>
            </a:avLst>
          </a:prstGeom>
          <a:solidFill>
            <a:srgbClr val="FFFFFF"/>
          </a:solidFill>
          <a:ln w="12700">
            <a:solidFill>
              <a:srgbClr val="E9DDC7"/>
            </a:solidFill>
          </a:ln>
        </p:spPr>
        <p:txBody>
          <a:bodyPr rtlCol="0" anchor="ctr"/>
          <a:lstStyle/>
          <a:p>
            <a:endParaRPr/>
          </a:p>
        </p:txBody>
      </p:sp>
      <p:sp>
        <p:nvSpPr>
          <p:cNvPr id="10" name="TextBox 9"/>
          <p:cNvSpPr txBox="1"/>
          <p:nvPr/>
        </p:nvSpPr>
        <p:spPr>
          <a:xfrm>
            <a:off x="1463040" y="2651760"/>
            <a:ext cx="7223760" cy="365760"/>
          </a:xfrm>
          <a:prstGeom prst="rect">
            <a:avLst/>
          </a:prstGeom>
          <a:noFill/>
        </p:spPr>
        <p:txBody>
          <a:bodyPr wrap="square" lIns="0" tIns="0" rIns="0" bIns="0" anchor="t">
            <a:noAutofit/>
          </a:bodyPr>
          <a:lstStyle/>
          <a:p>
            <a:pPr algn="l">
              <a:lnSpc>
                <a:spcPct val="112000"/>
              </a:lnSpc>
              <a:spcAft>
                <a:spcPts val="0"/>
              </a:spcAft>
            </a:pPr>
            <a:r>
              <a:rPr sz="1700" b="0" i="0">
                <a:solidFill>
                  <a:srgbClr val="B96A1E"/>
                </a:solidFill>
                <a:latin typeface="Segoe UI Semibold"/>
                <a:cs typeface="Segoe UI Semibold"/>
              </a:rPr>
              <a:t>Who may charge what</a:t>
            </a:r>
          </a:p>
        </p:txBody>
      </p:sp>
      <p:sp>
        <p:nvSpPr>
          <p:cNvPr id="11" name="TextBox 10"/>
          <p:cNvSpPr txBox="1"/>
          <p:nvPr/>
        </p:nvSpPr>
        <p:spPr>
          <a:xfrm>
            <a:off x="1463040" y="3108960"/>
            <a:ext cx="7223760" cy="2514600"/>
          </a:xfrm>
          <a:prstGeom prst="rect">
            <a:avLst/>
          </a:prstGeom>
          <a:noFill/>
        </p:spPr>
        <p:txBody>
          <a:bodyPr wrap="square" lIns="0" tIns="0" rIns="0" bIns="0" anchor="t">
            <a:noAutofit/>
          </a:bodyPr>
          <a:lstStyle/>
          <a:p>
            <a:pPr algn="l">
              <a:lnSpc>
                <a:spcPct val="110000"/>
              </a:lnSpc>
              <a:spcAft>
                <a:spcPts val="100"/>
              </a:spcAft>
            </a:pPr>
            <a:r>
              <a:rPr sz="1400" b="0" i="0">
                <a:solidFill>
                  <a:srgbClr val="3D2410"/>
                </a:solidFill>
                <a:latin typeface="Segoe UI"/>
                <a:cs typeface="Segoe UI"/>
              </a:rPr>
              <a:t>MoF s.10A notification, 14 Sep 2026: UPI up to ₹2,000 and RuPay debit are nil-charge</a:t>
            </a:r>
          </a:p>
          <a:p>
            <a:pPr algn="l">
              <a:lnSpc>
                <a:spcPct val="110000"/>
              </a:lnSpc>
              <a:spcAft>
                <a:spcPts val="900"/>
              </a:spcAft>
            </a:pPr>
            <a:r>
              <a:rPr sz="1100" b="0" i="0">
                <a:solidFill>
                  <a:srgbClr val="8A4B12"/>
                </a:solidFill>
                <a:latin typeface="Segoe UI"/>
                <a:hlinkClick r:id="rId4"/>
              </a:rPr>
              <a:t>scconline.com, 15 Sep 2026</a:t>
            </a:r>
          </a:p>
          <a:p>
            <a:pPr algn="l">
              <a:lnSpc>
                <a:spcPct val="110000"/>
              </a:lnSpc>
              <a:spcAft>
                <a:spcPts val="100"/>
              </a:spcAft>
            </a:pPr>
            <a:r>
              <a:rPr sz="1400" b="0" i="0">
                <a:solidFill>
                  <a:srgbClr val="3D2410"/>
                </a:solidFill>
                <a:latin typeface="Segoe UI"/>
                <a:cs typeface="Segoe UI"/>
              </a:rPr>
              <a:t>RBI/2017-18/105: rationalisation of MDR for debit card transactions</a:t>
            </a:r>
          </a:p>
          <a:p>
            <a:pPr algn="l">
              <a:lnSpc>
                <a:spcPct val="110000"/>
              </a:lnSpc>
              <a:spcAft>
                <a:spcPts val="900"/>
              </a:spcAft>
            </a:pPr>
            <a:r>
              <a:rPr sz="1100" b="0" i="0">
                <a:solidFill>
                  <a:srgbClr val="8A4B12"/>
                </a:solidFill>
                <a:latin typeface="Segoe UI"/>
                <a:hlinkClick r:id="rId5"/>
              </a:rPr>
              <a:t>rbi.org.in/commonman/English/scripts/Notification.aspx?Id=2620</a:t>
            </a:r>
          </a:p>
          <a:p>
            <a:pPr algn="l">
              <a:lnSpc>
                <a:spcPct val="110000"/>
              </a:lnSpc>
              <a:spcAft>
                <a:spcPts val="100"/>
              </a:spcAft>
            </a:pPr>
            <a:r>
              <a:rPr sz="1400" b="0" i="0">
                <a:solidFill>
                  <a:srgbClr val="3D2410"/>
                </a:solidFill>
                <a:latin typeface="Segoe UI"/>
                <a:cs typeface="Segoe UI"/>
              </a:rPr>
              <a:t>NPCI: 0.4% MDR on UPI merchant payments above ₹2,000 from 15 Oct 2026</a:t>
            </a:r>
          </a:p>
          <a:p>
            <a:pPr algn="l">
              <a:lnSpc>
                <a:spcPct val="110000"/>
              </a:lnSpc>
              <a:spcAft>
                <a:spcPts val="900"/>
              </a:spcAft>
            </a:pPr>
            <a:r>
              <a:rPr sz="1100" b="0" i="0">
                <a:solidFill>
                  <a:srgbClr val="8A4B12"/>
                </a:solidFill>
                <a:latin typeface="Segoe UI"/>
                <a:hlinkClick r:id="rId6"/>
              </a:rPr>
              <a:t>business-standard.com (15 Sep 2026)</a:t>
            </a:r>
          </a:p>
        </p:txBody>
      </p:sp>
      <p:sp>
        <p:nvSpPr>
          <p:cNvPr id="12" name="Rounded Rectangle 11"/>
          <p:cNvSpPr/>
          <p:nvPr/>
        </p:nvSpPr>
        <p:spPr>
          <a:xfrm>
            <a:off x="9326880" y="2468880"/>
            <a:ext cx="7772400" cy="3246120"/>
          </a:xfrm>
          <a:prstGeom prst="roundRect">
            <a:avLst>
              <a:gd name="adj" fmla="val 5000"/>
            </a:avLst>
          </a:prstGeom>
          <a:solidFill>
            <a:srgbClr val="FFFFFF"/>
          </a:solidFill>
          <a:ln w="12700">
            <a:solidFill>
              <a:srgbClr val="E9DDC7"/>
            </a:solidFill>
          </a:ln>
        </p:spPr>
        <p:txBody>
          <a:bodyPr rtlCol="0" anchor="ctr"/>
          <a:lstStyle/>
          <a:p>
            <a:endParaRPr/>
          </a:p>
        </p:txBody>
      </p:sp>
      <p:sp>
        <p:nvSpPr>
          <p:cNvPr id="13" name="TextBox 12"/>
          <p:cNvSpPr txBox="1"/>
          <p:nvPr/>
        </p:nvSpPr>
        <p:spPr>
          <a:xfrm>
            <a:off x="9601200" y="2651760"/>
            <a:ext cx="7223760" cy="365760"/>
          </a:xfrm>
          <a:prstGeom prst="rect">
            <a:avLst/>
          </a:prstGeom>
          <a:noFill/>
        </p:spPr>
        <p:txBody>
          <a:bodyPr wrap="square" lIns="0" tIns="0" rIns="0" bIns="0" anchor="t">
            <a:noAutofit/>
          </a:bodyPr>
          <a:lstStyle/>
          <a:p>
            <a:pPr algn="l">
              <a:lnSpc>
                <a:spcPct val="112000"/>
              </a:lnSpc>
              <a:spcAft>
                <a:spcPts val="0"/>
              </a:spcAft>
            </a:pPr>
            <a:r>
              <a:rPr sz="1700" b="0" i="0">
                <a:solidFill>
                  <a:srgbClr val="B96A1E"/>
                </a:solidFill>
                <a:latin typeface="Segoe UI Semibold"/>
                <a:cs typeface="Segoe UI Semibold"/>
              </a:rPr>
              <a:t>GST, TCS and TDS</a:t>
            </a:r>
          </a:p>
        </p:txBody>
      </p:sp>
      <p:sp>
        <p:nvSpPr>
          <p:cNvPr id="14" name="TextBox 13"/>
          <p:cNvSpPr txBox="1"/>
          <p:nvPr/>
        </p:nvSpPr>
        <p:spPr>
          <a:xfrm>
            <a:off x="9601200" y="3108960"/>
            <a:ext cx="7223760" cy="2514600"/>
          </a:xfrm>
          <a:prstGeom prst="rect">
            <a:avLst/>
          </a:prstGeom>
          <a:noFill/>
        </p:spPr>
        <p:txBody>
          <a:bodyPr wrap="square" lIns="0" tIns="0" rIns="0" bIns="0" anchor="t">
            <a:noAutofit/>
          </a:bodyPr>
          <a:lstStyle/>
          <a:p>
            <a:pPr algn="l">
              <a:lnSpc>
                <a:spcPct val="110000"/>
              </a:lnSpc>
              <a:spcAft>
                <a:spcPts val="100"/>
              </a:spcAft>
            </a:pPr>
            <a:r>
              <a:rPr sz="1400" b="0" i="0">
                <a:solidFill>
                  <a:srgbClr val="3D2410"/>
                </a:solidFill>
                <a:latin typeface="Segoe UI"/>
                <a:cs typeface="Segoe UI"/>
              </a:rPr>
              <a:t>CBIC Circular 194/06/2023-GST: TCS where multiple e-commerce operators are involved</a:t>
            </a:r>
          </a:p>
          <a:p>
            <a:pPr algn="l">
              <a:lnSpc>
                <a:spcPct val="110000"/>
              </a:lnSpc>
              <a:spcAft>
                <a:spcPts val="900"/>
              </a:spcAft>
            </a:pPr>
            <a:r>
              <a:rPr sz="1100" b="0" i="0">
                <a:solidFill>
                  <a:srgbClr val="8A4B12"/>
                </a:solidFill>
                <a:latin typeface="Segoe UI"/>
                <a:hlinkClick r:id="rId7"/>
              </a:rPr>
              <a:t>gstcouncil.gov.in/sites/default/files/2024-06/circular-cgst-194.pdf</a:t>
            </a:r>
          </a:p>
          <a:p>
            <a:pPr algn="l">
              <a:lnSpc>
                <a:spcPct val="110000"/>
              </a:lnSpc>
              <a:spcAft>
                <a:spcPts val="100"/>
              </a:spcAft>
            </a:pPr>
            <a:r>
              <a:rPr sz="1400" b="0" i="0">
                <a:solidFill>
                  <a:srgbClr val="3D2410"/>
                </a:solidFill>
                <a:latin typeface="Segoe UI"/>
                <a:cs typeface="Segoe UI"/>
              </a:rPr>
              <a:t>CBDT guidelines on s.194-O TDS for payment gateways</a:t>
            </a:r>
          </a:p>
          <a:p>
            <a:pPr algn="l">
              <a:lnSpc>
                <a:spcPct val="110000"/>
              </a:lnSpc>
              <a:spcAft>
                <a:spcPts val="900"/>
              </a:spcAft>
            </a:pPr>
            <a:r>
              <a:rPr sz="1100" b="0" i="0">
                <a:solidFill>
                  <a:srgbClr val="8A4B12"/>
                </a:solidFill>
                <a:latin typeface="Segoe UI"/>
                <a:hlinkClick r:id="rId8"/>
              </a:rPr>
              <a:t>bdo.in, alerts and updates</a:t>
            </a:r>
          </a:p>
          <a:p>
            <a:pPr algn="l">
              <a:lnSpc>
                <a:spcPct val="110000"/>
              </a:lnSpc>
              <a:spcAft>
                <a:spcPts val="100"/>
              </a:spcAft>
            </a:pPr>
            <a:r>
              <a:rPr sz="1400" b="0" i="0">
                <a:solidFill>
                  <a:srgbClr val="3D2410"/>
                </a:solidFill>
                <a:latin typeface="Segoe UI"/>
                <a:cs typeface="Segoe UI"/>
              </a:rPr>
              <a:t>RBI (Regulation of Payment Aggregators) Directions, 2025</a:t>
            </a:r>
          </a:p>
          <a:p>
            <a:pPr algn="l">
              <a:lnSpc>
                <a:spcPct val="110000"/>
              </a:lnSpc>
              <a:spcAft>
                <a:spcPts val="900"/>
              </a:spcAft>
            </a:pPr>
            <a:r>
              <a:rPr sz="1100" b="0" i="0">
                <a:solidFill>
                  <a:srgbClr val="8A4B12"/>
                </a:solidFill>
                <a:latin typeface="Segoe UI"/>
                <a:hlinkClick r:id="rId9"/>
              </a:rPr>
              <a:t>taxguru.in/rbi/rbi-regulation-payment-aggregators-directions-2025.html</a:t>
            </a:r>
          </a:p>
        </p:txBody>
      </p:sp>
      <p:sp>
        <p:nvSpPr>
          <p:cNvPr id="15" name="Rounded Rectangle 14"/>
          <p:cNvSpPr/>
          <p:nvPr/>
        </p:nvSpPr>
        <p:spPr>
          <a:xfrm>
            <a:off x="1188720" y="5989320"/>
            <a:ext cx="4983480" cy="3337560"/>
          </a:xfrm>
          <a:prstGeom prst="roundRect">
            <a:avLst>
              <a:gd name="adj" fmla="val 5000"/>
            </a:avLst>
          </a:prstGeom>
          <a:solidFill>
            <a:srgbClr val="FFFFFF"/>
          </a:solidFill>
          <a:ln w="12700">
            <a:solidFill>
              <a:srgbClr val="E9DDC7"/>
            </a:solidFill>
          </a:ln>
        </p:spPr>
        <p:txBody>
          <a:bodyPr rtlCol="0" anchor="ctr"/>
          <a:lstStyle/>
          <a:p>
            <a:endParaRPr/>
          </a:p>
        </p:txBody>
      </p:sp>
      <p:sp>
        <p:nvSpPr>
          <p:cNvPr id="16" name="TextBox 15"/>
          <p:cNvSpPr txBox="1"/>
          <p:nvPr/>
        </p:nvSpPr>
        <p:spPr>
          <a:xfrm>
            <a:off x="1463040" y="6172200"/>
            <a:ext cx="4434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B96A1E"/>
                </a:solidFill>
                <a:latin typeface="Segoe UI Semibold"/>
                <a:cs typeface="Segoe UI Semibold"/>
              </a:rPr>
              <a:t>The Paytm data we read</a:t>
            </a:r>
          </a:p>
        </p:txBody>
      </p:sp>
      <p:sp>
        <p:nvSpPr>
          <p:cNvPr id="17" name="TextBox 16"/>
          <p:cNvSpPr txBox="1"/>
          <p:nvPr/>
        </p:nvSpPr>
        <p:spPr>
          <a:xfrm>
            <a:off x="1463040" y="6629400"/>
            <a:ext cx="4434840" cy="2606039"/>
          </a:xfrm>
          <a:prstGeom prst="rect">
            <a:avLst/>
          </a:prstGeom>
          <a:noFill/>
        </p:spPr>
        <p:txBody>
          <a:bodyPr wrap="square" lIns="0" tIns="0" rIns="0" bIns="0" anchor="t">
            <a:noAutofit/>
          </a:bodyPr>
          <a:lstStyle/>
          <a:p>
            <a:pPr algn="l">
              <a:lnSpc>
                <a:spcPct val="110000"/>
              </a:lnSpc>
              <a:spcAft>
                <a:spcPts val="100"/>
              </a:spcAft>
            </a:pPr>
            <a:r>
              <a:rPr sz="1400" b="0" i="0">
                <a:solidFill>
                  <a:srgbClr val="3D2410"/>
                </a:solidFill>
                <a:latin typeface="Segoe UI"/>
                <a:cs typeface="Segoe UI"/>
              </a:rPr>
              <a:t>Settlement reports on the Paytm dashboard: the columns our importer reads</a:t>
            </a:r>
          </a:p>
          <a:p>
            <a:pPr algn="l">
              <a:lnSpc>
                <a:spcPct val="110000"/>
              </a:lnSpc>
              <a:spcAft>
                <a:spcPts val="900"/>
              </a:spcAft>
            </a:pPr>
            <a:r>
              <a:rPr sz="1100" b="0" i="0">
                <a:solidFill>
                  <a:srgbClr val="8A4B12"/>
                </a:solidFill>
                <a:latin typeface="Segoe UI"/>
                <a:hlinkClick r:id="rId10"/>
              </a:rPr>
              <a:t>paytmpayments.com/docs/settlement-reports-on-dashboard</a:t>
            </a:r>
          </a:p>
        </p:txBody>
      </p:sp>
      <p:sp>
        <p:nvSpPr>
          <p:cNvPr id="18" name="Rounded Rectangle 17"/>
          <p:cNvSpPr/>
          <p:nvPr/>
        </p:nvSpPr>
        <p:spPr>
          <a:xfrm>
            <a:off x="6446520" y="5989320"/>
            <a:ext cx="5577840" cy="3337560"/>
          </a:xfrm>
          <a:prstGeom prst="roundRect">
            <a:avLst>
              <a:gd name="adj" fmla="val 5000"/>
            </a:avLst>
          </a:prstGeom>
          <a:solidFill>
            <a:srgbClr val="FFFFFF"/>
          </a:solidFill>
          <a:ln w="12700">
            <a:solidFill>
              <a:srgbClr val="E9DDC7"/>
            </a:solidFill>
          </a:ln>
        </p:spPr>
        <p:txBody>
          <a:bodyPr rtlCol="0" anchor="ctr"/>
          <a:lstStyle/>
          <a:p>
            <a:endParaRPr/>
          </a:p>
        </p:txBody>
      </p:sp>
      <p:sp>
        <p:nvSpPr>
          <p:cNvPr id="19" name="TextBox 18"/>
          <p:cNvSpPr txBox="1"/>
          <p:nvPr/>
        </p:nvSpPr>
        <p:spPr>
          <a:xfrm>
            <a:off x="6720840" y="6172200"/>
            <a:ext cx="5029200" cy="365760"/>
          </a:xfrm>
          <a:prstGeom prst="rect">
            <a:avLst/>
          </a:prstGeom>
          <a:noFill/>
        </p:spPr>
        <p:txBody>
          <a:bodyPr wrap="square" lIns="0" tIns="0" rIns="0" bIns="0" anchor="t">
            <a:noAutofit/>
          </a:bodyPr>
          <a:lstStyle/>
          <a:p>
            <a:pPr algn="l">
              <a:lnSpc>
                <a:spcPct val="112000"/>
              </a:lnSpc>
              <a:spcAft>
                <a:spcPts val="0"/>
              </a:spcAft>
            </a:pPr>
            <a:r>
              <a:rPr sz="1700" b="0" i="0">
                <a:solidFill>
                  <a:srgbClr val="B96A1E"/>
                </a:solidFill>
                <a:latin typeface="Segoe UI Semibold"/>
                <a:cs typeface="Segoe UI Semibold"/>
              </a:rPr>
              <a:t>Sponsors and models</a:t>
            </a:r>
          </a:p>
        </p:txBody>
      </p:sp>
      <p:sp>
        <p:nvSpPr>
          <p:cNvPr id="20" name="TextBox 19"/>
          <p:cNvSpPr txBox="1"/>
          <p:nvPr/>
        </p:nvSpPr>
        <p:spPr>
          <a:xfrm>
            <a:off x="6720840" y="6629400"/>
            <a:ext cx="5029200" cy="2606039"/>
          </a:xfrm>
          <a:prstGeom prst="rect">
            <a:avLst/>
          </a:prstGeom>
          <a:noFill/>
        </p:spPr>
        <p:txBody>
          <a:bodyPr wrap="square" lIns="0" tIns="0" rIns="0" bIns="0" anchor="t">
            <a:noAutofit/>
          </a:bodyPr>
          <a:lstStyle/>
          <a:p>
            <a:pPr algn="l">
              <a:lnSpc>
                <a:spcPct val="110000"/>
              </a:lnSpc>
              <a:spcAft>
                <a:spcPts val="100"/>
              </a:spcAft>
            </a:pPr>
            <a:r>
              <a:rPr sz="1400" b="0" i="0">
                <a:solidFill>
                  <a:srgbClr val="3D2410"/>
                </a:solidFill>
                <a:latin typeface="Segoe UI"/>
                <a:cs typeface="Segoe UI"/>
              </a:rPr>
              <a:t>n8n: workflow automation for the claim lifecycle</a:t>
            </a:r>
          </a:p>
          <a:p>
            <a:pPr algn="l">
              <a:lnSpc>
                <a:spcPct val="110000"/>
              </a:lnSpc>
              <a:spcAft>
                <a:spcPts val="900"/>
              </a:spcAft>
            </a:pPr>
            <a:r>
              <a:rPr sz="1100" b="0" i="0">
                <a:solidFill>
                  <a:srgbClr val="8A4B12"/>
                </a:solidFill>
                <a:latin typeface="Segoe UI"/>
                <a:hlinkClick r:id="rId11"/>
              </a:rPr>
              <a:t>docs.n8n.io</a:t>
            </a:r>
          </a:p>
          <a:p>
            <a:pPr algn="l">
              <a:lnSpc>
                <a:spcPct val="110000"/>
              </a:lnSpc>
              <a:spcAft>
                <a:spcPts val="100"/>
              </a:spcAft>
            </a:pPr>
            <a:r>
              <a:rPr sz="1400" b="0" i="0">
                <a:solidFill>
                  <a:srgbClr val="3D2410"/>
                </a:solidFill>
                <a:latin typeface="Segoe UI"/>
                <a:cs typeface="Segoe UI"/>
              </a:rPr>
              <a:t>Cognee: memory graph for agents</a:t>
            </a:r>
          </a:p>
          <a:p>
            <a:pPr algn="l">
              <a:lnSpc>
                <a:spcPct val="110000"/>
              </a:lnSpc>
              <a:spcAft>
                <a:spcPts val="900"/>
              </a:spcAft>
            </a:pPr>
            <a:r>
              <a:rPr sz="1100" b="0" i="0">
                <a:solidFill>
                  <a:srgbClr val="8A4B12"/>
                </a:solidFill>
                <a:latin typeface="Segoe UI"/>
                <a:hlinkClick r:id="rId12"/>
              </a:rPr>
              <a:t>docs.cognee.ai</a:t>
            </a:r>
          </a:p>
          <a:p>
            <a:pPr algn="l">
              <a:lnSpc>
                <a:spcPct val="110000"/>
              </a:lnSpc>
              <a:spcAft>
                <a:spcPts val="100"/>
              </a:spcAft>
            </a:pPr>
            <a:r>
              <a:rPr sz="1400" b="0" i="0">
                <a:solidFill>
                  <a:srgbClr val="3D2410"/>
                </a:solidFill>
                <a:latin typeface="Segoe UI"/>
                <a:cs typeface="Segoe UI"/>
              </a:rPr>
              <a:t>Sarvam AI: chat, translate, speech-to-text, text-to-speech</a:t>
            </a:r>
          </a:p>
          <a:p>
            <a:pPr algn="l">
              <a:lnSpc>
                <a:spcPct val="110000"/>
              </a:lnSpc>
              <a:spcAft>
                <a:spcPts val="900"/>
              </a:spcAft>
            </a:pPr>
            <a:r>
              <a:rPr sz="1100" b="0" i="0">
                <a:solidFill>
                  <a:srgbClr val="8A4B12"/>
                </a:solidFill>
                <a:latin typeface="Segoe UI"/>
                <a:hlinkClick r:id="rId13"/>
              </a:rPr>
              <a:t>docs.sarvam.ai</a:t>
            </a:r>
          </a:p>
          <a:p>
            <a:pPr algn="l">
              <a:lnSpc>
                <a:spcPct val="110000"/>
              </a:lnSpc>
              <a:spcAft>
                <a:spcPts val="100"/>
              </a:spcAft>
            </a:pPr>
            <a:r>
              <a:rPr sz="1400" b="0" i="0">
                <a:solidFill>
                  <a:srgbClr val="3D2410"/>
                </a:solidFill>
                <a:latin typeface="Segoe UI"/>
                <a:cs typeface="Segoe UI"/>
              </a:rPr>
              <a:t>Gemma 3 on Ollama: on-device backup model</a:t>
            </a:r>
          </a:p>
          <a:p>
            <a:pPr algn="l">
              <a:lnSpc>
                <a:spcPct val="110000"/>
              </a:lnSpc>
              <a:spcAft>
                <a:spcPts val="900"/>
              </a:spcAft>
            </a:pPr>
            <a:r>
              <a:rPr sz="1100" b="0" i="0">
                <a:solidFill>
                  <a:srgbClr val="8A4B12"/>
                </a:solidFill>
                <a:latin typeface="Segoe UI"/>
                <a:hlinkClick r:id="rId14"/>
              </a:rPr>
              <a:t>ollama.com/library/gemma3</a:t>
            </a:r>
          </a:p>
        </p:txBody>
      </p:sp>
      <p:sp>
        <p:nvSpPr>
          <p:cNvPr id="21" name="Rounded Rectangle 20"/>
          <p:cNvSpPr/>
          <p:nvPr/>
        </p:nvSpPr>
        <p:spPr>
          <a:xfrm>
            <a:off x="1463040" y="7543800"/>
            <a:ext cx="1528876"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Transaction ID</a:t>
            </a:r>
          </a:p>
        </p:txBody>
      </p:sp>
      <p:sp>
        <p:nvSpPr>
          <p:cNvPr id="22" name="Rounded Rectangle 21"/>
          <p:cNvSpPr/>
          <p:nvPr/>
        </p:nvSpPr>
        <p:spPr>
          <a:xfrm>
            <a:off x="3083356" y="7543800"/>
            <a:ext cx="991209"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Order ID</a:t>
            </a:r>
          </a:p>
        </p:txBody>
      </p:sp>
      <p:sp>
        <p:nvSpPr>
          <p:cNvPr id="23" name="Rounded Rectangle 22"/>
          <p:cNvSpPr/>
          <p:nvPr/>
        </p:nvSpPr>
        <p:spPr>
          <a:xfrm>
            <a:off x="4166006" y="7543800"/>
            <a:ext cx="811987"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Amount</a:t>
            </a:r>
          </a:p>
        </p:txBody>
      </p:sp>
      <p:sp>
        <p:nvSpPr>
          <p:cNvPr id="24" name="Rounded Rectangle 23"/>
          <p:cNvSpPr/>
          <p:nvPr/>
        </p:nvSpPr>
        <p:spPr>
          <a:xfrm>
            <a:off x="1463040" y="8001000"/>
            <a:ext cx="1170432"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Commission</a:t>
            </a:r>
          </a:p>
        </p:txBody>
      </p:sp>
      <p:sp>
        <p:nvSpPr>
          <p:cNvPr id="25" name="Rounded Rectangle 24"/>
          <p:cNvSpPr/>
          <p:nvPr/>
        </p:nvSpPr>
        <p:spPr>
          <a:xfrm>
            <a:off x="2724912" y="8001000"/>
            <a:ext cx="543153"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GST</a:t>
            </a:r>
          </a:p>
        </p:txBody>
      </p:sp>
      <p:sp>
        <p:nvSpPr>
          <p:cNvPr id="26" name="Rounded Rectangle 25"/>
          <p:cNvSpPr/>
          <p:nvPr/>
        </p:nvSpPr>
        <p:spPr>
          <a:xfrm>
            <a:off x="3359505" y="8001000"/>
            <a:ext cx="1528876"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Settled Amount</a:t>
            </a:r>
          </a:p>
        </p:txBody>
      </p:sp>
      <p:sp>
        <p:nvSpPr>
          <p:cNvPr id="27" name="Rounded Rectangle 26"/>
          <p:cNvSpPr/>
          <p:nvPr/>
        </p:nvSpPr>
        <p:spPr>
          <a:xfrm>
            <a:off x="1463040" y="8458200"/>
            <a:ext cx="1349654"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Settled Date</a:t>
            </a:r>
          </a:p>
        </p:txBody>
      </p:sp>
      <p:sp>
        <p:nvSpPr>
          <p:cNvPr id="28" name="Rounded Rectangle 27"/>
          <p:cNvSpPr/>
          <p:nvPr/>
        </p:nvSpPr>
        <p:spPr>
          <a:xfrm>
            <a:off x="2904134" y="8458200"/>
            <a:ext cx="901598"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UTR No.</a:t>
            </a:r>
          </a:p>
        </p:txBody>
      </p:sp>
      <p:sp>
        <p:nvSpPr>
          <p:cNvPr id="29" name="Rounded Rectangle 28"/>
          <p:cNvSpPr/>
          <p:nvPr/>
        </p:nvSpPr>
        <p:spPr>
          <a:xfrm>
            <a:off x="3897172" y="8458200"/>
            <a:ext cx="1349654"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Payment Mode</a:t>
            </a:r>
          </a:p>
        </p:txBody>
      </p:sp>
      <p:sp>
        <p:nvSpPr>
          <p:cNvPr id="30" name="Rounded Rectangle 29"/>
          <p:cNvSpPr/>
          <p:nvPr/>
        </p:nvSpPr>
        <p:spPr>
          <a:xfrm>
            <a:off x="5338267" y="8458200"/>
            <a:ext cx="543153" cy="365760"/>
          </a:xfrm>
          <a:prstGeom prst="roundRect">
            <a:avLst>
              <a:gd name="adj" fmla="val 50000"/>
            </a:avLst>
          </a:prstGeom>
          <a:solidFill>
            <a:srgbClr val="FDF3D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a:cs typeface="Segoe UI"/>
              </a:rPr>
              <a:t>MID</a:t>
            </a:r>
          </a:p>
        </p:txBody>
      </p:sp>
      <p:sp>
        <p:nvSpPr>
          <p:cNvPr id="31" name="Rounded Rectangle 30"/>
          <p:cNvSpPr/>
          <p:nvPr/>
        </p:nvSpPr>
        <p:spPr>
          <a:xfrm>
            <a:off x="12298680" y="5989320"/>
            <a:ext cx="4800600" cy="3337560"/>
          </a:xfrm>
          <a:prstGeom prst="roundRect">
            <a:avLst>
              <a:gd name="adj" fmla="val 5000"/>
            </a:avLst>
          </a:prstGeom>
          <a:solidFill>
            <a:schemeClr val="tx2">
              <a:lumMod val="20000"/>
              <a:lumOff val="80000"/>
            </a:schemeClr>
          </a:solidFill>
          <a:ln>
            <a:noFill/>
          </a:ln>
        </p:spPr>
        <p:txBody>
          <a:bodyPr rtlCol="0" anchor="ctr"/>
          <a:lstStyle/>
          <a:p>
            <a:endParaRPr/>
          </a:p>
        </p:txBody>
      </p:sp>
      <p:sp>
        <p:nvSpPr>
          <p:cNvPr id="32" name="TextBox 31"/>
          <p:cNvSpPr txBox="1"/>
          <p:nvPr/>
        </p:nvSpPr>
        <p:spPr>
          <a:xfrm>
            <a:off x="12573000" y="6172200"/>
            <a:ext cx="4251960" cy="365760"/>
          </a:xfrm>
          <a:prstGeom prst="rect">
            <a:avLst/>
          </a:prstGeom>
          <a:noFill/>
        </p:spPr>
        <p:txBody>
          <a:bodyPr wrap="square" lIns="0" tIns="0" rIns="0" bIns="0" anchor="t">
            <a:noAutofit/>
          </a:bodyPr>
          <a:lstStyle/>
          <a:p>
            <a:pPr algn="l">
              <a:lnSpc>
                <a:spcPct val="112000"/>
              </a:lnSpc>
              <a:spcAft>
                <a:spcPts val="0"/>
              </a:spcAft>
            </a:pPr>
            <a:r>
              <a:rPr sz="1600" b="0" i="0" dirty="0">
                <a:solidFill>
                  <a:schemeClr val="accent2"/>
                </a:solidFill>
                <a:latin typeface="Segoe UI Semibold"/>
                <a:cs typeface="Segoe UI Semibold"/>
              </a:rPr>
              <a:t>How we graded each source</a:t>
            </a:r>
          </a:p>
        </p:txBody>
      </p:sp>
      <p:sp>
        <p:nvSpPr>
          <p:cNvPr id="33" name="Rounded Rectangle 32"/>
          <p:cNvSpPr/>
          <p:nvPr/>
        </p:nvSpPr>
        <p:spPr>
          <a:xfrm>
            <a:off x="12573000" y="6720840"/>
            <a:ext cx="1463040" cy="384048"/>
          </a:xfrm>
          <a:prstGeom prst="roundRect">
            <a:avLst>
              <a:gd name="adj" fmla="val 50000"/>
            </a:avLst>
          </a:prstGeom>
          <a:solidFill>
            <a:srgbClr val="8CCBA3"/>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Semibold"/>
                <a:cs typeface="Segoe UI Semibold"/>
              </a:rPr>
              <a:t>PRIMARY</a:t>
            </a:r>
          </a:p>
        </p:txBody>
      </p:sp>
      <p:sp>
        <p:nvSpPr>
          <p:cNvPr id="34" name="TextBox 33"/>
          <p:cNvSpPr txBox="1"/>
          <p:nvPr/>
        </p:nvSpPr>
        <p:spPr>
          <a:xfrm>
            <a:off x="14173200" y="6647688"/>
            <a:ext cx="2697480" cy="548640"/>
          </a:xfrm>
          <a:prstGeom prst="rect">
            <a:avLst/>
          </a:prstGeom>
          <a:noFill/>
        </p:spPr>
        <p:txBody>
          <a:bodyPr wrap="square" lIns="0" tIns="0" rIns="0" bIns="0" anchor="ctr">
            <a:noAutofit/>
          </a:bodyPr>
          <a:lstStyle/>
          <a:p>
            <a:pPr algn="l">
              <a:lnSpc>
                <a:spcPct val="105000"/>
              </a:lnSpc>
              <a:spcAft>
                <a:spcPts val="0"/>
              </a:spcAft>
            </a:pPr>
            <a:r>
              <a:rPr sz="1200" b="0" i="0" dirty="0">
                <a:solidFill>
                  <a:srgbClr val="420000"/>
                </a:solidFill>
                <a:latin typeface="Segoe UI"/>
                <a:cs typeface="Segoe UI"/>
              </a:rPr>
              <a:t>regulator or issuer document, read directly</a:t>
            </a:r>
          </a:p>
        </p:txBody>
      </p:sp>
      <p:sp>
        <p:nvSpPr>
          <p:cNvPr id="35" name="Rounded Rectangle 34"/>
          <p:cNvSpPr/>
          <p:nvPr/>
        </p:nvSpPr>
        <p:spPr>
          <a:xfrm>
            <a:off x="12573000" y="7379208"/>
            <a:ext cx="1463040" cy="384048"/>
          </a:xfrm>
          <a:prstGeom prst="roundRect">
            <a:avLst>
              <a:gd name="adj" fmla="val 50000"/>
            </a:avLst>
          </a:prstGeom>
          <a:solidFill>
            <a:srgbClr val="F4C542"/>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Semibold"/>
                <a:cs typeface="Segoe UI Semibold"/>
              </a:rPr>
              <a:t>SECONDARY</a:t>
            </a:r>
          </a:p>
        </p:txBody>
      </p:sp>
      <p:sp>
        <p:nvSpPr>
          <p:cNvPr id="36" name="TextBox 35"/>
          <p:cNvSpPr txBox="1"/>
          <p:nvPr/>
        </p:nvSpPr>
        <p:spPr>
          <a:xfrm>
            <a:off x="14173200" y="7306056"/>
            <a:ext cx="2697480" cy="548640"/>
          </a:xfrm>
          <a:prstGeom prst="rect">
            <a:avLst/>
          </a:prstGeom>
          <a:noFill/>
        </p:spPr>
        <p:txBody>
          <a:bodyPr wrap="square" lIns="0" tIns="0" rIns="0" bIns="0" anchor="ctr">
            <a:noAutofit/>
          </a:bodyPr>
          <a:lstStyle/>
          <a:p>
            <a:pPr algn="l">
              <a:lnSpc>
                <a:spcPct val="105000"/>
              </a:lnSpc>
              <a:spcAft>
                <a:spcPts val="0"/>
              </a:spcAft>
            </a:pPr>
            <a:r>
              <a:rPr sz="1200" b="0" i="0" dirty="0">
                <a:solidFill>
                  <a:srgbClr val="420000"/>
                </a:solidFill>
                <a:latin typeface="Segoe UI"/>
                <a:cs typeface="Segoe UI"/>
              </a:rPr>
              <a:t>reputable press reporting a circular</a:t>
            </a:r>
          </a:p>
        </p:txBody>
      </p:sp>
      <p:sp>
        <p:nvSpPr>
          <p:cNvPr id="37" name="Rounded Rectangle 36"/>
          <p:cNvSpPr/>
          <p:nvPr/>
        </p:nvSpPr>
        <p:spPr>
          <a:xfrm>
            <a:off x="12573000" y="8037576"/>
            <a:ext cx="1463040" cy="384048"/>
          </a:xfrm>
          <a:prstGeom prst="roundRect">
            <a:avLst>
              <a:gd name="adj" fmla="val 50000"/>
            </a:avLst>
          </a:prstGeom>
          <a:solidFill>
            <a:srgbClr val="F28B7D"/>
          </a:solidFill>
          <a:ln>
            <a:noFill/>
          </a:ln>
        </p:spPr>
        <p:txBody>
          <a:bodyPr wrap="square" lIns="0" tIns="0" rIns="0" bIns="0" rtlCol="0" anchor="ctr">
            <a:noAutofit/>
          </a:bodyPr>
          <a:lstStyle/>
          <a:p>
            <a:pPr algn="ctr">
              <a:lnSpc>
                <a:spcPct val="112000"/>
              </a:lnSpc>
              <a:spcAft>
                <a:spcPts val="0"/>
              </a:spcAft>
            </a:pPr>
            <a:r>
              <a:rPr sz="1150" b="0" i="0">
                <a:solidFill>
                  <a:srgbClr val="3D2410"/>
                </a:solidFill>
                <a:latin typeface="Segoe UI Semibold"/>
                <a:cs typeface="Segoe UI Semibold"/>
              </a:rPr>
              <a:t>ASSUMED</a:t>
            </a:r>
          </a:p>
        </p:txBody>
      </p:sp>
      <p:sp>
        <p:nvSpPr>
          <p:cNvPr id="38" name="TextBox 37"/>
          <p:cNvSpPr txBox="1"/>
          <p:nvPr/>
        </p:nvSpPr>
        <p:spPr>
          <a:xfrm>
            <a:off x="14173200" y="7964424"/>
            <a:ext cx="2697480" cy="548640"/>
          </a:xfrm>
          <a:prstGeom prst="rect">
            <a:avLst/>
          </a:prstGeom>
          <a:noFill/>
        </p:spPr>
        <p:txBody>
          <a:bodyPr wrap="square" lIns="0" tIns="0" rIns="0" bIns="0" anchor="ctr">
            <a:noAutofit/>
          </a:bodyPr>
          <a:lstStyle/>
          <a:p>
            <a:pPr algn="l">
              <a:lnSpc>
                <a:spcPct val="105000"/>
              </a:lnSpc>
              <a:spcAft>
                <a:spcPts val="0"/>
              </a:spcAft>
            </a:pPr>
            <a:r>
              <a:rPr sz="1200" b="0" i="0" dirty="0">
                <a:solidFill>
                  <a:srgbClr val="420000"/>
                </a:solidFill>
                <a:latin typeface="Segoe UI"/>
                <a:cs typeface="Segoe UI"/>
              </a:rPr>
              <a:t>our inference: can never auto-file a claim</a:t>
            </a:r>
          </a:p>
        </p:txBody>
      </p:sp>
      <p:sp>
        <p:nvSpPr>
          <p:cNvPr id="39" name="TextBox 38"/>
          <p:cNvSpPr txBox="1"/>
          <p:nvPr/>
        </p:nvSpPr>
        <p:spPr>
          <a:xfrm>
            <a:off x="12573000" y="8714232"/>
            <a:ext cx="4251960" cy="548640"/>
          </a:xfrm>
          <a:prstGeom prst="rect">
            <a:avLst/>
          </a:prstGeom>
          <a:noFill/>
        </p:spPr>
        <p:txBody>
          <a:bodyPr wrap="square" lIns="0" tIns="0" rIns="0" bIns="0" anchor="t">
            <a:noAutofit/>
          </a:bodyPr>
          <a:lstStyle/>
          <a:p>
            <a:pPr algn="l">
              <a:lnSpc>
                <a:spcPct val="112000"/>
              </a:lnSpc>
              <a:spcAft>
                <a:spcPts val="0"/>
              </a:spcAft>
            </a:pPr>
            <a:r>
              <a:rPr sz="1100" b="0" i="0" dirty="0">
                <a:solidFill>
                  <a:srgbClr val="420000"/>
                </a:solidFill>
                <a:latin typeface="Segoe UI"/>
                <a:cs typeface="Segoe UI"/>
              </a:rPr>
              <a:t>Full trail: docs/FEE_RULES.md, researched 16 Sep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flipH="1">
            <a:off x="16257701" y="-446605"/>
            <a:ext cx="2475974" cy="2481143"/>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V="1">
            <a:off x="17380895" y="9039441"/>
            <a:ext cx="1838238" cy="168505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5" name="Freeform 5"/>
          <p:cNvSpPr/>
          <p:nvPr/>
        </p:nvSpPr>
        <p:spPr>
          <a:xfrm flipH="1">
            <a:off x="-1143994" y="-324222"/>
            <a:ext cx="1838238" cy="1685052"/>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TextBox 5"/>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OUR USP</a:t>
            </a:r>
          </a:p>
        </p:txBody>
      </p:sp>
      <p:sp>
        <p:nvSpPr>
          <p:cNvPr id="7" name="TextBox 6"/>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a:solidFill>
                  <a:srgbClr val="3D2410"/>
                </a:solidFill>
                <a:latin typeface="Segoe UI"/>
                <a:cs typeface="Segoe UI"/>
              </a:rPr>
              <a:t>Everyone else waits for a complaint. Munim fixes the mistake before there is one.</a:t>
            </a:r>
          </a:p>
        </p:txBody>
      </p:sp>
      <p:sp>
        <p:nvSpPr>
          <p:cNvPr id="8" name="TextBox 7"/>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0" i="0">
                <a:solidFill>
                  <a:srgbClr val="000000"/>
                </a:solidFill>
                <a:latin typeface="Segoe UI"/>
                <a:cs typeface="Segoe UI"/>
              </a:rPr>
              <a:t>What makes Munim different isn’t that it uses AI. It’s who moves first: Paytm, not the merchant.</a:t>
            </a:r>
          </a:p>
        </p:txBody>
      </p:sp>
      <p:sp>
        <p:nvSpPr>
          <p:cNvPr id="9" name="TextBox 8"/>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04</a:t>
            </a:r>
            <a:r>
              <a:rPr sz="1200" b="0" i="0">
                <a:solidFill>
                  <a:srgbClr val="8A6F55"/>
                </a:solidFill>
                <a:latin typeface="Segoe UI"/>
                <a:cs typeface="Segoe UI"/>
              </a:rPr>
              <a:t>   Munim   Paytm Build for India, Track 3</a:t>
            </a:r>
          </a:p>
        </p:txBody>
      </p:sp>
      <p:sp>
        <p:nvSpPr>
          <p:cNvPr id="101" name="Rounded Rectangle 101"/>
          <p:cNvSpPr/>
          <p:nvPr/>
        </p:nvSpPr>
        <p:spPr>
          <a:xfrm>
            <a:off x="1188720" y="2468880"/>
            <a:ext cx="15910560" cy="1188720"/>
          </a:xfrm>
          <a:prstGeom prst="roundRect">
            <a:avLst>
              <a:gd name="adj" fmla="val 12000"/>
            </a:avLst>
          </a:prstGeom>
          <a:solidFill>
            <a:srgbClr val="F4C542"/>
          </a:solidFill>
          <a:ln>
            <a:noFill/>
          </a:ln>
        </p:spPr>
        <p:txBody>
          <a:bodyPr wrap="square" lIns="91440" tIns="0" rIns="91440" bIns="0" rtlCol="0" anchor="ctr">
            <a:noAutofit/>
          </a:bodyPr>
          <a:lstStyle/>
          <a:p>
            <a:endParaRPr/>
          </a:p>
        </p:txBody>
      </p:sp>
      <p:sp>
        <p:nvSpPr>
          <p:cNvPr id="102" name="TextBox 102"/>
          <p:cNvSpPr txBox="1"/>
          <p:nvPr/>
        </p:nvSpPr>
        <p:spPr>
          <a:xfrm>
            <a:off x="1417320" y="2468880"/>
            <a:ext cx="2286000" cy="1188720"/>
          </a:xfrm>
          <a:prstGeom prst="rect">
            <a:avLst/>
          </a:prstGeom>
          <a:noFill/>
        </p:spPr>
        <p:txBody>
          <a:bodyPr wrap="square" lIns="0" tIns="0" rIns="0" bIns="0" anchor="ctr">
            <a:noAutofit/>
          </a:bodyPr>
          <a:lstStyle/>
          <a:p>
            <a:pPr algn="l">
              <a:lnSpc>
                <a:spcPct val="112000"/>
              </a:lnSpc>
              <a:spcAft>
                <a:spcPts val="0"/>
              </a:spcAft>
            </a:pPr>
            <a:r>
              <a:rPr lang="en-IN" sz="1600" b="0" i="0" dirty="0">
                <a:solidFill>
                  <a:srgbClr val="3D2410"/>
                </a:solidFill>
                <a:latin typeface="Segoe UI Semibold"/>
                <a:cs typeface="Segoe UI Semibold"/>
              </a:rPr>
              <a:t xml:space="preserve">OUR USP IN ONE LINE</a:t>
            </a:r>
          </a:p>
        </p:txBody>
      </p:sp>
      <p:sp>
        <p:nvSpPr>
          <p:cNvPr id="103" name="TextBox 103"/>
          <p:cNvSpPr txBox="1"/>
          <p:nvPr/>
        </p:nvSpPr>
        <p:spPr>
          <a:xfrm>
            <a:off x="3840480" y="2468880"/>
            <a:ext cx="13030200" cy="1188720"/>
          </a:xfrm>
          <a:prstGeom prst="rect">
            <a:avLst/>
          </a:prstGeom>
          <a:noFill/>
        </p:spPr>
        <p:txBody>
          <a:bodyPr wrap="square" lIns="0" tIns="0" rIns="0" bIns="0" anchor="ctr">
            <a:noAutofit/>
          </a:bodyPr>
          <a:lstStyle/>
          <a:p>
            <a:pPr algn="l">
              <a:lnSpc>
                <a:spcPct val="105000"/>
              </a:lnSpc>
              <a:spcAft>
                <a:spcPts val="0"/>
              </a:spcAft>
            </a:pPr>
            <a:r>
              <a:rPr lang="en-IN" sz="2300" b="0" i="0" dirty="0">
                <a:solidFill>
                  <a:srgbClr val="3D2410"/>
                </a:solidFill>
                <a:latin typeface="Segoe UI Semibold"/>
                <a:cs typeface="Segoe UI Semibold"/>
              </a:rPr>
              <a:t xml:space="preserve">Paytm catches its own settlement mistake, proves it to the paise and puts the money back, </a:t>
            </a:r>
            <a:r>
              <a:rPr lang="en-IN" sz="2300" b="0" i="0" dirty="0">
                <a:solidFill>
                  <a:srgbClr val="7A3E0C"/>
                </a:solidFill>
                <a:latin typeface="Segoe UI Semibold"/>
                <a:cs typeface="Segoe UI Semibold"/>
              </a:rPr>
              <a:t xml:space="preserve">before the merchant even knows something went wrong.</a:t>
            </a:r>
          </a:p>
        </p:txBody>
      </p:sp>
      <p:sp>
        <p:nvSpPr>
          <p:cNvPr id="104" name="Rounded Rectangle 104"/>
          <p:cNvSpPr/>
          <p:nvPr/>
        </p:nvSpPr>
        <p:spPr>
          <a:xfrm>
            <a:off x="1188720" y="3931920"/>
            <a:ext cx="3771900" cy="411480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05" name="TextBox 105"/>
          <p:cNvSpPr txBox="1"/>
          <p:nvPr/>
        </p:nvSpPr>
        <p:spPr>
          <a:xfrm>
            <a:off x="1417320" y="4114800"/>
            <a:ext cx="3314700" cy="320040"/>
          </a:xfrm>
          <a:prstGeom prst="rect">
            <a:avLst/>
          </a:prstGeom>
          <a:noFill/>
        </p:spPr>
        <p:txBody>
          <a:bodyPr wrap="square" lIns="0" tIns="0" rIns="0" bIns="0" anchor="t">
            <a:noAutofit/>
          </a:bodyPr>
          <a:lstStyle/>
          <a:p>
            <a:pPr algn="l">
              <a:lnSpc>
                <a:spcPct val="112000"/>
              </a:lnSpc>
              <a:spcAft>
                <a:spcPts val="0"/>
              </a:spcAft>
            </a:pPr>
            <a:r>
              <a:rPr lang="en-IN" sz="1400" b="0" i="0" dirty="0">
                <a:solidFill>
                  <a:srgbClr val="B96A1E"/>
                </a:solidFill>
                <a:latin typeface="Segoe UI Semibold"/>
                <a:cs typeface="Segoe UI Semibold"/>
              </a:rPr>
              <a:t xml:space="preserve">01</a:t>
            </a:r>
          </a:p>
        </p:txBody>
      </p:sp>
      <p:sp>
        <p:nvSpPr>
          <p:cNvPr id="106" name="TextBox 106"/>
          <p:cNvSpPr txBox="1"/>
          <p:nvPr/>
        </p:nvSpPr>
        <p:spPr>
          <a:xfrm>
            <a:off x="1417320" y="4462272"/>
            <a:ext cx="3314700" cy="640080"/>
          </a:xfrm>
          <a:prstGeom prst="rect">
            <a:avLst/>
          </a:prstGeom>
          <a:noFill/>
        </p:spPr>
        <p:txBody>
          <a:bodyPr wrap="square" lIns="0" tIns="0" rIns="0" bIns="0" anchor="t">
            <a:noAutofit/>
          </a:bodyPr>
          <a:lstStyle/>
          <a:p>
            <a:pPr algn="l">
              <a:lnSpc>
                <a:spcPct val="100000"/>
              </a:lnSpc>
              <a:spcAft>
                <a:spcPts val="0"/>
              </a:spcAft>
            </a:pPr>
            <a:r>
              <a:rPr lang="en-IN" sz="2000" b="0" i="0" dirty="0">
                <a:solidFill>
                  <a:srgbClr val="3D2410"/>
                </a:solidFill>
                <a:latin typeface="Segoe UI Semibold"/>
                <a:cs typeface="Segoe UI Semibold"/>
              </a:rPr>
              <a:t xml:space="preserve">It speaks first</a:t>
            </a:r>
          </a:p>
        </p:txBody>
      </p:sp>
      <p:sp>
        <p:nvSpPr>
          <p:cNvPr id="107" name="TextBox 107"/>
          <p:cNvSpPr txBox="1"/>
          <p:nvPr/>
        </p:nvSpPr>
        <p:spPr>
          <a:xfrm>
            <a:off x="1417320" y="5166360"/>
            <a:ext cx="3314700" cy="1600200"/>
          </a:xfrm>
          <a:prstGeom prst="rect">
            <a:avLst/>
          </a:prstGeom>
          <a:noFill/>
        </p:spPr>
        <p:txBody>
          <a:bodyPr wrap="square" lIns="0" tIns="0" rIns="0" bIns="0" anchor="t">
            <a:noAutofit/>
          </a:bodyPr>
          <a:lstStyle/>
          <a:p>
            <a:pPr algn="l">
              <a:lnSpc>
                <a:spcPct val="110000"/>
              </a:lnSpc>
              <a:spcAft>
                <a:spcPts val="0"/>
              </a:spcAft>
            </a:pPr>
            <a:r>
              <a:rPr lang="en-IN" sz="1350" b="0" i="0" dirty="0">
                <a:solidFill>
                  <a:srgbClr val="3D2410"/>
                </a:solidFill>
                <a:latin typeface="Segoe UI"/>
                <a:cs typeface="Segoe UI"/>
              </a:rPr>
              <a:t xml:space="preserve">Chatbots, support desks and dispute forms all wait for the merchant to complain. Munim doesn’t wait. It checks every settlement, every day, on its own.</a:t>
            </a:r>
          </a:p>
        </p:txBody>
      </p:sp>
      <p:sp>
        <p:nvSpPr>
          <p:cNvPr id="108" name="TextBox 108"/>
          <p:cNvSpPr txBox="1"/>
          <p:nvPr/>
        </p:nvSpPr>
        <p:spPr>
          <a:xfrm>
            <a:off x="1417320" y="6858000"/>
            <a:ext cx="3314700" cy="548640"/>
          </a:xfrm>
          <a:prstGeom prst="rect">
            <a:avLst/>
          </a:prstGeom>
          <a:noFill/>
        </p:spPr>
        <p:txBody>
          <a:bodyPr wrap="square" lIns="0" tIns="0" rIns="0" bIns="0" anchor="b">
            <a:noAutofit/>
          </a:bodyPr>
          <a:lstStyle/>
          <a:p>
            <a:pPr algn="l">
              <a:lnSpc>
                <a:spcPct val="112000"/>
              </a:lnSpc>
              <a:spcAft>
                <a:spcPts val="0"/>
              </a:spcAft>
            </a:pPr>
            <a:r>
              <a:rPr lang="en-IN" sz="2800" b="0" i="0" dirty="0">
                <a:solidFill>
                  <a:srgbClr val="B96A1E"/>
                </a:solidFill>
                <a:latin typeface="Segoe UI Semibold"/>
                <a:cs typeface="Segoe UI Semibold"/>
              </a:rPr>
              <a:t xml:space="preserve">0</a:t>
            </a:r>
          </a:p>
        </p:txBody>
      </p:sp>
      <p:sp>
        <p:nvSpPr>
          <p:cNvPr id="109" name="TextBox 109"/>
          <p:cNvSpPr txBox="1"/>
          <p:nvPr/>
        </p:nvSpPr>
        <p:spPr>
          <a:xfrm>
            <a:off x="1417320" y="7452360"/>
            <a:ext cx="3314700" cy="420624"/>
          </a:xfrm>
          <a:prstGeom prst="rect">
            <a:avLst/>
          </a:prstGeom>
          <a:noFill/>
        </p:spPr>
        <p:txBody>
          <a:bodyPr wrap="square" lIns="0" tIns="0" rIns="0" bIns="0" anchor="t">
            <a:noAutofit/>
          </a:bodyPr>
          <a:lstStyle/>
          <a:p>
            <a:pPr algn="l">
              <a:lnSpc>
                <a:spcPct val="105000"/>
              </a:lnSpc>
              <a:spcAft>
                <a:spcPts val="0"/>
              </a:spcAft>
            </a:pPr>
            <a:r>
              <a:rPr lang="en-IN" sz="1200" b="0" i="0" dirty="0">
                <a:solidFill>
                  <a:srgbClr val="8A6F55"/>
                </a:solidFill>
                <a:latin typeface="Segoe UI"/>
                <a:cs typeface="Segoe UI"/>
              </a:rPr>
              <a:t xml:space="preserve">tickets the merchant has to raise</a:t>
            </a:r>
          </a:p>
        </p:txBody>
      </p:sp>
      <p:sp>
        <p:nvSpPr>
          <p:cNvPr id="110" name="Rounded Rectangle 110"/>
          <p:cNvSpPr/>
          <p:nvPr/>
        </p:nvSpPr>
        <p:spPr>
          <a:xfrm>
            <a:off x="5234940" y="3931920"/>
            <a:ext cx="3771900" cy="411480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11" name="TextBox 111"/>
          <p:cNvSpPr txBox="1"/>
          <p:nvPr/>
        </p:nvSpPr>
        <p:spPr>
          <a:xfrm>
            <a:off x="5463540" y="4114800"/>
            <a:ext cx="3314700" cy="320040"/>
          </a:xfrm>
          <a:prstGeom prst="rect">
            <a:avLst/>
          </a:prstGeom>
          <a:noFill/>
        </p:spPr>
        <p:txBody>
          <a:bodyPr wrap="square" lIns="0" tIns="0" rIns="0" bIns="0" anchor="t">
            <a:noAutofit/>
          </a:bodyPr>
          <a:lstStyle/>
          <a:p>
            <a:pPr algn="l">
              <a:lnSpc>
                <a:spcPct val="112000"/>
              </a:lnSpc>
              <a:spcAft>
                <a:spcPts val="0"/>
              </a:spcAft>
            </a:pPr>
            <a:r>
              <a:rPr lang="en-IN" sz="1400" b="0" i="0" dirty="0">
                <a:solidFill>
                  <a:srgbClr val="B96A1E"/>
                </a:solidFill>
                <a:latin typeface="Segoe UI Semibold"/>
                <a:cs typeface="Segoe UI Semibold"/>
              </a:rPr>
              <a:t xml:space="preserve">02</a:t>
            </a:r>
          </a:p>
        </p:txBody>
      </p:sp>
      <p:sp>
        <p:nvSpPr>
          <p:cNvPr id="112" name="TextBox 112"/>
          <p:cNvSpPr txBox="1"/>
          <p:nvPr/>
        </p:nvSpPr>
        <p:spPr>
          <a:xfrm>
            <a:off x="5463540" y="4462272"/>
            <a:ext cx="3314700" cy="640080"/>
          </a:xfrm>
          <a:prstGeom prst="rect">
            <a:avLst/>
          </a:prstGeom>
          <a:noFill/>
        </p:spPr>
        <p:txBody>
          <a:bodyPr wrap="square" lIns="0" tIns="0" rIns="0" bIns="0" anchor="t">
            <a:noAutofit/>
          </a:bodyPr>
          <a:lstStyle/>
          <a:p>
            <a:pPr algn="l">
              <a:lnSpc>
                <a:spcPct val="100000"/>
              </a:lnSpc>
              <a:spcAft>
                <a:spcPts val="0"/>
              </a:spcAft>
            </a:pPr>
            <a:r>
              <a:rPr lang="en-IN" sz="2000" b="0" i="0" dirty="0">
                <a:solidFill>
                  <a:srgbClr val="3D2410"/>
                </a:solidFill>
                <a:latin typeface="Segoe UI Semibold"/>
                <a:cs typeface="Segoe UI Semibold"/>
              </a:rPr>
              <a:t xml:space="preserve">Proof, not guesses</a:t>
            </a:r>
          </a:p>
        </p:txBody>
      </p:sp>
      <p:sp>
        <p:nvSpPr>
          <p:cNvPr id="113" name="TextBox 113"/>
          <p:cNvSpPr txBox="1"/>
          <p:nvPr/>
        </p:nvSpPr>
        <p:spPr>
          <a:xfrm>
            <a:off x="5463540" y="5166360"/>
            <a:ext cx="3314700" cy="1600200"/>
          </a:xfrm>
          <a:prstGeom prst="rect">
            <a:avLst/>
          </a:prstGeom>
          <a:noFill/>
        </p:spPr>
        <p:txBody>
          <a:bodyPr wrap="square" lIns="0" tIns="0" rIns="0" bIns="0" anchor="t">
            <a:noAutofit/>
          </a:bodyPr>
          <a:lstStyle/>
          <a:p>
            <a:pPr algn="l">
              <a:lnSpc>
                <a:spcPct val="110000"/>
              </a:lnSpc>
              <a:spcAft>
                <a:spcPts val="0"/>
              </a:spcAft>
            </a:pPr>
            <a:r>
              <a:rPr lang="en-IN" sz="1350" b="0" i="0" dirty="0">
                <a:solidFill>
                  <a:srgbClr val="3D2410"/>
                </a:solidFill>
                <a:latin typeface="Segoe UI"/>
                <a:cs typeface="Segoe UI"/>
              </a:rPr>
              <a:t xml:space="preserve">The AI only explains what went wrong. Plain code recomputes the charge, with the rule and its source on every rupee. No proof, no claim.</a:t>
            </a:r>
          </a:p>
        </p:txBody>
      </p:sp>
      <p:sp>
        <p:nvSpPr>
          <p:cNvPr id="114" name="TextBox 114"/>
          <p:cNvSpPr txBox="1"/>
          <p:nvPr/>
        </p:nvSpPr>
        <p:spPr>
          <a:xfrm>
            <a:off x="5463540" y="6858000"/>
            <a:ext cx="3314700" cy="548640"/>
          </a:xfrm>
          <a:prstGeom prst="rect">
            <a:avLst/>
          </a:prstGeom>
          <a:noFill/>
        </p:spPr>
        <p:txBody>
          <a:bodyPr wrap="square" lIns="0" tIns="0" rIns="0" bIns="0" anchor="b">
            <a:noAutofit/>
          </a:bodyPr>
          <a:lstStyle/>
          <a:p>
            <a:pPr algn="l">
              <a:lnSpc>
                <a:spcPct val="112000"/>
              </a:lnSpc>
              <a:spcAft>
                <a:spcPts val="0"/>
              </a:spcAft>
            </a:pPr>
            <a:r>
              <a:rPr lang="en-IN" sz="2800" b="0" i="0" dirty="0">
                <a:solidFill>
                  <a:srgbClr val="B96A1E"/>
                </a:solidFill>
                <a:latin typeface="Segoe UI Semibold"/>
                <a:cs typeface="Segoe UI Semibold"/>
              </a:rPr>
              <a:t xml:space="preserve">0 / 389</a:t>
            </a:r>
          </a:p>
        </p:txBody>
      </p:sp>
      <p:sp>
        <p:nvSpPr>
          <p:cNvPr id="115" name="TextBox 115"/>
          <p:cNvSpPr txBox="1"/>
          <p:nvPr/>
        </p:nvSpPr>
        <p:spPr>
          <a:xfrm>
            <a:off x="5463540" y="7452360"/>
            <a:ext cx="3314700" cy="420624"/>
          </a:xfrm>
          <a:prstGeom prst="rect">
            <a:avLst/>
          </a:prstGeom>
          <a:noFill/>
        </p:spPr>
        <p:txBody>
          <a:bodyPr wrap="square" lIns="0" tIns="0" rIns="0" bIns="0" anchor="t">
            <a:noAutofit/>
          </a:bodyPr>
          <a:lstStyle/>
          <a:p>
            <a:pPr algn="l">
              <a:lnSpc>
                <a:spcPct val="105000"/>
              </a:lnSpc>
              <a:spcAft>
                <a:spcPts val="0"/>
              </a:spcAft>
            </a:pPr>
            <a:r>
              <a:rPr lang="en-IN" sz="1200" b="0" i="0" dirty="0">
                <a:solidFill>
                  <a:srgbClr val="8A6F55"/>
                </a:solidFill>
                <a:latin typeface="Segoe UI"/>
                <a:cs typeface="Segoe UI"/>
              </a:rPr>
              <a:t xml:space="preserve">false corrections filed</a:t>
            </a:r>
          </a:p>
        </p:txBody>
      </p:sp>
      <p:sp>
        <p:nvSpPr>
          <p:cNvPr id="116" name="Rounded Rectangle 116"/>
          <p:cNvSpPr/>
          <p:nvPr/>
        </p:nvSpPr>
        <p:spPr>
          <a:xfrm>
            <a:off x="9281160" y="3931920"/>
            <a:ext cx="3771900" cy="411480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17" name="TextBox 117"/>
          <p:cNvSpPr txBox="1"/>
          <p:nvPr/>
        </p:nvSpPr>
        <p:spPr>
          <a:xfrm>
            <a:off x="9509760" y="4114800"/>
            <a:ext cx="3314700" cy="320040"/>
          </a:xfrm>
          <a:prstGeom prst="rect">
            <a:avLst/>
          </a:prstGeom>
          <a:noFill/>
        </p:spPr>
        <p:txBody>
          <a:bodyPr wrap="square" lIns="0" tIns="0" rIns="0" bIns="0" anchor="t">
            <a:noAutofit/>
          </a:bodyPr>
          <a:lstStyle/>
          <a:p>
            <a:pPr algn="l">
              <a:lnSpc>
                <a:spcPct val="112000"/>
              </a:lnSpc>
              <a:spcAft>
                <a:spcPts val="0"/>
              </a:spcAft>
            </a:pPr>
            <a:r>
              <a:rPr lang="en-IN" sz="1400" b="0" i="0" dirty="0">
                <a:solidFill>
                  <a:srgbClr val="B96A1E"/>
                </a:solidFill>
                <a:latin typeface="Segoe UI Semibold"/>
                <a:cs typeface="Segoe UI Semibold"/>
              </a:rPr>
              <a:t xml:space="preserve">03</a:t>
            </a:r>
          </a:p>
        </p:txBody>
      </p:sp>
      <p:sp>
        <p:nvSpPr>
          <p:cNvPr id="118" name="TextBox 118"/>
          <p:cNvSpPr txBox="1"/>
          <p:nvPr/>
        </p:nvSpPr>
        <p:spPr>
          <a:xfrm>
            <a:off x="9509760" y="4462272"/>
            <a:ext cx="3314700" cy="640080"/>
          </a:xfrm>
          <a:prstGeom prst="rect">
            <a:avLst/>
          </a:prstGeom>
          <a:noFill/>
        </p:spPr>
        <p:txBody>
          <a:bodyPr wrap="square" lIns="0" tIns="0" rIns="0" bIns="0" anchor="t">
            <a:noAutofit/>
          </a:bodyPr>
          <a:lstStyle/>
          <a:p>
            <a:pPr algn="l">
              <a:lnSpc>
                <a:spcPct val="100000"/>
              </a:lnSpc>
              <a:spcAft>
                <a:spcPts val="0"/>
              </a:spcAft>
            </a:pPr>
            <a:r>
              <a:rPr lang="en-IN" sz="2000" b="0" i="0" dirty="0">
                <a:solidFill>
                  <a:srgbClr val="3D2410"/>
                </a:solidFill>
                <a:latin typeface="Segoe UI Semibold"/>
                <a:cs typeface="Segoe UI Semibold"/>
              </a:rPr>
              <a:t xml:space="preserve">Done means money in the bank</a:t>
            </a:r>
          </a:p>
        </p:txBody>
      </p:sp>
      <p:sp>
        <p:nvSpPr>
          <p:cNvPr id="119" name="TextBox 119"/>
          <p:cNvSpPr txBox="1"/>
          <p:nvPr/>
        </p:nvSpPr>
        <p:spPr>
          <a:xfrm>
            <a:off x="9509760" y="5166360"/>
            <a:ext cx="3314700" cy="1600200"/>
          </a:xfrm>
          <a:prstGeom prst="rect">
            <a:avLst/>
          </a:prstGeom>
          <a:noFill/>
        </p:spPr>
        <p:txBody>
          <a:bodyPr wrap="square" lIns="0" tIns="0" rIns="0" bIns="0" anchor="t">
            <a:noAutofit/>
          </a:bodyPr>
          <a:lstStyle/>
          <a:p>
            <a:pPr algn="l">
              <a:lnSpc>
                <a:spcPct val="110000"/>
              </a:lnSpc>
              <a:spcAft>
                <a:spcPts val="0"/>
              </a:spcAft>
            </a:pPr>
            <a:r>
              <a:rPr lang="en-IN" sz="1350" b="0" i="0" dirty="0">
                <a:solidFill>
                  <a:srgbClr val="3D2410"/>
                </a:solidFill>
                <a:latin typeface="Segoe UI"/>
                <a:cs typeface="Segoe UI"/>
              </a:rPr>
              <a:t xml:space="preserve">A case isn’t closed when ops says yes. It closes only when the credit lands in the merchant’s account, matched by UTR.</a:t>
            </a:r>
          </a:p>
        </p:txBody>
      </p:sp>
      <p:sp>
        <p:nvSpPr>
          <p:cNvPr id="120" name="TextBox 120"/>
          <p:cNvSpPr txBox="1"/>
          <p:nvPr/>
        </p:nvSpPr>
        <p:spPr>
          <a:xfrm>
            <a:off x="9509760" y="6858000"/>
            <a:ext cx="3314700" cy="548640"/>
          </a:xfrm>
          <a:prstGeom prst="rect">
            <a:avLst/>
          </a:prstGeom>
          <a:noFill/>
        </p:spPr>
        <p:txBody>
          <a:bodyPr wrap="square" lIns="0" tIns="0" rIns="0" bIns="0" anchor="b">
            <a:noAutofit/>
          </a:bodyPr>
          <a:lstStyle/>
          <a:p>
            <a:pPr algn="l">
              <a:lnSpc>
                <a:spcPct val="112000"/>
              </a:lnSpc>
              <a:spcAft>
                <a:spcPts val="0"/>
              </a:spcAft>
            </a:pPr>
            <a:r>
              <a:rPr lang="en-IN" sz="2800" b="0" i="0" dirty="0">
                <a:solidFill>
                  <a:srgbClr val="B96A1E"/>
                </a:solidFill>
                <a:latin typeface="Segoe UI Semibold"/>
                <a:cs typeface="Segoe UI Semibold"/>
              </a:rPr>
              <a:t xml:space="preserve">₹1,26,618</a:t>
            </a:r>
          </a:p>
        </p:txBody>
      </p:sp>
      <p:sp>
        <p:nvSpPr>
          <p:cNvPr id="121" name="TextBox 121"/>
          <p:cNvSpPr txBox="1"/>
          <p:nvPr/>
        </p:nvSpPr>
        <p:spPr>
          <a:xfrm>
            <a:off x="9509760" y="7452360"/>
            <a:ext cx="3314700" cy="420624"/>
          </a:xfrm>
          <a:prstGeom prst="rect">
            <a:avLst/>
          </a:prstGeom>
          <a:noFill/>
        </p:spPr>
        <p:txBody>
          <a:bodyPr wrap="square" lIns="0" tIns="0" rIns="0" bIns="0" anchor="t">
            <a:noAutofit/>
          </a:bodyPr>
          <a:lstStyle/>
          <a:p>
            <a:pPr algn="l">
              <a:lnSpc>
                <a:spcPct val="105000"/>
              </a:lnSpc>
              <a:spcAft>
                <a:spcPts val="0"/>
              </a:spcAft>
            </a:pPr>
            <a:r>
              <a:rPr lang="en-IN" sz="1200" b="0" i="0" dirty="0">
                <a:solidFill>
                  <a:srgbClr val="8A6F55"/>
                </a:solidFill>
                <a:latin typeface="Segoe UI"/>
                <a:cs typeface="Segoe UI"/>
              </a:rPr>
              <a:t xml:space="preserve">actually returned to banks</a:t>
            </a:r>
          </a:p>
        </p:txBody>
      </p:sp>
      <p:sp>
        <p:nvSpPr>
          <p:cNvPr id="122" name="Rounded Rectangle 122"/>
          <p:cNvSpPr/>
          <p:nvPr/>
        </p:nvSpPr>
        <p:spPr>
          <a:xfrm>
            <a:off x="13327380" y="3931920"/>
            <a:ext cx="3771900" cy="411480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23" name="TextBox 123"/>
          <p:cNvSpPr txBox="1"/>
          <p:nvPr/>
        </p:nvSpPr>
        <p:spPr>
          <a:xfrm>
            <a:off x="13555980" y="4114800"/>
            <a:ext cx="3314700" cy="320040"/>
          </a:xfrm>
          <a:prstGeom prst="rect">
            <a:avLst/>
          </a:prstGeom>
          <a:noFill/>
        </p:spPr>
        <p:txBody>
          <a:bodyPr wrap="square" lIns="0" tIns="0" rIns="0" bIns="0" anchor="t">
            <a:noAutofit/>
          </a:bodyPr>
          <a:lstStyle/>
          <a:p>
            <a:pPr algn="l">
              <a:lnSpc>
                <a:spcPct val="112000"/>
              </a:lnSpc>
              <a:spcAft>
                <a:spcPts val="0"/>
              </a:spcAft>
            </a:pPr>
            <a:r>
              <a:rPr lang="en-IN" sz="1400" b="0" i="0" dirty="0">
                <a:solidFill>
                  <a:srgbClr val="B96A1E"/>
                </a:solidFill>
                <a:latin typeface="Segoe UI Semibold"/>
                <a:cs typeface="Segoe UI Semibold"/>
              </a:rPr>
              <a:t xml:space="preserve">04</a:t>
            </a:r>
          </a:p>
        </p:txBody>
      </p:sp>
      <p:sp>
        <p:nvSpPr>
          <p:cNvPr id="124" name="TextBox 124"/>
          <p:cNvSpPr txBox="1"/>
          <p:nvPr/>
        </p:nvSpPr>
        <p:spPr>
          <a:xfrm>
            <a:off x="13555980" y="4462272"/>
            <a:ext cx="3314700" cy="640080"/>
          </a:xfrm>
          <a:prstGeom prst="rect">
            <a:avLst/>
          </a:prstGeom>
          <a:noFill/>
        </p:spPr>
        <p:txBody>
          <a:bodyPr wrap="square" lIns="0" tIns="0" rIns="0" bIns="0" anchor="t">
            <a:noAutofit/>
          </a:bodyPr>
          <a:lstStyle/>
          <a:p>
            <a:pPr algn="l">
              <a:lnSpc>
                <a:spcPct val="100000"/>
              </a:lnSpc>
              <a:spcAft>
                <a:spcPts val="0"/>
              </a:spcAft>
            </a:pPr>
            <a:r>
              <a:rPr lang="en-IN" sz="2000" b="0" i="0" dirty="0">
                <a:solidFill>
                  <a:srgbClr val="3D2410"/>
                </a:solidFill>
                <a:latin typeface="Segoe UI Semibold"/>
                <a:cs typeface="Segoe UI Semibold"/>
              </a:rPr>
              <a:t xml:space="preserve">Fixes the cause, too</a:t>
            </a:r>
          </a:p>
        </p:txBody>
      </p:sp>
      <p:sp>
        <p:nvSpPr>
          <p:cNvPr id="125" name="TextBox 125"/>
          <p:cNvSpPr txBox="1"/>
          <p:nvPr/>
        </p:nvSpPr>
        <p:spPr>
          <a:xfrm>
            <a:off x="13555980" y="5166360"/>
            <a:ext cx="3314700" cy="1600200"/>
          </a:xfrm>
          <a:prstGeom prst="rect">
            <a:avLst/>
          </a:prstGeom>
          <a:noFill/>
        </p:spPr>
        <p:txBody>
          <a:bodyPr wrap="square" lIns="0" tIns="0" rIns="0" bIns="0" anchor="t">
            <a:noAutofit/>
          </a:bodyPr>
          <a:lstStyle/>
          <a:p>
            <a:pPr algn="l">
              <a:lnSpc>
                <a:spcPct val="110000"/>
              </a:lnSpc>
              <a:spcAft>
                <a:spcPts val="0"/>
              </a:spcAft>
            </a:pPr>
            <a:r>
              <a:rPr lang="en-IN" sz="1350" b="0" i="0" dirty="0">
                <a:solidFill>
                  <a:srgbClr val="3D2410"/>
                </a:solidFill>
                <a:latin typeface="Segoe UI"/>
                <a:cs typeface="Segoe UI"/>
              </a:rPr>
              <a:t xml:space="preserve">Every error it wins becomes a config fix, so the same mistake doesn’t hit the next settlement or the next merchant.</a:t>
            </a:r>
          </a:p>
        </p:txBody>
      </p:sp>
      <p:sp>
        <p:nvSpPr>
          <p:cNvPr id="126" name="TextBox 126"/>
          <p:cNvSpPr txBox="1"/>
          <p:nvPr/>
        </p:nvSpPr>
        <p:spPr>
          <a:xfrm>
            <a:off x="13555980" y="6858000"/>
            <a:ext cx="3314700" cy="548640"/>
          </a:xfrm>
          <a:prstGeom prst="rect">
            <a:avLst/>
          </a:prstGeom>
          <a:noFill/>
        </p:spPr>
        <p:txBody>
          <a:bodyPr wrap="square" lIns="0" tIns="0" rIns="0" bIns="0" anchor="b">
            <a:noAutofit/>
          </a:bodyPr>
          <a:lstStyle/>
          <a:p>
            <a:pPr algn="l">
              <a:lnSpc>
                <a:spcPct val="112000"/>
              </a:lnSpc>
              <a:spcAft>
                <a:spcPts val="0"/>
              </a:spcAft>
            </a:pPr>
            <a:r>
              <a:rPr lang="en-IN" sz="2800" b="0" i="0" dirty="0">
                <a:solidFill>
                  <a:srgbClr val="B96A1E"/>
                </a:solidFill>
                <a:latin typeface="Segoe UI Semibold"/>
                <a:cs typeface="Segoe UI Semibold"/>
              </a:rPr>
              <a:t xml:space="preserve">₹1.22 L</a:t>
            </a:r>
          </a:p>
        </p:txBody>
      </p:sp>
      <p:sp>
        <p:nvSpPr>
          <p:cNvPr id="127" name="TextBox 127"/>
          <p:cNvSpPr txBox="1"/>
          <p:nvPr/>
        </p:nvSpPr>
        <p:spPr>
          <a:xfrm>
            <a:off x="13555980" y="7452360"/>
            <a:ext cx="3314700" cy="420624"/>
          </a:xfrm>
          <a:prstGeom prst="rect">
            <a:avLst/>
          </a:prstGeom>
          <a:noFill/>
        </p:spPr>
        <p:txBody>
          <a:bodyPr wrap="square" lIns="0" tIns="0" rIns="0" bIns="0" anchor="t">
            <a:noAutofit/>
          </a:bodyPr>
          <a:lstStyle/>
          <a:p>
            <a:pPr algn="l">
              <a:lnSpc>
                <a:spcPct val="105000"/>
              </a:lnSpc>
              <a:spcAft>
                <a:spcPts val="0"/>
              </a:spcAft>
            </a:pPr>
            <a:r>
              <a:rPr lang="en-IN" sz="1200" b="0" i="0" dirty="0">
                <a:solidFill>
                  <a:srgbClr val="8A6F55"/>
                </a:solidFill>
                <a:latin typeface="Segoe UI"/>
                <a:cs typeface="Segoe UI"/>
              </a:rPr>
              <a:t xml:space="preserve">of future leakage stopped</a:t>
            </a:r>
          </a:p>
        </p:txBody>
      </p:sp>
      <p:sp>
        <p:nvSpPr>
          <p:cNvPr id="128" name="Rounded Rectangle 128"/>
          <p:cNvSpPr/>
          <p:nvPr/>
        </p:nvSpPr>
        <p:spPr>
          <a:xfrm>
            <a:off x="1188720" y="8321040"/>
            <a:ext cx="15910560" cy="1051560"/>
          </a:xfrm>
          <a:prstGeom prst="roundRect">
            <a:avLst>
              <a:gd name="adj" fmla="val 12000"/>
            </a:avLst>
          </a:prstGeom>
          <a:solidFill>
            <a:schemeClr val="tx2">
              <a:lumMod val="20000"/>
              <a:lumOff val="80000"/>
            </a:schemeClr>
          </a:solidFill>
          <a:ln>
            <a:noFill/>
          </a:ln>
        </p:spPr>
        <p:txBody>
          <a:bodyPr wrap="square" lIns="91440" tIns="0" rIns="91440" bIns="0" rtlCol="0" anchor="ctr">
            <a:noAutofit/>
          </a:bodyPr>
          <a:lstStyle/>
          <a:p>
            <a:endParaRPr/>
          </a:p>
        </p:txBody>
      </p:sp>
      <p:sp>
        <p:nvSpPr>
          <p:cNvPr id="129" name="TextBox 129"/>
          <p:cNvSpPr txBox="1"/>
          <p:nvPr/>
        </p:nvSpPr>
        <p:spPr>
          <a:xfrm>
            <a:off x="1417320" y="8321040"/>
            <a:ext cx="2286000" cy="1051560"/>
          </a:xfrm>
          <a:prstGeom prst="rect">
            <a:avLst/>
          </a:prstGeom>
          <a:noFill/>
        </p:spPr>
        <p:txBody>
          <a:bodyPr wrap="square" lIns="0" tIns="0" rIns="0" bIns="0" anchor="ctr">
            <a:noAutofit/>
          </a:bodyPr>
          <a:lstStyle/>
          <a:p>
            <a:pPr algn="l">
              <a:lnSpc>
                <a:spcPct val="112000"/>
              </a:lnSpc>
              <a:spcAft>
                <a:spcPts val="0"/>
              </a:spcAft>
            </a:pPr>
            <a:r>
              <a:rPr lang="en-IN" sz="1500" b="0" i="0" dirty="0">
                <a:solidFill>
                  <a:srgbClr val="8A6F55"/>
                </a:solidFill>
                <a:latin typeface="Segoe UI Semibold"/>
                <a:cs typeface="Segoe UI Semibold"/>
              </a:rPr>
              <a:t xml:space="preserve">WHY IT’S HARD TO COPY</a:t>
            </a:r>
          </a:p>
        </p:txBody>
      </p:sp>
      <p:sp>
        <p:nvSpPr>
          <p:cNvPr id="130" name="TextBox 130"/>
          <p:cNvSpPr txBox="1"/>
          <p:nvPr/>
        </p:nvSpPr>
        <p:spPr>
          <a:xfrm>
            <a:off x="3840480" y="8321040"/>
            <a:ext cx="13030200" cy="1051560"/>
          </a:xfrm>
          <a:prstGeom prst="rect">
            <a:avLst/>
          </a:prstGeom>
          <a:noFill/>
        </p:spPr>
        <p:txBody>
          <a:bodyPr wrap="square" lIns="0" tIns="0" rIns="0" bIns="0" anchor="ctr">
            <a:noAutofit/>
          </a:bodyPr>
          <a:lstStyle/>
          <a:p>
            <a:pPr algn="l">
              <a:lnSpc>
                <a:spcPct val="110000"/>
              </a:lnSpc>
              <a:spcAft>
                <a:spcPts val="0"/>
              </a:spcAft>
            </a:pPr>
            <a:r>
              <a:rPr lang="en-IN" sz="1450" b="0" i="0" dirty="0">
                <a:solidFill>
                  <a:srgbClr val="3D2410"/>
                </a:solidFill>
                <a:latin typeface="Segoe UI"/>
                <a:cs typeface="Segoe UI"/>
              </a:rPr>
              <a:t xml:space="preserve">It runs on Paytm’s side of the ledger. It reads the merchant’s signed rate, the dated rule book and the settlement UTRs. An outside app never sees any of that, so it can only guess. And it talks to the merchant in 12 Indian languages, by voice.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a:p>
        </p:txBody>
      </p:sp>
      <p:sp>
        <p:nvSpPr>
          <p:cNvPr id="3" name="Freeform 3"/>
          <p:cNvSpPr/>
          <p:nvPr/>
        </p:nvSpPr>
        <p:spPr>
          <a:xfrm flipH="1">
            <a:off x="16257701" y="-446605"/>
            <a:ext cx="2475974" cy="2481143"/>
          </a:xfrm>
          <a:custGeom>
            <a:avLst/>
            <a:gdLst/>
            <a:ahLst/>
            <a:cxnLst/>
            <a:rect l="l" t="t" r="r" b="b"/>
            <a:pathLst>
              <a:path w="4951948" h="4962286">
                <a:moveTo>
                  <a:pt x="4951948" y="0"/>
                </a:moveTo>
                <a:lnTo>
                  <a:pt x="0" y="0"/>
                </a:lnTo>
                <a:lnTo>
                  <a:pt x="0" y="4962286"/>
                </a:lnTo>
                <a:lnTo>
                  <a:pt x="4951948" y="4962286"/>
                </a:lnTo>
                <a:lnTo>
                  <a:pt x="495194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V="1">
            <a:off x="17380895" y="9039441"/>
            <a:ext cx="1838238" cy="1685052"/>
          </a:xfrm>
          <a:custGeom>
            <a:avLst/>
            <a:gdLst/>
            <a:ahLst/>
            <a:cxnLst/>
            <a:rect l="l" t="t" r="r" b="b"/>
            <a:pathLst>
              <a:path w="3676477" h="3370104">
                <a:moveTo>
                  <a:pt x="0" y="3370104"/>
                </a:moveTo>
                <a:lnTo>
                  <a:pt x="3676477" y="3370104"/>
                </a:lnTo>
                <a:lnTo>
                  <a:pt x="3676477" y="0"/>
                </a:lnTo>
                <a:lnTo>
                  <a:pt x="0" y="0"/>
                </a:lnTo>
                <a:lnTo>
                  <a:pt x="0" y="337010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5" name="Freeform 5"/>
          <p:cNvSpPr/>
          <p:nvPr/>
        </p:nvSpPr>
        <p:spPr>
          <a:xfrm flipH="1">
            <a:off x="-1143994" y="-324222"/>
            <a:ext cx="1838238" cy="1685052"/>
          </a:xfrm>
          <a:custGeom>
            <a:avLst/>
            <a:gdLst/>
            <a:ahLst/>
            <a:cxnLst/>
            <a:rect l="l" t="t" r="r" b="b"/>
            <a:pathLst>
              <a:path w="3676477" h="3370104">
                <a:moveTo>
                  <a:pt x="3676477" y="0"/>
                </a:moveTo>
                <a:lnTo>
                  <a:pt x="0" y="0"/>
                </a:lnTo>
                <a:lnTo>
                  <a:pt x="0" y="3370104"/>
                </a:lnTo>
                <a:lnTo>
                  <a:pt x="3676477" y="3370104"/>
                </a:lnTo>
                <a:lnTo>
                  <a:pt x="367647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TextBox 5"/>
          <p:cNvSpPr txBox="1"/>
          <p:nvPr/>
        </p:nvSpPr>
        <p:spPr>
          <a:xfrm>
            <a:off x="1188720" y="502920"/>
            <a:ext cx="12801600" cy="822960"/>
          </a:xfrm>
          <a:prstGeom prst="rect">
            <a:avLst/>
          </a:prstGeom>
          <a:noFill/>
        </p:spPr>
        <p:txBody>
          <a:bodyPr wrap="square" lIns="0" tIns="0" rIns="0" bIns="0" anchor="t">
            <a:noAutofit/>
          </a:bodyPr>
          <a:lstStyle/>
          <a:p>
            <a:pPr algn="l">
              <a:lnSpc>
                <a:spcPct val="90000"/>
              </a:lnSpc>
              <a:spcAft>
                <a:spcPts val="0"/>
              </a:spcAft>
            </a:pPr>
            <a:r>
              <a:rPr sz="5000" b="0" i="0">
                <a:solidFill>
                  <a:srgbClr val="B96A1E"/>
                </a:solidFill>
                <a:latin typeface="League Spartan"/>
                <a:cs typeface="League Spartan"/>
              </a:rPr>
              <a:t>BUSINESS MODEL</a:t>
            </a:r>
          </a:p>
        </p:txBody>
      </p:sp>
      <p:sp>
        <p:nvSpPr>
          <p:cNvPr id="7" name="TextBox 6"/>
          <p:cNvSpPr txBox="1"/>
          <p:nvPr/>
        </p:nvSpPr>
        <p:spPr>
          <a:xfrm>
            <a:off x="1207008" y="1298448"/>
            <a:ext cx="14173200" cy="502920"/>
          </a:xfrm>
          <a:prstGeom prst="rect">
            <a:avLst/>
          </a:prstGeom>
          <a:noFill/>
        </p:spPr>
        <p:txBody>
          <a:bodyPr wrap="square" lIns="0" tIns="0" rIns="0" bIns="0" anchor="t">
            <a:noAutofit/>
          </a:bodyPr>
          <a:lstStyle/>
          <a:p>
            <a:pPr algn="l">
              <a:lnSpc>
                <a:spcPct val="112000"/>
              </a:lnSpc>
              <a:spcAft>
                <a:spcPts val="0"/>
              </a:spcAft>
            </a:pPr>
            <a:r>
              <a:rPr sz="2300" b="0" i="0">
                <a:solidFill>
                  <a:srgbClr val="3D2410"/>
                </a:solidFill>
                <a:latin typeface="Segoe UI"/>
                <a:cs typeface="Segoe UI"/>
              </a:rPr>
              <a:t>The merchant pays nothing. Paytm earns it back in trust and lower costs.</a:t>
            </a:r>
          </a:p>
        </p:txBody>
      </p:sp>
      <p:sp>
        <p:nvSpPr>
          <p:cNvPr id="8" name="TextBox 7"/>
          <p:cNvSpPr txBox="1"/>
          <p:nvPr/>
        </p:nvSpPr>
        <p:spPr>
          <a:xfrm>
            <a:off x="1207008" y="1810512"/>
            <a:ext cx="14356080" cy="457200"/>
          </a:xfrm>
          <a:prstGeom prst="rect">
            <a:avLst/>
          </a:prstGeom>
          <a:noFill/>
        </p:spPr>
        <p:txBody>
          <a:bodyPr wrap="square" lIns="0" tIns="0" rIns="0" bIns="0" anchor="t">
            <a:noAutofit/>
          </a:bodyPr>
          <a:lstStyle/>
          <a:p>
            <a:pPr algn="l">
              <a:lnSpc>
                <a:spcPct val="112000"/>
              </a:lnSpc>
              <a:spcAft>
                <a:spcPts val="0"/>
              </a:spcAft>
            </a:pPr>
            <a:r>
              <a:rPr sz="1400" b="0" i="0">
                <a:solidFill>
                  <a:srgbClr val="000000"/>
                </a:solidFill>
                <a:latin typeface="Segoe UI"/>
                <a:cs typeface="Segoe UI"/>
              </a:rPr>
              <a:t>Munim is a tool Paytm runs for its own merchants. The refund is the merchant’s money, so we never take a cut of it.</a:t>
            </a:r>
          </a:p>
        </p:txBody>
      </p:sp>
      <p:sp>
        <p:nvSpPr>
          <p:cNvPr id="9" name="TextBox 8"/>
          <p:cNvSpPr txBox="1"/>
          <p:nvPr/>
        </p:nvSpPr>
        <p:spPr>
          <a:xfrm>
            <a:off x="1207008" y="9692640"/>
            <a:ext cx="10972800" cy="329184"/>
          </a:xfrm>
          <a:prstGeom prst="rect">
            <a:avLst/>
          </a:prstGeom>
          <a:noFill/>
        </p:spPr>
        <p:txBody>
          <a:bodyPr wrap="square" lIns="0" tIns="0" rIns="0" bIns="0" anchor="t">
            <a:noAutofit/>
          </a:bodyPr>
          <a:lstStyle/>
          <a:p>
            <a:pPr algn="l">
              <a:lnSpc>
                <a:spcPct val="112000"/>
              </a:lnSpc>
              <a:spcAft>
                <a:spcPts val="0"/>
              </a:spcAft>
            </a:pPr>
            <a:r>
              <a:rPr sz="1400" b="0" i="0">
                <a:solidFill>
                  <a:srgbClr val="B96A1E"/>
                </a:solidFill>
                <a:latin typeface="Segoe UI Semibold"/>
                <a:cs typeface="Segoe UI Semibold"/>
              </a:rPr>
              <a:t>12</a:t>
            </a:r>
            <a:r>
              <a:rPr sz="1200" b="0" i="0">
                <a:solidFill>
                  <a:srgbClr val="8A6F55"/>
                </a:solidFill>
                <a:latin typeface="Segoe UI"/>
                <a:cs typeface="Segoe UI"/>
              </a:rPr>
              <a:t>   Munim   Paytm Build for India, Track 3</a:t>
            </a:r>
          </a:p>
        </p:txBody>
      </p:sp>
      <p:sp>
        <p:nvSpPr>
          <p:cNvPr id="101" name="Rounded Rectangle 101"/>
          <p:cNvSpPr/>
          <p:nvPr/>
        </p:nvSpPr>
        <p:spPr>
          <a:xfrm>
            <a:off x="1188720" y="2468880"/>
            <a:ext cx="15910560" cy="1188720"/>
          </a:xfrm>
          <a:prstGeom prst="roundRect">
            <a:avLst>
              <a:gd name="adj" fmla="val 12000"/>
            </a:avLst>
          </a:prstGeom>
          <a:solidFill>
            <a:srgbClr val="F4C542"/>
          </a:solidFill>
          <a:ln>
            <a:noFill/>
          </a:ln>
        </p:spPr>
        <p:txBody>
          <a:bodyPr wrap="square" lIns="91440" tIns="0" rIns="91440" bIns="0" rtlCol="0" anchor="ctr">
            <a:noAutofit/>
          </a:bodyPr>
          <a:lstStyle/>
          <a:p>
            <a:endParaRPr/>
          </a:p>
        </p:txBody>
      </p:sp>
      <p:sp>
        <p:nvSpPr>
          <p:cNvPr id="102" name="TextBox 102"/>
          <p:cNvSpPr txBox="1"/>
          <p:nvPr/>
        </p:nvSpPr>
        <p:spPr>
          <a:xfrm>
            <a:off x="1417320" y="2468880"/>
            <a:ext cx="2286000" cy="1188720"/>
          </a:xfrm>
          <a:prstGeom prst="rect">
            <a:avLst/>
          </a:prstGeom>
          <a:noFill/>
        </p:spPr>
        <p:txBody>
          <a:bodyPr wrap="square" lIns="0" tIns="0" rIns="0" bIns="0" anchor="ctr">
            <a:noAutofit/>
          </a:bodyPr>
          <a:lstStyle/>
          <a:p>
            <a:pPr algn="l">
              <a:lnSpc>
                <a:spcPct val="112000"/>
              </a:lnSpc>
              <a:spcAft>
                <a:spcPts val="0"/>
              </a:spcAft>
            </a:pPr>
            <a:r>
              <a:rPr lang="en-IN" sz="1600" b="0" i="0" dirty="0">
                <a:solidFill>
                  <a:srgbClr val="3D2410"/>
                </a:solidFill>
                <a:latin typeface="Segoe UI Semibold"/>
                <a:cs typeface="Segoe UI Semibold"/>
              </a:rPr>
              <a:t xml:space="preserve">WHO PAYS</a:t>
            </a:r>
          </a:p>
        </p:txBody>
      </p:sp>
      <p:sp>
        <p:nvSpPr>
          <p:cNvPr id="103" name="Rounded Rectangle 103"/>
          <p:cNvSpPr/>
          <p:nvPr/>
        </p:nvSpPr>
        <p:spPr>
          <a:xfrm>
            <a:off x="3840480" y="2660904"/>
            <a:ext cx="2971800" cy="804672"/>
          </a:xfrm>
          <a:prstGeom prst="roundRect">
            <a:avLst>
              <a:gd name="adj" fmla="val 30000"/>
            </a:avLst>
          </a:prstGeom>
          <a:solidFill>
            <a:srgbClr val="FFFFFF"/>
          </a:solidFill>
          <a:ln>
            <a:noFill/>
          </a:ln>
        </p:spPr>
        <p:txBody>
          <a:bodyPr wrap="square" lIns="91440" tIns="0" rIns="91440" bIns="0" rtlCol="0" anchor="ctr">
            <a:noAutofit/>
          </a:bodyPr>
          <a:lstStyle/>
          <a:p>
            <a:pPr algn="ctr">
              <a:lnSpc>
                <a:spcPct val="100000"/>
              </a:lnSpc>
              <a:spcAft>
                <a:spcPts val="0"/>
              </a:spcAft>
            </a:pPr>
            <a:r>
              <a:rPr lang="en-IN" sz="1500" b="0" i="0" dirty="0">
                <a:solidFill>
                  <a:srgbClr val="3D2410"/>
                </a:solidFill>
                <a:latin typeface="Segoe UI Semibold"/>
                <a:cs typeface="Segoe UI Semibold"/>
              </a:rPr>
              <a:t xml:space="preserve">Paytm runs Munim</a:t>
            </a:r>
          </a:p>
          <a:p>
            <a:pPr algn="ctr">
              <a:lnSpc>
                <a:spcPct val="100000"/>
              </a:lnSpc>
              <a:spcAft>
                <a:spcPts val="0"/>
              </a:spcAft>
            </a:pPr>
            <a:r>
              <a:rPr lang="en-IN" sz="1150" b="0" i="0" dirty="0">
                <a:solidFill>
                  <a:srgbClr val="8A6F55"/>
                </a:solidFill>
                <a:latin typeface="Segoe UI"/>
                <a:cs typeface="Segoe UI"/>
              </a:rPr>
              <a:t xml:space="preserve">in-house, for every merchant</a:t>
            </a:r>
          </a:p>
        </p:txBody>
      </p:sp>
      <p:cxnSp>
        <p:nvCxnSpPr>
          <p:cNvPr id="104" name="Connector 104"/>
          <p:cNvCxnSpPr/>
          <p:nvPr/>
        </p:nvCxnSpPr>
        <p:spPr>
          <a:xfrm>
            <a:off x="6858000" y="3063240"/>
            <a:ext cx="289560" cy="0"/>
          </a:xfrm>
          <a:prstGeom prst="line">
            <a:avLst/>
          </a:prstGeom>
          <a:ln w="22225">
            <a:solidFill>
              <a:srgbClr val="8A6F55"/>
            </a:solidFill>
            <a:tailEnd type="triangle" w="med" len="med"/>
          </a:ln>
        </p:spPr>
      </p:cxnSp>
      <p:sp>
        <p:nvSpPr>
          <p:cNvPr id="105" name="Rounded Rectangle 105"/>
          <p:cNvSpPr/>
          <p:nvPr/>
        </p:nvSpPr>
        <p:spPr>
          <a:xfrm>
            <a:off x="7193280" y="2660904"/>
            <a:ext cx="2971800" cy="804672"/>
          </a:xfrm>
          <a:prstGeom prst="roundRect">
            <a:avLst>
              <a:gd name="adj" fmla="val 30000"/>
            </a:avLst>
          </a:prstGeom>
          <a:solidFill>
            <a:srgbClr val="FFFFFF"/>
          </a:solidFill>
          <a:ln>
            <a:noFill/>
          </a:ln>
        </p:spPr>
        <p:txBody>
          <a:bodyPr wrap="square" lIns="91440" tIns="0" rIns="91440" bIns="0" rtlCol="0" anchor="ctr">
            <a:noAutofit/>
          </a:bodyPr>
          <a:lstStyle/>
          <a:p>
            <a:pPr algn="ctr">
              <a:lnSpc>
                <a:spcPct val="100000"/>
              </a:lnSpc>
              <a:spcAft>
                <a:spcPts val="0"/>
              </a:spcAft>
            </a:pPr>
            <a:r>
              <a:rPr lang="en-IN" sz="1500" b="0" i="0" dirty="0">
                <a:solidFill>
                  <a:srgbClr val="3D2410"/>
                </a:solidFill>
                <a:latin typeface="Segoe UI Semibold"/>
                <a:cs typeface="Segoe UI Semibold"/>
              </a:rPr>
              <a:t xml:space="preserve">Merchant pays ₹0</a:t>
            </a:r>
          </a:p>
          <a:p>
            <a:pPr algn="ctr">
              <a:lnSpc>
                <a:spcPct val="100000"/>
              </a:lnSpc>
              <a:spcAft>
                <a:spcPts val="0"/>
              </a:spcAft>
            </a:pPr>
            <a:r>
              <a:rPr lang="en-IN" sz="1150" b="0" i="0" dirty="0">
                <a:solidFill>
                  <a:srgbClr val="8A6F55"/>
                </a:solidFill>
                <a:latin typeface="Segoe UI"/>
                <a:cs typeface="Segoe UI"/>
              </a:rPr>
              <a:t xml:space="preserve">no fee, no cut of the refund</a:t>
            </a:r>
          </a:p>
        </p:txBody>
      </p:sp>
      <p:cxnSp>
        <p:nvCxnSpPr>
          <p:cNvPr id="106" name="Connector 106"/>
          <p:cNvCxnSpPr/>
          <p:nvPr/>
        </p:nvCxnSpPr>
        <p:spPr>
          <a:xfrm>
            <a:off x="10210800" y="3063240"/>
            <a:ext cx="289560" cy="0"/>
          </a:xfrm>
          <a:prstGeom prst="line">
            <a:avLst/>
          </a:prstGeom>
          <a:ln w="22225">
            <a:solidFill>
              <a:srgbClr val="8A6F55"/>
            </a:solidFill>
            <a:tailEnd type="triangle" w="med" len="med"/>
          </a:ln>
        </p:spPr>
      </p:cxnSp>
      <p:sp>
        <p:nvSpPr>
          <p:cNvPr id="107" name="Rounded Rectangle 107"/>
          <p:cNvSpPr/>
          <p:nvPr/>
        </p:nvSpPr>
        <p:spPr>
          <a:xfrm>
            <a:off x="10546080" y="2660904"/>
            <a:ext cx="2971800" cy="804672"/>
          </a:xfrm>
          <a:prstGeom prst="roundRect">
            <a:avLst>
              <a:gd name="adj" fmla="val 30000"/>
            </a:avLst>
          </a:prstGeom>
          <a:solidFill>
            <a:srgbClr val="FFFFFF"/>
          </a:solidFill>
          <a:ln>
            <a:noFill/>
          </a:ln>
        </p:spPr>
        <p:txBody>
          <a:bodyPr wrap="square" lIns="91440" tIns="0" rIns="91440" bIns="0" rtlCol="0" anchor="ctr">
            <a:noAutofit/>
          </a:bodyPr>
          <a:lstStyle/>
          <a:p>
            <a:pPr algn="ctr">
              <a:lnSpc>
                <a:spcPct val="100000"/>
              </a:lnSpc>
              <a:spcAft>
                <a:spcPts val="0"/>
              </a:spcAft>
            </a:pPr>
            <a:r>
              <a:rPr lang="en-IN" sz="1500" b="0" i="0" dirty="0">
                <a:solidFill>
                  <a:srgbClr val="3D2410"/>
                </a:solidFill>
                <a:latin typeface="Segoe UI Semibold"/>
                <a:cs typeface="Segoe UI Semibold"/>
              </a:rPr>
              <a:t xml:space="preserve">Money goes back</a:t>
            </a:r>
          </a:p>
          <a:p>
            <a:pPr algn="ctr">
              <a:lnSpc>
                <a:spcPct val="100000"/>
              </a:lnSpc>
              <a:spcAft>
                <a:spcPts val="0"/>
              </a:spcAft>
            </a:pPr>
            <a:r>
              <a:rPr lang="en-IN" sz="1150" b="0" i="0" dirty="0">
                <a:solidFill>
                  <a:srgbClr val="8A6F55"/>
                </a:solidFill>
                <a:latin typeface="Segoe UI"/>
                <a:cs typeface="Segoe UI"/>
              </a:rPr>
              <a:t xml:space="preserve">in full, straight to the bank</a:t>
            </a:r>
          </a:p>
        </p:txBody>
      </p:sp>
      <p:cxnSp>
        <p:nvCxnSpPr>
          <p:cNvPr id="108" name="Connector 108"/>
          <p:cNvCxnSpPr/>
          <p:nvPr/>
        </p:nvCxnSpPr>
        <p:spPr>
          <a:xfrm>
            <a:off x="13563600" y="3063240"/>
            <a:ext cx="289560" cy="0"/>
          </a:xfrm>
          <a:prstGeom prst="line">
            <a:avLst/>
          </a:prstGeom>
          <a:ln w="22225">
            <a:solidFill>
              <a:srgbClr val="8A6F55"/>
            </a:solidFill>
            <a:tailEnd type="triangle" w="med" len="med"/>
          </a:ln>
        </p:spPr>
      </p:cxnSp>
      <p:sp>
        <p:nvSpPr>
          <p:cNvPr id="109" name="Rounded Rectangle 109"/>
          <p:cNvSpPr/>
          <p:nvPr/>
        </p:nvSpPr>
        <p:spPr>
          <a:xfrm>
            <a:off x="13898880" y="2660904"/>
            <a:ext cx="2971800" cy="804672"/>
          </a:xfrm>
          <a:prstGeom prst="roundRect">
            <a:avLst>
              <a:gd name="adj" fmla="val 30000"/>
            </a:avLst>
          </a:prstGeom>
          <a:solidFill>
            <a:srgbClr val="FFFFFF"/>
          </a:solidFill>
          <a:ln>
            <a:noFill/>
          </a:ln>
        </p:spPr>
        <p:txBody>
          <a:bodyPr wrap="square" lIns="91440" tIns="0" rIns="91440" bIns="0" rtlCol="0" anchor="ctr">
            <a:noAutofit/>
          </a:bodyPr>
          <a:lstStyle/>
          <a:p>
            <a:pPr algn="ctr">
              <a:lnSpc>
                <a:spcPct val="100000"/>
              </a:lnSpc>
              <a:spcAft>
                <a:spcPts val="0"/>
              </a:spcAft>
            </a:pPr>
            <a:r>
              <a:rPr lang="en-IN" sz="1500" b="0" i="0" dirty="0">
                <a:solidFill>
                  <a:srgbClr val="3D2410"/>
                </a:solidFill>
                <a:latin typeface="Segoe UI Semibold"/>
                <a:cs typeface="Segoe UI Semibold"/>
              </a:rPr>
              <a:t xml:space="preserve">Paytm gains</a:t>
            </a:r>
          </a:p>
          <a:p>
            <a:pPr algn="ctr">
              <a:lnSpc>
                <a:spcPct val="100000"/>
              </a:lnSpc>
              <a:spcAft>
                <a:spcPts val="0"/>
              </a:spcAft>
            </a:pPr>
            <a:r>
              <a:rPr lang="en-IN" sz="1150" b="0" i="0" dirty="0">
                <a:solidFill>
                  <a:srgbClr val="8A6F55"/>
                </a:solidFill>
                <a:latin typeface="Segoe UI"/>
                <a:cs typeface="Segoe UI"/>
              </a:rPr>
              <a:t xml:space="preserve">lower cost, loyal merchants</a:t>
            </a:r>
          </a:p>
        </p:txBody>
      </p:sp>
      <p:sp>
        <p:nvSpPr>
          <p:cNvPr id="110" name="TextBox 110"/>
          <p:cNvSpPr txBox="1"/>
          <p:nvPr/>
        </p:nvSpPr>
        <p:spPr>
          <a:xfrm>
            <a:off x="1188720" y="3886200"/>
            <a:ext cx="15910560" cy="320040"/>
          </a:xfrm>
          <a:prstGeom prst="rect">
            <a:avLst/>
          </a:prstGeom>
          <a:noFill/>
        </p:spPr>
        <p:txBody>
          <a:bodyPr wrap="square" lIns="0" tIns="0" rIns="0" bIns="0" anchor="t">
            <a:noAutofit/>
          </a:bodyPr>
          <a:lstStyle/>
          <a:p>
            <a:pPr algn="l">
              <a:lnSpc>
                <a:spcPct val="112000"/>
              </a:lnSpc>
              <a:spcAft>
                <a:spcPts val="0"/>
              </a:spcAft>
            </a:pPr>
            <a:r>
              <a:rPr lang="en-IN" sz="1600" b="0" i="0" dirty="0">
                <a:solidFill>
                  <a:srgbClr val="B96A1E"/>
                </a:solidFill>
                <a:latin typeface="Segoe UI Semibold"/>
                <a:cs typeface="Segoe UI Semibold"/>
              </a:rPr>
              <a:t xml:space="preserve">Where Paytm gets its return</a:t>
            </a:r>
          </a:p>
        </p:txBody>
      </p:sp>
      <p:sp>
        <p:nvSpPr>
          <p:cNvPr id="111" name="Rounded Rectangle 111"/>
          <p:cNvSpPr/>
          <p:nvPr/>
        </p:nvSpPr>
        <p:spPr>
          <a:xfrm>
            <a:off x="1188720" y="4297680"/>
            <a:ext cx="3771900" cy="301752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12" name="TextBox 112"/>
          <p:cNvSpPr txBox="1"/>
          <p:nvPr/>
        </p:nvSpPr>
        <p:spPr>
          <a:xfrm>
            <a:off x="1417320" y="4480560"/>
            <a:ext cx="3314700" cy="594360"/>
          </a:xfrm>
          <a:prstGeom prst="rect">
            <a:avLst/>
          </a:prstGeom>
          <a:noFill/>
        </p:spPr>
        <p:txBody>
          <a:bodyPr wrap="square" lIns="0" tIns="0" rIns="0" bIns="0" anchor="t">
            <a:noAutofit/>
          </a:bodyPr>
          <a:lstStyle/>
          <a:p>
            <a:pPr algn="l">
              <a:lnSpc>
                <a:spcPct val="100000"/>
              </a:lnSpc>
              <a:spcAft>
                <a:spcPts val="0"/>
              </a:spcAft>
            </a:pPr>
            <a:r>
              <a:rPr lang="en-IN" sz="1800" b="0" i="0" dirty="0">
                <a:solidFill>
                  <a:srgbClr val="3D2410"/>
                </a:solidFill>
                <a:latin typeface="Segoe UI Semibold"/>
                <a:cs typeface="Segoe UI Semibold"/>
              </a:rPr>
              <a:t xml:space="preserve">Fewer tickets</a:t>
            </a:r>
          </a:p>
        </p:txBody>
      </p:sp>
      <p:sp>
        <p:nvSpPr>
          <p:cNvPr id="113" name="TextBox 113"/>
          <p:cNvSpPr txBox="1"/>
          <p:nvPr/>
        </p:nvSpPr>
        <p:spPr>
          <a:xfrm>
            <a:off x="1417320" y="5120640"/>
            <a:ext cx="3314700" cy="1143000"/>
          </a:xfrm>
          <a:prstGeom prst="rect">
            <a:avLst/>
          </a:prstGeom>
          <a:noFill/>
        </p:spPr>
        <p:txBody>
          <a:bodyPr wrap="square" lIns="0" tIns="0" rIns="0" bIns="0" anchor="t">
            <a:noAutofit/>
          </a:bodyPr>
          <a:lstStyle/>
          <a:p>
            <a:pPr algn="l">
              <a:lnSpc>
                <a:spcPct val="110000"/>
              </a:lnSpc>
              <a:spcAft>
                <a:spcPts val="0"/>
              </a:spcAft>
            </a:pPr>
            <a:r>
              <a:rPr lang="en-IN" sz="1300" b="0" i="0" dirty="0">
                <a:solidFill>
                  <a:srgbClr val="3D2410"/>
                </a:solidFill>
                <a:latin typeface="Segoe UI"/>
                <a:cs typeface="Segoe UI"/>
              </a:rPr>
              <a:t xml:space="preserve">Merchants stop calling about settlement charges. Ops only looks at the cases Munim couldn’t prove by itself.</a:t>
            </a:r>
          </a:p>
        </p:txBody>
      </p:sp>
      <p:sp>
        <p:nvSpPr>
          <p:cNvPr id="114" name="TextBox 114"/>
          <p:cNvSpPr txBox="1"/>
          <p:nvPr/>
        </p:nvSpPr>
        <p:spPr>
          <a:xfrm>
            <a:off x="1417320" y="6263640"/>
            <a:ext cx="3314700" cy="502920"/>
          </a:xfrm>
          <a:prstGeom prst="rect">
            <a:avLst/>
          </a:prstGeom>
          <a:noFill/>
        </p:spPr>
        <p:txBody>
          <a:bodyPr wrap="square" lIns="0" tIns="0" rIns="0" bIns="0" anchor="b">
            <a:noAutofit/>
          </a:bodyPr>
          <a:lstStyle/>
          <a:p>
            <a:pPr algn="l">
              <a:lnSpc>
                <a:spcPct val="112000"/>
              </a:lnSpc>
              <a:spcAft>
                <a:spcPts val="0"/>
              </a:spcAft>
            </a:pPr>
            <a:r>
              <a:rPr lang="en-IN" sz="2600" b="0" i="0" dirty="0">
                <a:solidFill>
                  <a:srgbClr val="B96A1E"/>
                </a:solidFill>
                <a:latin typeface="Segoe UI Semibold"/>
                <a:cs typeface="Segoe UI Semibold"/>
              </a:rPr>
              <a:t xml:space="preserve">120 / 120</a:t>
            </a:r>
          </a:p>
        </p:txBody>
      </p:sp>
      <p:sp>
        <p:nvSpPr>
          <p:cNvPr id="115" name="TextBox 115"/>
          <p:cNvSpPr txBox="1"/>
          <p:nvPr/>
        </p:nvSpPr>
        <p:spPr>
          <a:xfrm>
            <a:off x="1417320" y="6812280"/>
            <a:ext cx="3314700" cy="411480"/>
          </a:xfrm>
          <a:prstGeom prst="rect">
            <a:avLst/>
          </a:prstGeom>
          <a:noFill/>
        </p:spPr>
        <p:txBody>
          <a:bodyPr wrap="square" lIns="0" tIns="0" rIns="0" bIns="0" anchor="t">
            <a:noAutofit/>
          </a:bodyPr>
          <a:lstStyle/>
          <a:p>
            <a:pPr algn="l">
              <a:lnSpc>
                <a:spcPct val="105000"/>
              </a:lnSpc>
              <a:spcAft>
                <a:spcPts val="0"/>
              </a:spcAft>
            </a:pPr>
            <a:r>
              <a:rPr lang="en-IN" sz="1150" b="0" i="0" dirty="0">
                <a:solidFill>
                  <a:srgbClr val="8A6F55"/>
                </a:solidFill>
                <a:latin typeface="Segoe UI"/>
                <a:cs typeface="Segoe UI"/>
              </a:rPr>
              <a:t xml:space="preserve">unclear cases sent to a person</a:t>
            </a:r>
          </a:p>
        </p:txBody>
      </p:sp>
      <p:sp>
        <p:nvSpPr>
          <p:cNvPr id="116" name="Rounded Rectangle 116"/>
          <p:cNvSpPr/>
          <p:nvPr/>
        </p:nvSpPr>
        <p:spPr>
          <a:xfrm>
            <a:off x="5234940" y="4297680"/>
            <a:ext cx="3771900" cy="301752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17" name="TextBox 117"/>
          <p:cNvSpPr txBox="1"/>
          <p:nvPr/>
        </p:nvSpPr>
        <p:spPr>
          <a:xfrm>
            <a:off x="5463540" y="4480560"/>
            <a:ext cx="3314700" cy="594360"/>
          </a:xfrm>
          <a:prstGeom prst="rect">
            <a:avLst/>
          </a:prstGeom>
          <a:noFill/>
        </p:spPr>
        <p:txBody>
          <a:bodyPr wrap="square" lIns="0" tIns="0" rIns="0" bIns="0" anchor="t">
            <a:noAutofit/>
          </a:bodyPr>
          <a:lstStyle/>
          <a:p>
            <a:pPr algn="l">
              <a:lnSpc>
                <a:spcPct val="100000"/>
              </a:lnSpc>
              <a:spcAft>
                <a:spcPts val="0"/>
              </a:spcAft>
            </a:pPr>
            <a:r>
              <a:rPr lang="en-IN" sz="1800" b="0" i="0" dirty="0">
                <a:solidFill>
                  <a:srgbClr val="3D2410"/>
                </a:solidFill>
                <a:latin typeface="Segoe UI Semibold"/>
                <a:cs typeface="Segoe UI Semibold"/>
              </a:rPr>
              <a:t xml:space="preserve">Merchants who stay</a:t>
            </a:r>
          </a:p>
        </p:txBody>
      </p:sp>
      <p:sp>
        <p:nvSpPr>
          <p:cNvPr id="118" name="TextBox 118"/>
          <p:cNvSpPr txBox="1"/>
          <p:nvPr/>
        </p:nvSpPr>
        <p:spPr>
          <a:xfrm>
            <a:off x="5463540" y="5120640"/>
            <a:ext cx="3314700" cy="1143000"/>
          </a:xfrm>
          <a:prstGeom prst="rect">
            <a:avLst/>
          </a:prstGeom>
          <a:noFill/>
        </p:spPr>
        <p:txBody>
          <a:bodyPr wrap="square" lIns="0" tIns="0" rIns="0" bIns="0" anchor="t">
            <a:noAutofit/>
          </a:bodyPr>
          <a:lstStyle/>
          <a:p>
            <a:pPr algn="l">
              <a:lnSpc>
                <a:spcPct val="110000"/>
              </a:lnSpc>
              <a:spcAft>
                <a:spcPts val="0"/>
              </a:spcAft>
            </a:pPr>
            <a:r>
              <a:rPr lang="en-IN" sz="1300" b="0" i="0" dirty="0">
                <a:solidFill>
                  <a:srgbClr val="3D2410"/>
                </a:solidFill>
                <a:latin typeface="Segoe UI"/>
                <a:cs typeface="Segoe UI"/>
              </a:rPr>
              <a:t xml:space="preserve">A shopkeeper who gets money back without asking has no reason to switch to another provider or go back to cash.</a:t>
            </a:r>
          </a:p>
        </p:txBody>
      </p:sp>
      <p:sp>
        <p:nvSpPr>
          <p:cNvPr id="119" name="TextBox 119"/>
          <p:cNvSpPr txBox="1"/>
          <p:nvPr/>
        </p:nvSpPr>
        <p:spPr>
          <a:xfrm>
            <a:off x="5463540" y="6263640"/>
            <a:ext cx="3314700" cy="502920"/>
          </a:xfrm>
          <a:prstGeom prst="rect">
            <a:avLst/>
          </a:prstGeom>
          <a:noFill/>
        </p:spPr>
        <p:txBody>
          <a:bodyPr wrap="square" lIns="0" tIns="0" rIns="0" bIns="0" anchor="b">
            <a:noAutofit/>
          </a:bodyPr>
          <a:lstStyle/>
          <a:p>
            <a:pPr algn="l">
              <a:lnSpc>
                <a:spcPct val="112000"/>
              </a:lnSpc>
              <a:spcAft>
                <a:spcPts val="0"/>
              </a:spcAft>
            </a:pPr>
            <a:r>
              <a:rPr lang="en-IN" sz="2600" b="0" i="0" dirty="0">
                <a:solidFill>
                  <a:srgbClr val="B96A1E"/>
                </a:solidFill>
                <a:latin typeface="Segoe UI Semibold"/>
                <a:cs typeface="Segoe UI Semibold"/>
              </a:rPr>
              <a:t xml:space="preserve">₹25,712</a:t>
            </a:r>
          </a:p>
        </p:txBody>
      </p:sp>
      <p:sp>
        <p:nvSpPr>
          <p:cNvPr id="120" name="TextBox 120"/>
          <p:cNvSpPr txBox="1"/>
          <p:nvPr/>
        </p:nvSpPr>
        <p:spPr>
          <a:xfrm>
            <a:off x="5463540" y="6812280"/>
            <a:ext cx="3314700" cy="411480"/>
          </a:xfrm>
          <a:prstGeom prst="rect">
            <a:avLst/>
          </a:prstGeom>
          <a:noFill/>
        </p:spPr>
        <p:txBody>
          <a:bodyPr wrap="square" lIns="0" tIns="0" rIns="0" bIns="0" anchor="t">
            <a:noAutofit/>
          </a:bodyPr>
          <a:lstStyle/>
          <a:p>
            <a:pPr algn="l">
              <a:lnSpc>
                <a:spcPct val="105000"/>
              </a:lnSpc>
              <a:spcAft>
                <a:spcPts val="0"/>
              </a:spcAft>
            </a:pPr>
            <a:r>
              <a:rPr lang="en-IN" sz="1150" b="0" i="0" dirty="0">
                <a:solidFill>
                  <a:srgbClr val="8A6F55"/>
                </a:solidFill>
                <a:latin typeface="Segoe UI"/>
                <a:cs typeface="Segoe UI"/>
              </a:rPr>
              <a:t xml:space="preserve">found for one supermarket in a year</a:t>
            </a:r>
          </a:p>
        </p:txBody>
      </p:sp>
      <p:sp>
        <p:nvSpPr>
          <p:cNvPr id="121" name="Rounded Rectangle 121"/>
          <p:cNvSpPr/>
          <p:nvPr/>
        </p:nvSpPr>
        <p:spPr>
          <a:xfrm>
            <a:off x="9281160" y="4297680"/>
            <a:ext cx="3771900" cy="301752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22" name="TextBox 122"/>
          <p:cNvSpPr txBox="1"/>
          <p:nvPr/>
        </p:nvSpPr>
        <p:spPr>
          <a:xfrm>
            <a:off x="9509760" y="4480560"/>
            <a:ext cx="3314700" cy="594360"/>
          </a:xfrm>
          <a:prstGeom prst="rect">
            <a:avLst/>
          </a:prstGeom>
          <a:noFill/>
        </p:spPr>
        <p:txBody>
          <a:bodyPr wrap="square" lIns="0" tIns="0" rIns="0" bIns="0" anchor="t">
            <a:noAutofit/>
          </a:bodyPr>
          <a:lstStyle/>
          <a:p>
            <a:pPr algn="l">
              <a:lnSpc>
                <a:spcPct val="100000"/>
              </a:lnSpc>
              <a:spcAft>
                <a:spcPts val="0"/>
              </a:spcAft>
            </a:pPr>
            <a:r>
              <a:rPr lang="en-IN" sz="1800" b="0" i="0" dirty="0">
                <a:solidFill>
                  <a:srgbClr val="3D2410"/>
                </a:solidFill>
                <a:latin typeface="Segoe UI Semibold"/>
                <a:cs typeface="Segoe UI Semibold"/>
              </a:rPr>
              <a:t xml:space="preserve">Fewer repeat mistakes</a:t>
            </a:r>
          </a:p>
        </p:txBody>
      </p:sp>
      <p:sp>
        <p:nvSpPr>
          <p:cNvPr id="123" name="TextBox 123"/>
          <p:cNvSpPr txBox="1"/>
          <p:nvPr/>
        </p:nvSpPr>
        <p:spPr>
          <a:xfrm>
            <a:off x="9509760" y="5120640"/>
            <a:ext cx="3314700" cy="1143000"/>
          </a:xfrm>
          <a:prstGeom prst="rect">
            <a:avLst/>
          </a:prstGeom>
          <a:noFill/>
        </p:spPr>
        <p:txBody>
          <a:bodyPr wrap="square" lIns="0" tIns="0" rIns="0" bIns="0" anchor="t">
            <a:noAutofit/>
          </a:bodyPr>
          <a:lstStyle/>
          <a:p>
            <a:pPr algn="l">
              <a:lnSpc>
                <a:spcPct val="110000"/>
              </a:lnSpc>
              <a:spcAft>
                <a:spcPts val="0"/>
              </a:spcAft>
            </a:pPr>
            <a:r>
              <a:rPr lang="en-IN" sz="1300" b="0" i="0" dirty="0">
                <a:solidFill>
                  <a:srgbClr val="3D2410"/>
                </a:solidFill>
                <a:latin typeface="Segoe UI"/>
                <a:cs typeface="Segoe UI"/>
              </a:rPr>
              <a:t xml:space="preserve">One root-cause fix protects every merchant on that setting, not just the one who got hit.</a:t>
            </a:r>
          </a:p>
        </p:txBody>
      </p:sp>
      <p:sp>
        <p:nvSpPr>
          <p:cNvPr id="124" name="TextBox 124"/>
          <p:cNvSpPr txBox="1"/>
          <p:nvPr/>
        </p:nvSpPr>
        <p:spPr>
          <a:xfrm>
            <a:off x="9509760" y="6263640"/>
            <a:ext cx="3314700" cy="502920"/>
          </a:xfrm>
          <a:prstGeom prst="rect">
            <a:avLst/>
          </a:prstGeom>
          <a:noFill/>
        </p:spPr>
        <p:txBody>
          <a:bodyPr wrap="square" lIns="0" tIns="0" rIns="0" bIns="0" anchor="b">
            <a:noAutofit/>
          </a:bodyPr>
          <a:lstStyle/>
          <a:p>
            <a:pPr algn="l">
              <a:lnSpc>
                <a:spcPct val="112000"/>
              </a:lnSpc>
              <a:spcAft>
                <a:spcPts val="0"/>
              </a:spcAft>
            </a:pPr>
            <a:r>
              <a:rPr lang="en-IN" sz="2600" b="0" i="0" dirty="0">
                <a:solidFill>
                  <a:srgbClr val="B96A1E"/>
                </a:solidFill>
                <a:latin typeface="Segoe UI Semibold"/>
                <a:cs typeface="Segoe UI Semibold"/>
              </a:rPr>
              <a:t xml:space="preserve">₹1.22 L</a:t>
            </a:r>
          </a:p>
        </p:txBody>
      </p:sp>
      <p:sp>
        <p:nvSpPr>
          <p:cNvPr id="125" name="TextBox 125"/>
          <p:cNvSpPr txBox="1"/>
          <p:nvPr/>
        </p:nvSpPr>
        <p:spPr>
          <a:xfrm>
            <a:off x="9509760" y="6812280"/>
            <a:ext cx="3314700" cy="411480"/>
          </a:xfrm>
          <a:prstGeom prst="rect">
            <a:avLst/>
          </a:prstGeom>
          <a:noFill/>
        </p:spPr>
        <p:txBody>
          <a:bodyPr wrap="square" lIns="0" tIns="0" rIns="0" bIns="0" anchor="t">
            <a:noAutofit/>
          </a:bodyPr>
          <a:lstStyle/>
          <a:p>
            <a:pPr algn="l">
              <a:lnSpc>
                <a:spcPct val="105000"/>
              </a:lnSpc>
              <a:spcAft>
                <a:spcPts val="0"/>
              </a:spcAft>
            </a:pPr>
            <a:r>
              <a:rPr lang="en-IN" sz="1150" b="0" i="0" dirty="0">
                <a:solidFill>
                  <a:srgbClr val="8A6F55"/>
                </a:solidFill>
                <a:latin typeface="Segoe UI"/>
                <a:cs typeface="Segoe UI"/>
              </a:rPr>
              <a:t xml:space="preserve">of future leakage stopped at the root</a:t>
            </a:r>
          </a:p>
        </p:txBody>
      </p:sp>
      <p:sp>
        <p:nvSpPr>
          <p:cNvPr id="126" name="Rounded Rectangle 126"/>
          <p:cNvSpPr/>
          <p:nvPr/>
        </p:nvSpPr>
        <p:spPr>
          <a:xfrm>
            <a:off x="13327380" y="4297680"/>
            <a:ext cx="3771900" cy="3017520"/>
          </a:xfrm>
          <a:prstGeom prst="roundRect">
            <a:avLst>
              <a:gd name="adj" fmla="val 6000"/>
            </a:avLst>
          </a:prstGeom>
          <a:solidFill>
            <a:schemeClr val="bg1">
              <a:lumMod val="85000"/>
            </a:schemeClr>
          </a:solidFill>
          <a:ln w="12700">
            <a:solidFill>
              <a:srgbClr val="E9DDC7"/>
            </a:solidFill>
          </a:ln>
        </p:spPr>
        <p:txBody>
          <a:bodyPr wrap="square" lIns="91440" tIns="0" rIns="91440" bIns="0" rtlCol="0" anchor="ctr">
            <a:noAutofit/>
          </a:bodyPr>
          <a:lstStyle/>
          <a:p>
            <a:endParaRPr/>
          </a:p>
        </p:txBody>
      </p:sp>
      <p:sp>
        <p:nvSpPr>
          <p:cNvPr id="127" name="TextBox 127"/>
          <p:cNvSpPr txBox="1"/>
          <p:nvPr/>
        </p:nvSpPr>
        <p:spPr>
          <a:xfrm>
            <a:off x="13555980" y="4480560"/>
            <a:ext cx="3314700" cy="594360"/>
          </a:xfrm>
          <a:prstGeom prst="rect">
            <a:avLst/>
          </a:prstGeom>
          <a:noFill/>
        </p:spPr>
        <p:txBody>
          <a:bodyPr wrap="square" lIns="0" tIns="0" rIns="0" bIns="0" anchor="t">
            <a:noAutofit/>
          </a:bodyPr>
          <a:lstStyle/>
          <a:p>
            <a:pPr algn="l">
              <a:lnSpc>
                <a:spcPct val="100000"/>
              </a:lnSpc>
              <a:spcAft>
                <a:spcPts val="0"/>
              </a:spcAft>
            </a:pPr>
            <a:r>
              <a:rPr lang="en-IN" sz="1800" b="0" i="0" dirty="0">
                <a:solidFill>
                  <a:srgbClr val="3D2410"/>
                </a:solidFill>
                <a:latin typeface="Segoe UI Semibold"/>
                <a:cs typeface="Segoe UI Semibold"/>
              </a:rPr>
              <a:t xml:space="preserve">Cheap to run</a:t>
            </a:r>
          </a:p>
        </p:txBody>
      </p:sp>
      <p:sp>
        <p:nvSpPr>
          <p:cNvPr id="128" name="TextBox 128"/>
          <p:cNvSpPr txBox="1"/>
          <p:nvPr/>
        </p:nvSpPr>
        <p:spPr>
          <a:xfrm>
            <a:off x="13555980" y="5120640"/>
            <a:ext cx="3314700" cy="1143000"/>
          </a:xfrm>
          <a:prstGeom prst="rect">
            <a:avLst/>
          </a:prstGeom>
          <a:noFill/>
        </p:spPr>
        <p:txBody>
          <a:bodyPr wrap="square" lIns="0" tIns="0" rIns="0" bIns="0" anchor="t">
            <a:noAutofit/>
          </a:bodyPr>
          <a:lstStyle/>
          <a:p>
            <a:pPr algn="l">
              <a:lnSpc>
                <a:spcPct val="110000"/>
              </a:lnSpc>
              <a:spcAft>
                <a:spcPts val="0"/>
              </a:spcAft>
            </a:pPr>
            <a:r>
              <a:rPr lang="en-IN" sz="1300" b="0" i="0" dirty="0">
                <a:solidFill>
                  <a:srgbClr val="3D2410"/>
                </a:solidFill>
                <a:latin typeface="Segoe UI"/>
                <a:cs typeface="Segoe UI"/>
              </a:rPr>
              <a:t xml:space="preserve">The money maths is plain code. AI is only used to explain and chat, through Sarvam, with a local Gemma model as backup if Sarvam is down.</a:t>
            </a:r>
          </a:p>
        </p:txBody>
      </p:sp>
      <p:sp>
        <p:nvSpPr>
          <p:cNvPr id="129" name="TextBox 129"/>
          <p:cNvSpPr txBox="1"/>
          <p:nvPr/>
        </p:nvSpPr>
        <p:spPr>
          <a:xfrm>
            <a:off x="13555980" y="6263640"/>
            <a:ext cx="3314700" cy="502920"/>
          </a:xfrm>
          <a:prstGeom prst="rect">
            <a:avLst/>
          </a:prstGeom>
          <a:noFill/>
        </p:spPr>
        <p:txBody>
          <a:bodyPr wrap="square" lIns="0" tIns="0" rIns="0" bIns="0" anchor="b">
            <a:noAutofit/>
          </a:bodyPr>
          <a:lstStyle/>
          <a:p>
            <a:pPr algn="l">
              <a:lnSpc>
                <a:spcPct val="112000"/>
              </a:lnSpc>
              <a:spcAft>
                <a:spcPts val="0"/>
              </a:spcAft>
            </a:pPr>
            <a:r>
              <a:rPr lang="en-IN" sz="2600" b="0" i="0" dirty="0">
                <a:solidFill>
                  <a:srgbClr val="B96A1E"/>
                </a:solidFill>
                <a:latin typeface="Segoe UI Semibold"/>
                <a:cs typeface="Segoe UI Semibold"/>
              </a:rPr>
              <a:t xml:space="preserve">0</a:t>
            </a:r>
          </a:p>
        </p:txBody>
      </p:sp>
      <p:sp>
        <p:nvSpPr>
          <p:cNvPr id="130" name="TextBox 130"/>
          <p:cNvSpPr txBox="1"/>
          <p:nvPr/>
        </p:nvSpPr>
        <p:spPr>
          <a:xfrm>
            <a:off x="13555980" y="6812280"/>
            <a:ext cx="3314700" cy="411480"/>
          </a:xfrm>
          <a:prstGeom prst="rect">
            <a:avLst/>
          </a:prstGeom>
          <a:noFill/>
        </p:spPr>
        <p:txBody>
          <a:bodyPr wrap="square" lIns="0" tIns="0" rIns="0" bIns="0" anchor="t">
            <a:noAutofit/>
          </a:bodyPr>
          <a:lstStyle/>
          <a:p>
            <a:pPr algn="l">
              <a:lnSpc>
                <a:spcPct val="105000"/>
              </a:lnSpc>
              <a:spcAft>
                <a:spcPts val="0"/>
              </a:spcAft>
            </a:pPr>
            <a:r>
              <a:rPr lang="en-IN" sz="1150" b="0" i="0" dirty="0">
                <a:solidFill>
                  <a:srgbClr val="8A6F55"/>
                </a:solidFill>
                <a:latin typeface="Segoe UI"/>
                <a:cs typeface="Segoe UI"/>
              </a:rPr>
              <a:t xml:space="preserve">external services the core depends on</a:t>
            </a:r>
          </a:p>
        </p:txBody>
      </p:sp>
      <p:sp>
        <p:nvSpPr>
          <p:cNvPr id="131" name="Rounded Rectangle 131"/>
          <p:cNvSpPr/>
          <p:nvPr/>
        </p:nvSpPr>
        <p:spPr>
          <a:xfrm>
            <a:off x="1188720" y="7543800"/>
            <a:ext cx="15910560" cy="1828800"/>
          </a:xfrm>
          <a:prstGeom prst="roundRect">
            <a:avLst>
              <a:gd name="adj" fmla="val 8000"/>
            </a:avLst>
          </a:prstGeom>
          <a:solidFill>
            <a:schemeClr val="tx2">
              <a:lumMod val="20000"/>
              <a:lumOff val="80000"/>
            </a:schemeClr>
          </a:solidFill>
          <a:ln>
            <a:noFill/>
          </a:ln>
        </p:spPr>
        <p:txBody>
          <a:bodyPr wrap="square" lIns="91440" tIns="0" rIns="91440" bIns="0" rtlCol="0" anchor="ctr">
            <a:noAutofit/>
          </a:bodyPr>
          <a:lstStyle/>
          <a:p>
            <a:endParaRPr/>
          </a:p>
        </p:txBody>
      </p:sp>
      <p:sp>
        <p:nvSpPr>
          <p:cNvPr id="132" name="TextBox 132"/>
          <p:cNvSpPr txBox="1"/>
          <p:nvPr/>
        </p:nvSpPr>
        <p:spPr>
          <a:xfrm>
            <a:off x="1417320" y="7543800"/>
            <a:ext cx="2286000" cy="1828800"/>
          </a:xfrm>
          <a:prstGeom prst="rect">
            <a:avLst/>
          </a:prstGeom>
          <a:noFill/>
        </p:spPr>
        <p:txBody>
          <a:bodyPr wrap="square" lIns="0" tIns="0" rIns="0" bIns="0" anchor="ctr">
            <a:noAutofit/>
          </a:bodyPr>
          <a:lstStyle/>
          <a:p>
            <a:pPr algn="l">
              <a:lnSpc>
                <a:spcPct val="112000"/>
              </a:lnSpc>
              <a:spcAft>
                <a:spcPts val="0"/>
              </a:spcAft>
            </a:pPr>
            <a:r>
              <a:rPr lang="en-IN" sz="1500" b="0" i="0" dirty="0">
                <a:solidFill>
                  <a:srgbClr val="8A6F55"/>
                </a:solidFill>
                <a:latin typeface="Segoe UI Semibold"/>
                <a:cs typeface="Segoe UI Semibold"/>
              </a:rPr>
              <a:t xml:space="preserve">HOW IT GROWS</a:t>
            </a:r>
          </a:p>
        </p:txBody>
      </p:sp>
      <p:sp>
        <p:nvSpPr>
          <p:cNvPr id="133" name="Rounded Rectangle 133"/>
          <p:cNvSpPr/>
          <p:nvPr/>
        </p:nvSpPr>
        <p:spPr>
          <a:xfrm>
            <a:off x="3840480" y="7772400"/>
            <a:ext cx="3931920" cy="1371600"/>
          </a:xfrm>
          <a:prstGeom prst="roundRect">
            <a:avLst>
              <a:gd name="adj" fmla="val 12000"/>
            </a:avLst>
          </a:prstGeom>
          <a:solidFill>
            <a:srgbClr val="FFFFFF"/>
          </a:solidFill>
          <a:ln>
            <a:solidFill>
              <a:schemeClr val="accent2"/>
            </a:solidFill>
          </a:ln>
        </p:spPr>
        <p:txBody>
          <a:bodyPr wrap="square" lIns="91440" tIns="0" rIns="91440" bIns="0" rtlCol="0" anchor="ctr">
            <a:noAutofit/>
          </a:bodyPr>
          <a:lstStyle/>
          <a:p>
            <a:pPr algn="l">
              <a:lnSpc>
                <a:spcPct val="100000"/>
              </a:lnSpc>
              <a:spcAft>
                <a:spcPts val="300"/>
              </a:spcAft>
            </a:pPr>
            <a:r>
              <a:rPr lang="en-IN" sz="1500" b="0" i="0" dirty="0">
                <a:solidFill>
                  <a:srgbClr val="B96A1E"/>
                </a:solidFill>
                <a:latin typeface="Segoe UI Semibold"/>
                <a:cs typeface="Segoe UI Semibold"/>
              </a:rPr>
              <a:t xml:space="preserve">Now</a:t>
            </a:r>
          </a:p>
          <a:p>
            <a:pPr algn="l">
              <a:lnSpc>
                <a:spcPct val="108000"/>
              </a:lnSpc>
              <a:spcAft>
                <a:spcPts val="0"/>
              </a:spcAft>
            </a:pPr>
            <a:r>
              <a:rPr lang="en-IN" sz="1250" b="0" i="0" dirty="0">
                <a:solidFill>
                  <a:srgbClr val="3D2410"/>
                </a:solidFill>
                <a:latin typeface="Segoe UI"/>
                <a:cs typeface="Segoe UI"/>
              </a:rPr>
              <a:t xml:space="preserve">Built into Paytm’s settlement ops. Recovery for merchants stays free, always.</a:t>
            </a:r>
          </a:p>
        </p:txBody>
      </p:sp>
      <p:cxnSp>
        <p:nvCxnSpPr>
          <p:cNvPr id="134" name="Connector 134"/>
          <p:cNvCxnSpPr/>
          <p:nvPr/>
        </p:nvCxnSpPr>
        <p:spPr>
          <a:xfrm>
            <a:off x="7818120" y="8458200"/>
            <a:ext cx="525780" cy="0"/>
          </a:xfrm>
          <a:prstGeom prst="line">
            <a:avLst/>
          </a:prstGeom>
          <a:ln w="22225">
            <a:solidFill>
              <a:srgbClr val="8A6F55"/>
            </a:solidFill>
            <a:tailEnd type="triangle" w="med" len="med"/>
          </a:ln>
        </p:spPr>
      </p:cxnSp>
      <p:sp>
        <p:nvSpPr>
          <p:cNvPr id="135" name="Rounded Rectangle 135"/>
          <p:cNvSpPr/>
          <p:nvPr/>
        </p:nvSpPr>
        <p:spPr>
          <a:xfrm>
            <a:off x="8389620" y="7772400"/>
            <a:ext cx="3931920" cy="1371600"/>
          </a:xfrm>
          <a:prstGeom prst="roundRect">
            <a:avLst>
              <a:gd name="adj" fmla="val 12000"/>
            </a:avLst>
          </a:prstGeom>
          <a:solidFill>
            <a:srgbClr val="FFFFFF"/>
          </a:solidFill>
          <a:ln>
            <a:solidFill>
              <a:schemeClr val="accent2"/>
            </a:solidFill>
          </a:ln>
        </p:spPr>
        <p:txBody>
          <a:bodyPr wrap="square" lIns="91440" tIns="0" rIns="91440" bIns="0" rtlCol="0" anchor="ctr">
            <a:noAutofit/>
          </a:bodyPr>
          <a:lstStyle/>
          <a:p>
            <a:pPr algn="l">
              <a:lnSpc>
                <a:spcPct val="100000"/>
              </a:lnSpc>
              <a:spcAft>
                <a:spcPts val="300"/>
              </a:spcAft>
            </a:pPr>
            <a:r>
              <a:rPr lang="en-IN" sz="1500" b="0" i="0" dirty="0">
                <a:solidFill>
                  <a:srgbClr val="B96A1E"/>
                </a:solidFill>
                <a:latin typeface="Segoe UI Semibold"/>
                <a:cs typeface="Segoe UI Semibold"/>
              </a:rPr>
              <a:t xml:space="preserve">Next</a:t>
            </a:r>
          </a:p>
          <a:p>
            <a:pPr algn="l">
              <a:lnSpc>
                <a:spcPct val="108000"/>
              </a:lnSpc>
              <a:spcAft>
                <a:spcPts val="0"/>
              </a:spcAft>
            </a:pPr>
            <a:r>
              <a:rPr lang="en-IN" sz="1250" b="0" i="0" dirty="0">
                <a:solidFill>
                  <a:srgbClr val="3D2410"/>
                </a:solidFill>
                <a:latin typeface="Segoe UI"/>
                <a:cs typeface="Segoe UI"/>
              </a:rPr>
              <a:t xml:space="preserve">Paid add-on for larger merchants: multi-outlet reconciliation and GST-ready reports.</a:t>
            </a:r>
          </a:p>
        </p:txBody>
      </p:sp>
      <p:cxnSp>
        <p:nvCxnSpPr>
          <p:cNvPr id="136" name="Connector 136"/>
          <p:cNvCxnSpPr/>
          <p:nvPr/>
        </p:nvCxnSpPr>
        <p:spPr>
          <a:xfrm>
            <a:off x="12367260" y="8458200"/>
            <a:ext cx="525780" cy="0"/>
          </a:xfrm>
          <a:prstGeom prst="line">
            <a:avLst/>
          </a:prstGeom>
          <a:ln w="22225">
            <a:solidFill>
              <a:srgbClr val="8A6F55"/>
            </a:solidFill>
            <a:tailEnd type="triangle" w="med" len="med"/>
          </a:ln>
        </p:spPr>
      </p:cxnSp>
      <p:sp>
        <p:nvSpPr>
          <p:cNvPr id="137" name="Rounded Rectangle 137"/>
          <p:cNvSpPr/>
          <p:nvPr/>
        </p:nvSpPr>
        <p:spPr>
          <a:xfrm>
            <a:off x="12938760" y="7772400"/>
            <a:ext cx="3931920" cy="1371600"/>
          </a:xfrm>
          <a:prstGeom prst="roundRect">
            <a:avLst>
              <a:gd name="adj" fmla="val 12000"/>
            </a:avLst>
          </a:prstGeom>
          <a:solidFill>
            <a:srgbClr val="FFFFFF"/>
          </a:solidFill>
          <a:ln>
            <a:solidFill>
              <a:schemeClr val="accent2"/>
            </a:solidFill>
          </a:ln>
        </p:spPr>
        <p:txBody>
          <a:bodyPr wrap="square" lIns="91440" tIns="0" rIns="91440" bIns="0" rtlCol="0" anchor="ctr">
            <a:noAutofit/>
          </a:bodyPr>
          <a:lstStyle/>
          <a:p>
            <a:pPr algn="l">
              <a:lnSpc>
                <a:spcPct val="100000"/>
              </a:lnSpc>
              <a:spcAft>
                <a:spcPts val="300"/>
              </a:spcAft>
            </a:pPr>
            <a:r>
              <a:rPr lang="en-IN" sz="1500" b="0" i="0" dirty="0">
                <a:solidFill>
                  <a:srgbClr val="B96A1E"/>
                </a:solidFill>
                <a:latin typeface="Segoe UI Semibold"/>
                <a:cs typeface="Segoe UI Semibold"/>
              </a:rPr>
              <a:t xml:space="preserve">Later</a:t>
            </a:r>
          </a:p>
          <a:p>
            <a:pPr algn="l">
              <a:lnSpc>
                <a:spcPct val="108000"/>
              </a:lnSpc>
              <a:spcAft>
                <a:spcPts val="0"/>
              </a:spcAft>
            </a:pPr>
            <a:r>
              <a:rPr lang="en-IN" sz="1250" b="0" i="0" dirty="0">
                <a:solidFill>
                  <a:srgbClr val="3D2410"/>
                </a:solidFill>
                <a:latin typeface="Segoe UI"/>
                <a:cs typeface="Segoe UI"/>
              </a:rPr>
              <a:t xml:space="preserve">License the proof engine to banks and other payment aggregators as an audit tool.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A4B12"/>
      </a:hlink>
      <a:folHlink>
        <a:srgbClr val="6B3A1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TM03457485[[fn=Mesh]]</Template>
  <TotalTime>62</TotalTime>
  <Words>2938</Words>
  <Application>Microsoft Office PowerPoint</Application>
  <PresentationFormat>Custom</PresentationFormat>
  <Paragraphs>401</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Nirmala UI</vt:lpstr>
      <vt:lpstr>Segoe UI</vt:lpstr>
      <vt:lpstr>Arial</vt:lpstr>
      <vt:lpstr>Segoe UI Semibold</vt:lpstr>
      <vt:lpstr>Calibri</vt:lpstr>
      <vt:lpstr>League Spartan</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Munim: Paytm fixes its own settlement mistakes before the merchant knows they happened</dc:title>
  <dc:subject>Paytm Build for India AI Hackathon 2026, Mumbai. Track 3: Autonomous AI Teammates</dc:subject>
  <dc:creator>Team Dracarys</dc:creator>
  <cp:keywords>Paytm, settlement reconciliation, MDR, GST, UPI, RuPay, autonomous agents, proof engine, n8n, Cognee, Sarvam</cp:keywords>
  <dc:description>Code: https://github.com/Ajbit07/munim</dc:description>
  <cp:lastModifiedBy>Anuj Chaudhary</cp:lastModifiedBy>
  <cp:revision>1</cp:revision>
  <dcterms:created xsi:type="dcterms:W3CDTF">2006-08-16T00:00:00Z</dcterms:created>
  <dcterms:modified xsi:type="dcterms:W3CDTF">2026-09-24T15:11:48Z</dcterms:modified>
  <dc:identifier>DAHV17S7clI</dc:identifier>
</cp:coreProperties>
</file>